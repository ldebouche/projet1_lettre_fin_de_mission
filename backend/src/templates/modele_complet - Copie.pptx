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76" r:id="rId3"/>
    <p:sldId id="257" r:id="rId4"/>
    <p:sldId id="280" r:id="rId5"/>
    <p:sldId id="277" r:id="rId6"/>
    <p:sldId id="278" r:id="rId7"/>
    <p:sldId id="279" r:id="rId8"/>
    <p:sldId id="268" r:id="rId9"/>
    <p:sldId id="285" r:id="rId10"/>
    <p:sldId id="281" r:id="rId11"/>
    <p:sldId id="273" r:id="rId12"/>
    <p:sldId id="282" r:id="rId13"/>
    <p:sldId id="283" r:id="rId14"/>
    <p:sldId id="284" r:id="rId15"/>
    <p:sldId id="275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A87"/>
    <a:srgbClr val="47413C"/>
    <a:srgbClr val="827161"/>
    <a:srgbClr val="77BFCF"/>
    <a:srgbClr val="EBE3D5"/>
    <a:srgbClr val="72B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Exercice N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5"/>
              <c:pt idx="0">
                <c:v>CA HT</c:v>
              </c:pt>
              <c:pt idx="1">
                <c:v>Marge</c:v>
              </c:pt>
              <c:pt idx="2">
                <c:v>Excédent brut d'exploitation</c:v>
              </c:pt>
              <c:pt idx="3">
                <c:v>Résultat courant</c:v>
              </c:pt>
              <c:pt idx="4">
                <c:v>Résultat net</c:v>
              </c:pt>
            </c:strLit>
          </c:cat>
          <c:val>
            <c:numLit>
              <c:formatCode>General</c:formatCode>
              <c:ptCount val="5"/>
              <c:pt idx="0">
                <c:v>10</c:v>
              </c:pt>
              <c:pt idx="1">
                <c:v>2.8</c:v>
              </c:pt>
              <c:pt idx="2">
                <c:v>3.2</c:v>
              </c:pt>
              <c:pt idx="3">
                <c:v>2.8</c:v>
              </c:pt>
              <c:pt idx="4">
                <c:v>2.9</c:v>
              </c:pt>
            </c:numLit>
          </c:val>
          <c:extLst>
            <c:ext xmlns:c16="http://schemas.microsoft.com/office/drawing/2014/chart" uri="{C3380CC4-5D6E-409C-BE32-E72D297353CC}">
              <c16:uniqueId val="{00000000-D426-4DD5-B1D7-9D3619E2C434}"/>
            </c:ext>
          </c:extLst>
        </c:ser>
        <c:ser>
          <c:idx val="1"/>
          <c:order val="1"/>
          <c:tx>
            <c:v>Exercice N-1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CA HT</c:v>
                </c:pt>
                <c:pt idx="1">
                  <c:v>Marge brute</c:v>
                </c:pt>
                <c:pt idx="2">
                  <c:v>Excédent brut d'exploitation</c:v>
                </c:pt>
                <c:pt idx="3">
                  <c:v>Résultat courant</c:v>
                </c:pt>
                <c:pt idx="4">
                  <c:v>Résultat net</c:v>
                </c:pt>
              </c:strCache>
            </c:strRef>
          </c:cat>
          <c:val>
            <c:numLit>
              <c:formatCode>General</c:formatCode>
              <c:ptCount val="5"/>
              <c:pt idx="0">
                <c:v>2.5</c:v>
              </c:pt>
              <c:pt idx="1">
                <c:v>4.5</c:v>
              </c:pt>
              <c:pt idx="2">
                <c:v>1.8</c:v>
              </c:pt>
              <c:pt idx="3">
                <c:v>1.9</c:v>
              </c:pt>
              <c:pt idx="4">
                <c:v>1.7</c:v>
              </c:pt>
            </c:numLit>
          </c:val>
          <c:extLst>
            <c:ext xmlns:c16="http://schemas.microsoft.com/office/drawing/2014/chart" uri="{C3380CC4-5D6E-409C-BE32-E72D297353CC}">
              <c16:uniqueId val="{00000001-D426-4DD5-B1D7-9D3619E2C4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4983295"/>
        <c:axId val="214982815"/>
      </c:barChart>
      <c:catAx>
        <c:axId val="214983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14982815"/>
        <c:crosses val="autoZero"/>
        <c:auto val="1"/>
        <c:lblAlgn val="ctr"/>
        <c:lblOffset val="100"/>
        <c:noMultiLvlLbl val="0"/>
      </c:catAx>
      <c:valAx>
        <c:axId val="214982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14983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1569811320754717"/>
                      <c:h val="4.293367778138335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4061-4ECA-8A7D-2892A072AD9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</c:f>
              <c:numCache>
                <c:formatCode>General</c:formatCode>
                <c:ptCount val="1"/>
              </c:numCache>
            </c:numRef>
          </c:cat>
          <c:val>
            <c:numRef>
              <c:f>Feuil1!$B$2</c:f>
              <c:numCache>
                <c:formatCode>General</c:formatCode>
                <c:ptCount val="1"/>
                <c:pt idx="0">
                  <c:v>1459729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61-4ECA-8A7D-2892A072AD90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N-1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588679245283016"/>
                      <c:h val="3.91071467848251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4061-4ECA-8A7D-2892A072AD9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</c:f>
              <c:numCache>
                <c:formatCode>General</c:formatCode>
                <c:ptCount val="1"/>
              </c:numCache>
            </c:numRef>
          </c:cat>
          <c:val>
            <c:numRef>
              <c:f>Feuil1!$C$2</c:f>
              <c:numCache>
                <c:formatCode>General</c:formatCode>
                <c:ptCount val="1"/>
                <c:pt idx="0">
                  <c:v>1155224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61-4ECA-8A7D-2892A072AD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0"/>
        <c:overlap val="-24"/>
        <c:axId val="2080974911"/>
        <c:axId val="2080973951"/>
      </c:barChart>
      <c:catAx>
        <c:axId val="2080974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80973951"/>
        <c:crosses val="autoZero"/>
        <c:auto val="1"/>
        <c:lblAlgn val="ctr"/>
        <c:lblOffset val="100"/>
        <c:noMultiLvlLbl val="0"/>
      </c:catAx>
      <c:valAx>
        <c:axId val="2080973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809749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N-1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1569811320754717"/>
                      <c:h val="4.293367778138335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306-4A19-8F15-240C691A69C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Feuil1!$A$2:$A$3</c:f>
              <c:strCache>
                <c:ptCount val="2"/>
                <c:pt idx="0">
                  <c:v>% du chiffre d'affaires</c:v>
                </c:pt>
                <c:pt idx="1">
                  <c:v>% de la marge brute</c:v>
                </c:pt>
              </c:strCache>
            </c:strRef>
          </c:cat>
          <c:val>
            <c:numRef>
              <c:f>Feuil1!$B$2:$B$3</c:f>
              <c:numCache>
                <c:formatCode>General</c:formatCode>
                <c:ptCount val="2"/>
                <c:pt idx="0">
                  <c:v>51</c:v>
                </c:pt>
                <c:pt idx="1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06-4A19-8F15-240C691A69C5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447A87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588679245283016"/>
                      <c:h val="3.91071467848251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306-4A19-8F15-240C691A69C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Feuil1!$A$2:$A$3</c:f>
              <c:strCache>
                <c:ptCount val="2"/>
                <c:pt idx="0">
                  <c:v>% du chiffre d'affaires</c:v>
                </c:pt>
                <c:pt idx="1">
                  <c:v>% de la marge brute</c:v>
                </c:pt>
              </c:strCache>
            </c:strRef>
          </c:cat>
          <c:val>
            <c:numRef>
              <c:f>Feuil1!$C$2:$C$3</c:f>
              <c:numCache>
                <c:formatCode>General</c:formatCode>
                <c:ptCount val="2"/>
                <c:pt idx="0">
                  <c:v>56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306-4A19-8F15-240C691A69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0"/>
        <c:axId val="2080974911"/>
        <c:axId val="2080973951"/>
      </c:barChart>
      <c:catAx>
        <c:axId val="20809749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80973951"/>
        <c:crosses val="autoZero"/>
        <c:auto val="1"/>
        <c:lblAlgn val="ctr"/>
        <c:lblOffset val="100"/>
        <c:noMultiLvlLbl val="0"/>
      </c:catAx>
      <c:valAx>
        <c:axId val="20809739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809749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4920625444388387"/>
          <c:y val="6.94496796447988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Dotations aux amortissments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D34-450C-9B8A-AFB8D83387C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9D34-450C-9B8A-AFB8D83387C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D34-450C-9B8A-AFB8D83387CC}"/>
              </c:ext>
            </c:extLst>
          </c:dPt>
          <c:dLbls>
            <c:numFmt formatCode="#,##0" sourceLinked="0"/>
            <c:spPr>
              <a:solidFill>
                <a:schemeClr val="bg1">
                  <a:alpha val="72000"/>
                </a:schemeClr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Feuil1!$A$2:$A$4</c:f>
              <c:strCache>
                <c:ptCount val="3"/>
                <c:pt idx="0">
                  <c:v>N</c:v>
                </c:pt>
                <c:pt idx="1">
                  <c:v>N+1</c:v>
                </c:pt>
                <c:pt idx="2">
                  <c:v>N+2</c:v>
                </c:pt>
              </c:strCache>
            </c:strRef>
          </c:cat>
          <c:val>
            <c:numRef>
              <c:f>Feuil1!$B$2:$B$4</c:f>
              <c:numCache>
                <c:formatCode>General</c:formatCode>
                <c:ptCount val="3"/>
                <c:pt idx="0">
                  <c:v>2646</c:v>
                </c:pt>
                <c:pt idx="1">
                  <c:v>349</c:v>
                </c:pt>
                <c:pt idx="2">
                  <c:v>274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34-450C-9B8A-AFB8D83387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3259991612589727"/>
          <c:y val="0.90955702588191911"/>
          <c:w val="0.13480006987877402"/>
          <c:h val="5.075744289248149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Affectation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13B-40E1-B0E4-08E452B766D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13B-40E1-B0E4-08E452B766D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13B-40E1-B0E4-08E452B766D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13B-40E1-B0E4-08E452B766D1}"/>
              </c:ext>
            </c:extLst>
          </c:dPt>
          <c:cat>
            <c:strRef>
              <c:f>Feuil1!$A$2:$A$5</c:f>
              <c:strCache>
                <c:ptCount val="4"/>
                <c:pt idx="0">
                  <c:v>Réserve légale</c:v>
                </c:pt>
                <c:pt idx="1">
                  <c:v>Réserve ordinaire</c:v>
                </c:pt>
                <c:pt idx="2">
                  <c:v>Réserve légale</c:v>
                </c:pt>
                <c:pt idx="3">
                  <c:v>[[PA_affectation]]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2C-4D24-AE8D-B3DD411168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E46E8-D735-4CE2-917E-F7377184E44E}" type="datetimeFigureOut">
              <a:rPr lang="fr-FR" smtClean="0"/>
              <a:t>24/10/2025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384FDB-75A9-4247-A774-52F97C0DBEC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974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E47B1-6094-35A2-F05B-4249CE5F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E5781-FD9D-FE50-DCA5-74ABE41AE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77B44-65A7-A8B1-7E5F-EDCEEA85B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98AA4-5E67-1842-99C1-FF90FC64AC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94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D4AB1D-2F62-A51F-7999-28F4147C7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AA4968-7443-C28C-D920-8B1EA4409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9" name="Espace réservé du numéro de diapositive 5">
            <a:extLst>
              <a:ext uri="{FF2B5EF4-FFF2-40B4-BE49-F238E27FC236}">
                <a16:creationId xmlns:a16="http://schemas.microsoft.com/office/drawing/2014/main" id="{E65B154A-4A12-FDBF-5D8B-9BB8EE98AF6E}"/>
              </a:ext>
            </a:extLst>
          </p:cNvPr>
          <p:cNvSpPr txBox="1">
            <a:spLocks/>
          </p:cNvSpPr>
          <p:nvPr userDrawn="1"/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827161"/>
          </a:solidFill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fr-FR" smtClean="0">
                <a:solidFill>
                  <a:schemeClr val="bg1"/>
                </a:solidFill>
              </a:rPr>
              <a:pPr/>
              <a:t>‹N°›</a:t>
            </a:fld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09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713B98-0EFD-3203-904A-7DA530676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B55FB8-D421-163F-FF86-EE314C682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86AB7BD8-2867-C997-818F-D4CCCAFA2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47766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3E534E-44E0-1229-16AD-0F042A39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A26724E-3796-343B-3D45-9D5771F12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95ADCB7A-CC4C-AEC0-0079-901F132AAD27}"/>
              </a:ext>
            </a:extLst>
          </p:cNvPr>
          <p:cNvSpPr txBox="1">
            <a:spLocks/>
          </p:cNvSpPr>
          <p:nvPr userDrawn="1"/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6780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9FE4A4-DDB3-ACD5-284E-E83A3157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B8D650-E17E-26D4-AAFF-D24CEA196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588FE44-16A9-7E56-2699-6731A84A3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89C79BE4-AD74-B7A5-4ECD-2035A6500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42421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51EA46-EA5A-29C6-7CB3-F49A25455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860D9C-9696-C4B6-25BB-6FCC1470C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DA45F40-A97D-988C-2DCD-4C8600883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B37C8AD-45A8-FD9A-FC91-10AFCB8BC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5B2718E-AD62-70E6-A9F7-0E4B929F0B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4169CC89-5472-1A59-CEE0-A63C4B89B769}"/>
              </a:ext>
            </a:extLst>
          </p:cNvPr>
          <p:cNvSpPr txBox="1">
            <a:spLocks/>
          </p:cNvSpPr>
          <p:nvPr userDrawn="1"/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64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A708C9-6790-9390-932F-BFB3151B8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9ED877-D1A2-E71D-6A75-2B59F1FE2DD3}"/>
              </a:ext>
            </a:extLst>
          </p:cNvPr>
          <p:cNvSpPr txBox="1">
            <a:spLocks/>
          </p:cNvSpPr>
          <p:nvPr userDrawn="1"/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333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0CCFA614-6DA7-8331-65B8-631726088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0867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F666F9-F569-9A93-51FB-C0FCDED1A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B90362-33D3-B6D3-FD3B-DD902B7D4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6C1A72-41F3-4AF6-4C2B-7CFB888C5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D086FEF8-23BD-FBC3-9FCD-5E809EC4B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73022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B0327E-626D-3513-DF61-CC313C976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5CDFFA1-F4E5-C439-C3D7-6C475C17E1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509610C-93CD-ED05-CD31-4ADC63200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4E1B425A-A7A3-8AAC-35E7-9F879BE39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21135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A8948F-CE80-D1A7-5201-7BB1B09F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44FE29-AB10-B70B-5600-651B8FAA4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23891324-62B6-4A7A-65AC-916F066AA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8874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25FF5FF-6303-2576-AF19-3048240EED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03142E-C0C3-EE9A-0A2E-6F47A406F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78BD7993-F66F-C126-218F-A8165EA03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11059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04F8E9-C54D-A0A7-65A7-18470C3BF4A9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CC6030-3A6E-4C9F-70F1-5EDA972971AF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Forme libre : Forme 30">
            <a:extLst>
              <a:ext uri="{FF2B5EF4-FFF2-40B4-BE49-F238E27FC236}">
                <a16:creationId xmlns:a16="http://schemas.microsoft.com/office/drawing/2014/main" id="{8E736545-DBB9-EA34-0B95-CE35DDC0E285}"/>
              </a:ext>
            </a:extLst>
          </p:cNvPr>
          <p:cNvSpPr/>
          <p:nvPr userDrawn="1"/>
        </p:nvSpPr>
        <p:spPr>
          <a:xfrm>
            <a:off x="-4864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ADCC8A3C-451C-8184-A686-9CC5E9F95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F0C6BDC3-71B4-B5D6-AD9C-97E9173A4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5BDCB4-5FD2-90D4-B309-131D8762287D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Rectangle 28">
            <a:extLst>
              <a:ext uri="{FF2B5EF4-FFF2-40B4-BE49-F238E27FC236}">
                <a16:creationId xmlns:a16="http://schemas.microsoft.com/office/drawing/2014/main" id="{11F50E53-0A79-B26B-F8F9-70E6E8D40598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1017D2C0-B4C1-561B-682C-4E13E1B4A761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146A614E-58DC-241B-35D6-8804CE160B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859" y="6323410"/>
            <a:ext cx="1744997" cy="50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94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3402339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423114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7194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476727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hyperlink" Target="http://www.lacomptabilite.fr/" TargetMode="Externa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7A04A0E-D8B3-AE63-CA94-BD13D2569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512AC3-7024-5400-D611-839A64ED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9B9BB5-20E4-5C3F-AD7F-02B0BA9B75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F706F3-251D-D686-A1AF-EEE775298418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9" name="Forme libre : Forme 30">
            <a:extLst>
              <a:ext uri="{FF2B5EF4-FFF2-40B4-BE49-F238E27FC236}">
                <a16:creationId xmlns:a16="http://schemas.microsoft.com/office/drawing/2014/main" id="{E65E246C-FC7B-BE70-9834-D53F7AE95C07}"/>
              </a:ext>
            </a:extLst>
          </p:cNvPr>
          <p:cNvSpPr/>
          <p:nvPr userDrawn="1"/>
        </p:nvSpPr>
        <p:spPr>
          <a:xfrm>
            <a:off x="-4864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1" name="Espace réservé du numéro de diapositive 5">
            <a:extLst>
              <a:ext uri="{FF2B5EF4-FFF2-40B4-BE49-F238E27FC236}">
                <a16:creationId xmlns:a16="http://schemas.microsoft.com/office/drawing/2014/main" id="{8140ECE7-19DB-6A44-BE72-860703939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BB5004-FAB2-1A1B-9845-7CCAE1FE6FDE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3" name="Rectangle 28">
            <a:extLst>
              <a:ext uri="{FF2B5EF4-FFF2-40B4-BE49-F238E27FC236}">
                <a16:creationId xmlns:a16="http://schemas.microsoft.com/office/drawing/2014/main" id="{2BC85924-6FBA-AE9F-6849-C861B9BCA4C6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83C3B8C2-3C26-9FF8-39DB-A390739A6C59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 24">
            <a:extLst>
              <a:ext uri="{FF2B5EF4-FFF2-40B4-BE49-F238E27FC236}">
                <a16:creationId xmlns:a16="http://schemas.microsoft.com/office/drawing/2014/main" id="{77B6209B-EA55-B200-058C-C661FB835B5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859" y="6323410"/>
            <a:ext cx="1744997" cy="50726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6659032-6A8B-7110-0AC8-375D1BD34C85}"/>
              </a:ext>
            </a:extLst>
          </p:cNvPr>
          <p:cNvSpPr txBox="1"/>
          <p:nvPr userDrawn="1"/>
        </p:nvSpPr>
        <p:spPr>
          <a:xfrm>
            <a:off x="958779" y="6481045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noProof="0" dirty="0">
                <a:solidFill>
                  <a:srgbClr val="47413C"/>
                </a:solidFill>
              </a:rPr>
              <a:t>03 81 60 76 07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5115658-BFEF-BDAE-CD85-C3D888982702}"/>
              </a:ext>
            </a:extLst>
          </p:cNvPr>
          <p:cNvSpPr txBox="1"/>
          <p:nvPr userDrawn="1"/>
        </p:nvSpPr>
        <p:spPr>
          <a:xfrm>
            <a:off x="5270739" y="6481046"/>
            <a:ext cx="16505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u="sng" dirty="0">
                <a:solidFill>
                  <a:srgbClr val="47413C"/>
                </a:solidFill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www.lacomptabilite.fr</a:t>
            </a:r>
            <a:endParaRPr lang="fr-FR" sz="1000" noProof="0" dirty="0">
              <a:solidFill>
                <a:srgbClr val="4741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636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si.gouv.fr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A01A903C-674E-2177-CADF-0276C8C9868A}"/>
              </a:ext>
            </a:extLst>
          </p:cNvPr>
          <p:cNvSpPr/>
          <p:nvPr/>
        </p:nvSpPr>
        <p:spPr>
          <a:xfrm>
            <a:off x="3096812" y="604800"/>
            <a:ext cx="599836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Lettre de Fin de Mission</a:t>
            </a:r>
            <a:endParaRPr lang="en-US" sz="3900" dirty="0"/>
          </a:p>
        </p:txBody>
      </p:sp>
      <p:sp>
        <p:nvSpPr>
          <p:cNvPr id="6" name="dateFinEx">
            <a:extLst>
              <a:ext uri="{FF2B5EF4-FFF2-40B4-BE49-F238E27FC236}">
                <a16:creationId xmlns:a16="http://schemas.microsoft.com/office/drawing/2014/main" id="{0464A97F-E904-2D29-2F16-7F26EEE89D4D}"/>
              </a:ext>
            </a:extLst>
          </p:cNvPr>
          <p:cNvSpPr/>
          <p:nvPr/>
        </p:nvSpPr>
        <p:spPr>
          <a:xfrm>
            <a:off x="4572272" y="1181418"/>
            <a:ext cx="3047448" cy="299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Exercice clos le [[</a:t>
            </a:r>
            <a:r>
              <a:rPr lang="en-US" sz="1950" b="1" dirty="0" err="1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dateFinEx</a:t>
            </a:r>
            <a:r>
              <a:rPr lang="en-US" sz="1950" b="1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]]</a:t>
            </a:r>
            <a:endParaRPr lang="en-US" sz="1950" dirty="0"/>
          </a:p>
        </p:txBody>
      </p:sp>
      <p:sp>
        <p:nvSpPr>
          <p:cNvPr id="20" name="infosClient">
            <a:extLst>
              <a:ext uri="{FF2B5EF4-FFF2-40B4-BE49-F238E27FC236}">
                <a16:creationId xmlns:a16="http://schemas.microsoft.com/office/drawing/2014/main" id="{CD5390F0-2075-D8CD-D351-325E2E4BD0E2}"/>
              </a:ext>
            </a:extLst>
          </p:cNvPr>
          <p:cNvSpPr txBox="1"/>
          <p:nvPr/>
        </p:nvSpPr>
        <p:spPr>
          <a:xfrm>
            <a:off x="1350944" y="2179954"/>
            <a:ext cx="504535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[[</a:t>
            </a:r>
            <a:r>
              <a:rPr lang="fr-FR" dirty="0" err="1"/>
              <a:t>nomEntreprise</a:t>
            </a:r>
            <a:r>
              <a:rPr lang="fr-FR" dirty="0"/>
              <a:t>]]</a:t>
            </a:r>
          </a:p>
          <a:p>
            <a:r>
              <a:rPr lang="fr-FR" dirty="0"/>
              <a:t>[[adrEntreprise1]][[adrEntreprise2]]</a:t>
            </a:r>
          </a:p>
          <a:p>
            <a:r>
              <a:rPr lang="fr-FR" dirty="0"/>
              <a:t>[[</a:t>
            </a:r>
            <a:r>
              <a:rPr lang="fr-FR" dirty="0" err="1"/>
              <a:t>codePostalClient</a:t>
            </a:r>
            <a:r>
              <a:rPr lang="fr-FR" dirty="0"/>
              <a:t>]], [[</a:t>
            </a:r>
            <a:r>
              <a:rPr lang="fr-FR" dirty="0" err="1"/>
              <a:t>villeClient</a:t>
            </a:r>
            <a:r>
              <a:rPr lang="fr-FR" dirty="0"/>
              <a:t>]]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[[</a:t>
            </a:r>
            <a:r>
              <a:rPr lang="fr-FR" dirty="0" err="1"/>
              <a:t>site_adresse</a:t>
            </a:r>
            <a:r>
              <a:rPr lang="fr-FR" dirty="0"/>
              <a:t>]]</a:t>
            </a:r>
          </a:p>
          <a:p>
            <a:r>
              <a:rPr lang="fr-FR" dirty="0"/>
              <a:t>[[</a:t>
            </a:r>
            <a:r>
              <a:rPr lang="fr-FR" dirty="0" err="1"/>
              <a:t>site_cp</a:t>
            </a:r>
            <a:r>
              <a:rPr lang="fr-FR" dirty="0"/>
              <a:t>]], [[</a:t>
            </a:r>
            <a:r>
              <a:rPr lang="fr-FR" dirty="0" err="1"/>
              <a:t>site_ville</a:t>
            </a:r>
            <a:r>
              <a:rPr lang="fr-FR" dirty="0"/>
              <a:t>]]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Référence : [[</a:t>
            </a:r>
            <a:r>
              <a:rPr lang="fr-FR" dirty="0" err="1"/>
              <a:t>initialesChefGroupe</a:t>
            </a:r>
            <a:r>
              <a:rPr lang="fr-FR" dirty="0"/>
              <a:t>]] [[</a:t>
            </a:r>
            <a:r>
              <a:rPr lang="fr-FR" dirty="0" err="1"/>
              <a:t>codeClient</a:t>
            </a:r>
            <a:r>
              <a:rPr lang="fr-FR" dirty="0"/>
              <a:t>]] </a:t>
            </a:r>
          </a:p>
          <a:p>
            <a:r>
              <a:rPr lang="fr-FR" dirty="0"/>
              <a:t>[[</a:t>
            </a:r>
            <a:r>
              <a:rPr lang="fr-FR" dirty="0" err="1"/>
              <a:t>lieuCreation</a:t>
            </a:r>
            <a:r>
              <a:rPr lang="fr-FR" dirty="0"/>
              <a:t>]], le [[</a:t>
            </a:r>
            <a:r>
              <a:rPr lang="fr-FR" dirty="0" err="1"/>
              <a:t>dateCreation</a:t>
            </a:r>
            <a:r>
              <a:rPr lang="fr-FR" dirty="0"/>
              <a:t>]]</a:t>
            </a:r>
          </a:p>
        </p:txBody>
      </p:sp>
    </p:spTree>
    <p:extLst>
      <p:ext uri="{BB962C8B-B14F-4D97-AF65-F5344CB8AC3E}">
        <p14:creationId xmlns:p14="http://schemas.microsoft.com/office/powerpoint/2010/main" val="167678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604800"/>
            <a:ext cx="5221883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fr-FR" sz="3250" b="1" noProof="0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Contexte Sectoriel</a:t>
            </a:r>
            <a:endParaRPr lang="fr-FR" sz="3250" noProof="0" dirty="0"/>
          </a:p>
        </p:txBody>
      </p:sp>
      <p:graphicFrame>
        <p:nvGraphicFramePr>
          <p:cNvPr id="13" name="TableauAS">
            <a:extLst>
              <a:ext uri="{FF2B5EF4-FFF2-40B4-BE49-F238E27FC236}">
                <a16:creationId xmlns:a16="http://schemas.microsoft.com/office/drawing/2014/main" id="{5905539E-4977-DEBD-D693-8F5291885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747173"/>
              </p:ext>
            </p:extLst>
          </p:nvPr>
        </p:nvGraphicFramePr>
        <p:xfrm>
          <a:off x="655242" y="4282696"/>
          <a:ext cx="11009709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7355">
                  <a:extLst>
                    <a:ext uri="{9D8B030D-6E8A-4147-A177-3AD203B41FA5}">
                      <a16:colId xmlns:a16="http://schemas.microsoft.com/office/drawing/2014/main" val="1984050464"/>
                    </a:ext>
                  </a:extLst>
                </a:gridCol>
                <a:gridCol w="1407059">
                  <a:extLst>
                    <a:ext uri="{9D8B030D-6E8A-4147-A177-3AD203B41FA5}">
                      <a16:colId xmlns:a16="http://schemas.microsoft.com/office/drawing/2014/main" val="739299337"/>
                    </a:ext>
                  </a:extLst>
                </a:gridCol>
                <a:gridCol w="1407059">
                  <a:extLst>
                    <a:ext uri="{9D8B030D-6E8A-4147-A177-3AD203B41FA5}">
                      <a16:colId xmlns:a16="http://schemas.microsoft.com/office/drawing/2014/main" val="2382934357"/>
                    </a:ext>
                  </a:extLst>
                </a:gridCol>
                <a:gridCol w="1407059">
                  <a:extLst>
                    <a:ext uri="{9D8B030D-6E8A-4147-A177-3AD203B41FA5}">
                      <a16:colId xmlns:a16="http://schemas.microsoft.com/office/drawing/2014/main" val="1207797669"/>
                    </a:ext>
                  </a:extLst>
                </a:gridCol>
                <a:gridCol w="1407059">
                  <a:extLst>
                    <a:ext uri="{9D8B030D-6E8A-4147-A177-3AD203B41FA5}">
                      <a16:colId xmlns:a16="http://schemas.microsoft.com/office/drawing/2014/main" val="935529554"/>
                    </a:ext>
                  </a:extLst>
                </a:gridCol>
                <a:gridCol w="1407059">
                  <a:extLst>
                    <a:ext uri="{9D8B030D-6E8A-4147-A177-3AD203B41FA5}">
                      <a16:colId xmlns:a16="http://schemas.microsoft.com/office/drawing/2014/main" val="3315694442"/>
                    </a:ext>
                  </a:extLst>
                </a:gridCol>
                <a:gridCol w="1407059">
                  <a:extLst>
                    <a:ext uri="{9D8B030D-6E8A-4147-A177-3AD203B41FA5}">
                      <a16:colId xmlns:a16="http://schemas.microsoft.com/office/drawing/2014/main" val="1540789719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pPr algn="ctr"/>
                      <a:r>
                        <a:rPr lang="fr-FR" b="1" i="0" dirty="0">
                          <a:solidFill>
                            <a:srgbClr val="FFFFFF"/>
                          </a:solidFill>
                          <a:effectLst/>
                          <a:latin typeface="Inter"/>
                        </a:rPr>
                        <a:t>Données sectorielles [[</a:t>
                      </a:r>
                      <a:r>
                        <a:rPr lang="fr-FR" b="1" i="0" dirty="0" err="1">
                          <a:solidFill>
                            <a:srgbClr val="FFFFFF"/>
                          </a:solidFill>
                          <a:effectLst/>
                          <a:latin typeface="Inter"/>
                        </a:rPr>
                        <a:t>AS_millesime</a:t>
                      </a:r>
                      <a:r>
                        <a:rPr lang="fr-FR" b="1" i="0" dirty="0">
                          <a:solidFill>
                            <a:srgbClr val="FFFFFF"/>
                          </a:solidFill>
                          <a:effectLst/>
                          <a:latin typeface="Inter"/>
                        </a:rPr>
                        <a:t>]]</a:t>
                      </a:r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51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0" i="0" kern="1200" dirty="0">
                          <a:solidFill>
                            <a:srgbClr val="FFFFFF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Répartition selon le chiffre d’affaires en % du CA</a:t>
                      </a:r>
                    </a:p>
                  </a:txBody>
                  <a:tcPr anchor="ctr">
                    <a:solidFill>
                      <a:srgbClr val="447A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kern="1200" dirty="0">
                          <a:solidFill>
                            <a:srgbClr val="FFFFFF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Global</a:t>
                      </a:r>
                    </a:p>
                  </a:txBody>
                  <a:tcPr anchor="ctr">
                    <a:solidFill>
                      <a:srgbClr val="447A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kern="1200" dirty="0">
                          <a:solidFill>
                            <a:srgbClr val="FFFFFF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Tranche 1</a:t>
                      </a:r>
                    </a:p>
                  </a:txBody>
                  <a:tcPr anchor="ctr">
                    <a:solidFill>
                      <a:srgbClr val="447A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kern="1200" dirty="0">
                          <a:solidFill>
                            <a:srgbClr val="FFFFFF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Tranche 2</a:t>
                      </a:r>
                    </a:p>
                  </a:txBody>
                  <a:tcPr anchor="ctr">
                    <a:solidFill>
                      <a:srgbClr val="447A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kern="1200" dirty="0">
                          <a:solidFill>
                            <a:srgbClr val="FFFFFF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Tranche 3</a:t>
                      </a:r>
                    </a:p>
                  </a:txBody>
                  <a:tcPr anchor="ctr">
                    <a:solidFill>
                      <a:srgbClr val="447A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kern="1200" dirty="0">
                          <a:solidFill>
                            <a:srgbClr val="FFFFFF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Tranche 4</a:t>
                      </a:r>
                    </a:p>
                  </a:txBody>
                  <a:tcPr anchor="ctr">
                    <a:solidFill>
                      <a:srgbClr val="447A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kern="1200" dirty="0">
                          <a:solidFill>
                            <a:srgbClr val="FFFFFF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Tranche 5</a:t>
                      </a:r>
                    </a:p>
                  </a:txBody>
                  <a:tcPr anchor="ctr">
                    <a:solidFill>
                      <a:srgbClr val="447A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564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Chiffre d’affaires HT en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18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400" b="0" i="0" kern="1200" dirty="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[[</a:t>
                      </a:r>
                      <a:r>
                        <a:rPr lang="fr-FR" sz="1400" b="0" i="0" kern="1200" dirty="0" err="1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AS_caG</a:t>
                      </a:r>
                      <a:r>
                        <a:rPr lang="fr-FR" sz="1400" b="0" i="0" kern="1200" dirty="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]]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18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400" b="0" i="0" kern="1200" dirty="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[[AS_ca1]]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18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400" b="0" i="0" kern="120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[[AS_ca2]]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18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400" b="0" i="0" kern="120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[[AS_ca3]]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18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400" b="0" i="0" kern="120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[[AS_ca4]]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18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400" b="0" i="0" kern="120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[[AS_ca5]]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32960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Marge brute globale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400" b="0" i="0" kern="120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[[AS_margeG]]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400" b="0" i="0" kern="120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[[AS_marge1]]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400" b="0" i="0" kern="1200" dirty="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[[AS_marge2]]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400" b="0" i="0" kern="1200" dirty="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[[AS_marge3]]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400" b="0" i="0" kern="1200" dirty="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[[AS_marge4]]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400" b="0" i="0" kern="1200" dirty="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[[AS_marge5]]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29371284"/>
                  </a:ext>
                </a:extLst>
              </a:tr>
            </a:tbl>
          </a:graphicData>
        </a:graphic>
      </p:graphicFrame>
      <p:sp>
        <p:nvSpPr>
          <p:cNvPr id="17" name="CC_comPerspective">
            <a:extLst>
              <a:ext uri="{FF2B5EF4-FFF2-40B4-BE49-F238E27FC236}">
                <a16:creationId xmlns:a16="http://schemas.microsoft.com/office/drawing/2014/main" id="{124B33AC-F408-8605-31E5-AE11B7D8203A}"/>
              </a:ext>
            </a:extLst>
          </p:cNvPr>
          <p:cNvSpPr txBox="1"/>
          <p:nvPr/>
        </p:nvSpPr>
        <p:spPr>
          <a:xfrm>
            <a:off x="222250" y="1397675"/>
            <a:ext cx="117475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 l’horizon 2025, Xerfi table sur une progression de 2 % à 3 % du chiffre d’affaires, soit une croissance ralentie</a:t>
            </a:r>
          </a:p>
          <a:p>
            <a:r>
              <a:rPr lang="fr-FR" dirty="0"/>
              <a:t>par rapport à la période de sortie de crise sanitaire :</a:t>
            </a:r>
            <a:br>
              <a:rPr lang="fr-FR" dirty="0"/>
            </a:br>
            <a:r>
              <a:rPr lang="fr-FR" dirty="0"/>
              <a:t> - Compte tenu d’un pouvoir d’achat toujours sous contrainte, les ménages limiteront leurs dépenses jugées non</a:t>
            </a:r>
          </a:p>
          <a:p>
            <a:r>
              <a:rPr lang="fr-FR" dirty="0"/>
              <a:t>essentielles, comme les services de coiffure ;</a:t>
            </a:r>
            <a:br>
              <a:rPr lang="fr-FR" dirty="0"/>
            </a:br>
            <a:r>
              <a:rPr lang="fr-FR" dirty="0"/>
              <a:t> - Selon nos prévisions, les prix pratiqués par les coiffeurs progresseront de 2% en 2025 ;</a:t>
            </a:r>
            <a:br>
              <a:rPr lang="fr-FR" dirty="0"/>
            </a:br>
            <a:r>
              <a:rPr lang="fr-FR" dirty="0"/>
              <a:t> - La profession restera prudente en matière de revalorisation tarifaire pour ne pas pénaliser trop durement sa clientèle.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aphique_ChiffresCles">
            <a:extLst>
              <a:ext uri="{FF2B5EF4-FFF2-40B4-BE49-F238E27FC236}">
                <a16:creationId xmlns:a16="http://schemas.microsoft.com/office/drawing/2014/main" id="{16826440-D4E9-7785-84FD-AC730E5F57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6086983"/>
              </p:ext>
            </p:extLst>
          </p:nvPr>
        </p:nvGraphicFramePr>
        <p:xfrm>
          <a:off x="1717808" y="2361013"/>
          <a:ext cx="8756383" cy="3184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1C875251-FDC9-E39E-9AFD-F4AC076EBED8}"/>
              </a:ext>
            </a:extLst>
          </p:cNvPr>
          <p:cNvSpPr/>
          <p:nvPr/>
        </p:nvSpPr>
        <p:spPr>
          <a:xfrm>
            <a:off x="661492" y="604800"/>
            <a:ext cx="6709469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fr-FR" sz="3250" b="1" noProof="0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Chiffres clés de l’exercice</a:t>
            </a:r>
            <a:endParaRPr lang="fr-FR" sz="3250" noProof="0" dirty="0"/>
          </a:p>
        </p:txBody>
      </p:sp>
      <p:pic>
        <p:nvPicPr>
          <p:cNvPr id="8" name="icone_Commentaire" descr="Bulle de discussion avec un remplissage uni">
            <a:extLst>
              <a:ext uri="{FF2B5EF4-FFF2-40B4-BE49-F238E27FC236}">
                <a16:creationId xmlns:a16="http://schemas.microsoft.com/office/drawing/2014/main" id="{EFC1DECA-C6B4-8158-FC51-27E3980AB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6991" y="1446613"/>
            <a:ext cx="914400" cy="914400"/>
          </a:xfrm>
          <a:prstGeom prst="rect">
            <a:avLst/>
          </a:prstGeom>
        </p:spPr>
      </p:pic>
      <p:sp>
        <p:nvSpPr>
          <p:cNvPr id="9" name="CC_commentaire" hidden="1">
            <a:extLst>
              <a:ext uri="{FF2B5EF4-FFF2-40B4-BE49-F238E27FC236}">
                <a16:creationId xmlns:a16="http://schemas.microsoft.com/office/drawing/2014/main" id="{389D5D22-7B2E-BF5F-E416-9546533E0A73}"/>
              </a:ext>
            </a:extLst>
          </p:cNvPr>
          <p:cNvSpPr/>
          <p:nvPr/>
        </p:nvSpPr>
        <p:spPr>
          <a:xfrm>
            <a:off x="349250" y="1485424"/>
            <a:ext cx="9118600" cy="36776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fr-FR" sz="1400" dirty="0"/>
              <a:t>Le chiffre d’affaires de votre entreprise affiche une progression significative entre 2023 et 2024, passant de 2 264 626 EUR à 2 587 796 EUR, soit une hausse de 14,27 %. Cette croissance, bien que modérée, témoigne d’une dynamique commerciale positive dans un contexte économique où la moyenne sectorielle globale s’élève à 81 923 EUR. Votre positionnement dans la tranche 5 du secteur, avec un chiffre d’affaires largement supérieur aux seuils définis (185 816 EUR pour cette tranche), confirme votre statut d’acteur majeur sur votre marché. Cette performance suggère une capacité à capter une part de marché substantielle, tout en maintenant une trajectoire de développement stable.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La marge brute suit une tendance similaire à celle du chiffre d’affaires, avec une augmentation de 14,84 % entre 2023 et 2024, passant de 1 931 961 EUR à 2 218 693 EUR. Le taux de marge brute reste remarquablement stable, évoluant de 85,31 % à 85,74 %, ce qui reflète une maîtrise efficace des coûts variables malgré la croissance de l’activité. Comparativement au secteur, où la moyenne globale s’établit à 90,2 %, votre performance se situe en dessous des tranches inférieures, mais reste cohérente avec votre positionnement dans la tranche 5 (89,4 %). Cette stabilité dans la marge brute, couplée à la hausse du chiffre d’affaires, indique une gestion opérationnelle rigoureuse et une capacité à préserver la rentabilité dans un environnement concurrentiel.</a:t>
            </a:r>
          </a:p>
        </p:txBody>
      </p:sp>
    </p:spTree>
    <p:extLst>
      <p:ext uri="{BB962C8B-B14F-4D97-AF65-F5344CB8AC3E}">
        <p14:creationId xmlns:p14="http://schemas.microsoft.com/office/powerpoint/2010/main" val="2793677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689D1-019D-00BD-B976-69240C65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5B001A-F177-5D72-BA2E-BE4B4C9965A0}"/>
              </a:ext>
            </a:extLst>
          </p:cNvPr>
          <p:cNvSpPr/>
          <p:nvPr/>
        </p:nvSpPr>
        <p:spPr>
          <a:xfrm>
            <a:off x="661492" y="604800"/>
            <a:ext cx="6709469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fr-FR" sz="3250" b="1" noProof="0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Évolution des Charges Externes</a:t>
            </a:r>
            <a:endParaRPr lang="fr-FR" sz="3250" noProof="0" dirty="0"/>
          </a:p>
        </p:txBody>
      </p:sp>
      <p:graphicFrame>
        <p:nvGraphicFramePr>
          <p:cNvPr id="3" name="Tableau_ChargesExternes">
            <a:extLst>
              <a:ext uri="{FF2B5EF4-FFF2-40B4-BE49-F238E27FC236}">
                <a16:creationId xmlns:a16="http://schemas.microsoft.com/office/drawing/2014/main" id="{EC46026E-8354-11C7-3DFE-D5BF770D8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890252"/>
              </p:ext>
            </p:extLst>
          </p:nvPr>
        </p:nvGraphicFramePr>
        <p:xfrm>
          <a:off x="674190" y="1121532"/>
          <a:ext cx="10856320" cy="5037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080">
                  <a:extLst>
                    <a:ext uri="{9D8B030D-6E8A-4147-A177-3AD203B41FA5}">
                      <a16:colId xmlns:a16="http://schemas.microsoft.com/office/drawing/2014/main" val="4033353214"/>
                    </a:ext>
                  </a:extLst>
                </a:gridCol>
                <a:gridCol w="2714080">
                  <a:extLst>
                    <a:ext uri="{9D8B030D-6E8A-4147-A177-3AD203B41FA5}">
                      <a16:colId xmlns:a16="http://schemas.microsoft.com/office/drawing/2014/main" val="3082834031"/>
                    </a:ext>
                  </a:extLst>
                </a:gridCol>
                <a:gridCol w="2714080">
                  <a:extLst>
                    <a:ext uri="{9D8B030D-6E8A-4147-A177-3AD203B41FA5}">
                      <a16:colId xmlns:a16="http://schemas.microsoft.com/office/drawing/2014/main" val="2670717278"/>
                    </a:ext>
                  </a:extLst>
                </a:gridCol>
                <a:gridCol w="2714080">
                  <a:extLst>
                    <a:ext uri="{9D8B030D-6E8A-4147-A177-3AD203B41FA5}">
                      <a16:colId xmlns:a16="http://schemas.microsoft.com/office/drawing/2014/main" val="1058135327"/>
                    </a:ext>
                  </a:extLst>
                </a:gridCol>
              </a:tblGrid>
              <a:tr h="503797">
                <a:tc>
                  <a:txBody>
                    <a:bodyPr/>
                    <a:lstStyle/>
                    <a:p>
                      <a:pPr algn="ctr"/>
                      <a:r>
                        <a:rPr lang="fr-FR" sz="1800" b="1" noProof="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Libellé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noProof="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[[</a:t>
                      </a:r>
                      <a:r>
                        <a:rPr lang="fr-FR" sz="1800" b="1" noProof="0" dirty="0" err="1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anneeN</a:t>
                      </a:r>
                      <a:r>
                        <a:rPr lang="fr-FR" sz="1800" b="1" noProof="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]]</a:t>
                      </a:r>
                      <a:endParaRPr lang="fr-FR" sz="1800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noProof="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[[anneeN1]]</a:t>
                      </a:r>
                      <a:endParaRPr lang="fr-FR" sz="1800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noProof="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Variation %</a:t>
                      </a:r>
                      <a:endParaRPr lang="fr-FR" sz="1800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430093"/>
                  </a:ext>
                </a:extLst>
              </a:tr>
              <a:tr h="5037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92" kern="1200" noProof="0" dirty="0">
                          <a:solidFill>
                            <a:srgbClr val="4741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Locations, Charges locatives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92" kern="1200" noProof="0" dirty="0">
                          <a:solidFill>
                            <a:srgbClr val="4741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338 820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92" kern="1200" noProof="0" dirty="0">
                          <a:solidFill>
                            <a:srgbClr val="4741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265 335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92" kern="1200" noProof="0" dirty="0">
                          <a:solidFill>
                            <a:srgbClr val="4741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+27,69%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595979"/>
                  </a:ext>
                </a:extLst>
              </a:tr>
              <a:tr h="503797"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098313"/>
                  </a:ext>
                </a:extLst>
              </a:tr>
              <a:tr h="503797"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439056"/>
                  </a:ext>
                </a:extLst>
              </a:tr>
              <a:tr h="503797"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005163"/>
                  </a:ext>
                </a:extLst>
              </a:tr>
              <a:tr h="503797"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370393"/>
                  </a:ext>
                </a:extLst>
              </a:tr>
              <a:tr h="503797"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870821"/>
                  </a:ext>
                </a:extLst>
              </a:tr>
              <a:tr h="503797"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118265"/>
                  </a:ext>
                </a:extLst>
              </a:tr>
              <a:tr h="503797"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968795"/>
                  </a:ext>
                </a:extLst>
              </a:tr>
              <a:tr h="503797"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845099"/>
                  </a:ext>
                </a:extLst>
              </a:tr>
            </a:tbl>
          </a:graphicData>
        </a:graphic>
      </p:graphicFrame>
      <p:pic>
        <p:nvPicPr>
          <p:cNvPr id="22" name="icone_Commentaire9" descr="Bulle de discussion avec un remplissage uni">
            <a:extLst>
              <a:ext uri="{FF2B5EF4-FFF2-40B4-BE49-F238E27FC236}">
                <a16:creationId xmlns:a16="http://schemas.microsoft.com/office/drawing/2014/main" id="{580E2856-ABF8-5950-CB17-3A2D8AD82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4160" y="5660215"/>
            <a:ext cx="468000" cy="477751"/>
          </a:xfrm>
          <a:prstGeom prst="rect">
            <a:avLst/>
          </a:prstGeom>
        </p:spPr>
      </p:pic>
      <p:pic>
        <p:nvPicPr>
          <p:cNvPr id="21" name="icone_Commentaire8" descr="Bulle de discussion avec un remplissage uni">
            <a:extLst>
              <a:ext uri="{FF2B5EF4-FFF2-40B4-BE49-F238E27FC236}">
                <a16:creationId xmlns:a16="http://schemas.microsoft.com/office/drawing/2014/main" id="{F24ECBF1-BC68-C7CD-2254-D4E109741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4160" y="5173741"/>
            <a:ext cx="468000" cy="477751"/>
          </a:xfrm>
          <a:prstGeom prst="rect">
            <a:avLst/>
          </a:prstGeom>
        </p:spPr>
      </p:pic>
      <p:pic>
        <p:nvPicPr>
          <p:cNvPr id="20" name="icone_Commentaire7" descr="Bulle de discussion avec un remplissage uni">
            <a:extLst>
              <a:ext uri="{FF2B5EF4-FFF2-40B4-BE49-F238E27FC236}">
                <a16:creationId xmlns:a16="http://schemas.microsoft.com/office/drawing/2014/main" id="{2787E0DE-31A5-E2D8-F201-3D3CF259B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4160" y="4665732"/>
            <a:ext cx="468000" cy="477751"/>
          </a:xfrm>
          <a:prstGeom prst="rect">
            <a:avLst/>
          </a:prstGeom>
        </p:spPr>
      </p:pic>
      <p:pic>
        <p:nvPicPr>
          <p:cNvPr id="19" name="icone_Commentaire6" descr="Bulle de discussion avec un remplissage uni">
            <a:extLst>
              <a:ext uri="{FF2B5EF4-FFF2-40B4-BE49-F238E27FC236}">
                <a16:creationId xmlns:a16="http://schemas.microsoft.com/office/drawing/2014/main" id="{0F6C515E-7CD7-9758-0755-4C1D748C3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4160" y="4157248"/>
            <a:ext cx="468000" cy="477751"/>
          </a:xfrm>
          <a:prstGeom prst="rect">
            <a:avLst/>
          </a:prstGeom>
        </p:spPr>
      </p:pic>
      <p:pic>
        <p:nvPicPr>
          <p:cNvPr id="18" name="icone_Commentaire5" descr="Bulle de discussion avec un remplissage uni">
            <a:extLst>
              <a:ext uri="{FF2B5EF4-FFF2-40B4-BE49-F238E27FC236}">
                <a16:creationId xmlns:a16="http://schemas.microsoft.com/office/drawing/2014/main" id="{64D70763-A429-7315-F216-F225314DE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17810" y="3648764"/>
            <a:ext cx="468000" cy="477751"/>
          </a:xfrm>
          <a:prstGeom prst="rect">
            <a:avLst/>
          </a:prstGeom>
        </p:spPr>
      </p:pic>
      <p:pic>
        <p:nvPicPr>
          <p:cNvPr id="17" name="icone_Commentaire4" descr="Bulle de discussion avec un remplissage uni">
            <a:extLst>
              <a:ext uri="{FF2B5EF4-FFF2-40B4-BE49-F238E27FC236}">
                <a16:creationId xmlns:a16="http://schemas.microsoft.com/office/drawing/2014/main" id="{E17E423A-B302-5BE9-029B-3EDFB6F47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30510" y="3162765"/>
            <a:ext cx="468000" cy="477751"/>
          </a:xfrm>
          <a:prstGeom prst="rect">
            <a:avLst/>
          </a:prstGeom>
        </p:spPr>
      </p:pic>
      <p:pic>
        <p:nvPicPr>
          <p:cNvPr id="16" name="icone_Commentaire3" descr="Bulle de discussion avec un remplissage uni">
            <a:extLst>
              <a:ext uri="{FF2B5EF4-FFF2-40B4-BE49-F238E27FC236}">
                <a16:creationId xmlns:a16="http://schemas.microsoft.com/office/drawing/2014/main" id="{F82BA2CD-8596-442A-D199-048EFC344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17810" y="2647103"/>
            <a:ext cx="468000" cy="477751"/>
          </a:xfrm>
          <a:prstGeom prst="rect">
            <a:avLst/>
          </a:prstGeom>
        </p:spPr>
      </p:pic>
      <p:pic>
        <p:nvPicPr>
          <p:cNvPr id="15" name="icone_Commentaire2" descr="Bulle de discussion avec un remplissage uni">
            <a:extLst>
              <a:ext uri="{FF2B5EF4-FFF2-40B4-BE49-F238E27FC236}">
                <a16:creationId xmlns:a16="http://schemas.microsoft.com/office/drawing/2014/main" id="{78CC99DC-BA2C-9E24-6D85-F89CEECF3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5255" y="2123193"/>
            <a:ext cx="468000" cy="477751"/>
          </a:xfrm>
          <a:prstGeom prst="rect">
            <a:avLst/>
          </a:prstGeom>
        </p:spPr>
      </p:pic>
      <p:pic>
        <p:nvPicPr>
          <p:cNvPr id="5" name="icone_Commentaire1" descr="Bulle de discussion avec un remplissage uni">
            <a:extLst>
              <a:ext uri="{FF2B5EF4-FFF2-40B4-BE49-F238E27FC236}">
                <a16:creationId xmlns:a16="http://schemas.microsoft.com/office/drawing/2014/main" id="{D751044E-ADFF-A12F-079A-A31655715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0000" y="1645442"/>
            <a:ext cx="468000" cy="477751"/>
          </a:xfrm>
          <a:prstGeom prst="rect">
            <a:avLst/>
          </a:prstGeom>
        </p:spPr>
      </p:pic>
      <p:sp>
        <p:nvSpPr>
          <p:cNvPr id="23" name="EC_commentaire">
            <a:extLst>
              <a:ext uri="{FF2B5EF4-FFF2-40B4-BE49-F238E27FC236}">
                <a16:creationId xmlns:a16="http://schemas.microsoft.com/office/drawing/2014/main" id="{119A6364-9049-F1AE-4FD2-9B9356A2F6E6}"/>
              </a:ext>
            </a:extLst>
          </p:cNvPr>
          <p:cNvSpPr/>
          <p:nvPr/>
        </p:nvSpPr>
        <p:spPr>
          <a:xfrm>
            <a:off x="1543050" y="1590198"/>
            <a:ext cx="9118600" cy="367760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fr-FR" sz="1400" dirty="0"/>
              <a:t>Le chiffre d’affaires de votre entreprise affiche une progression significative entre 2023 et 2024, passant de 2 264 626 EUR à 2 587 796 EUR, soit une hausse de 14,27 %. Cette croissance, bien que modérée, témoigne d’une dynamique commerciale positive dans un contexte économique où la moyenne sectorielle globale s’élève à 81 923 EUR. Votre positionnement dans la tranche 5 du secteur, avec un chiffre d’affaires largement supérieur aux seuils définis (185 816 EUR pour cette tranche), confirme votre statut d’acteur majeur sur votre marché. Cette performance suggère une capacité à capter une part de marché substantielle, tout en maintenant une trajectoire de développement stable.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La marge brute suit une tendance similaire à celle du chiffre d’affaires, avec une augmentation de 14,84 % entre 2023 et 2024, passant de 1 931 961 EUR à 2 218 693 EUR. Le taux de marge brute reste remarquablement stable, évoluant de 85,31 % à 85,74 %, ce qui reflète une maîtrise efficace des coûts variables malgré la croissance de l’activité. Comparativement au secteur, où la moyenne globale s’établit à 90,2 %, votre performance se situe en dessous des tranches inférieures, mais reste cohérente avec votre positionnement dans la tranche 5 (89,4 %). Cette stabilité dans la marge brute, couplée à la hausse du chiffre d’affaires, indique une gestion opérationnelle rigoureuse et une capacité à préserver la rentabilité dans un environnement concurrentiel.</a:t>
            </a:r>
          </a:p>
        </p:txBody>
      </p:sp>
    </p:spTree>
    <p:extLst>
      <p:ext uri="{BB962C8B-B14F-4D97-AF65-F5344CB8AC3E}">
        <p14:creationId xmlns:p14="http://schemas.microsoft.com/office/powerpoint/2010/main" val="475306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aphique_ChargesPersonnel">
            <a:extLst>
              <a:ext uri="{FF2B5EF4-FFF2-40B4-BE49-F238E27FC236}">
                <a16:creationId xmlns:a16="http://schemas.microsoft.com/office/drawing/2014/main" id="{3531E7BB-4633-5536-6606-AC442C9FFE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9592280"/>
              </p:ext>
            </p:extLst>
          </p:nvPr>
        </p:nvGraphicFramePr>
        <p:xfrm>
          <a:off x="450850" y="1879600"/>
          <a:ext cx="3365500" cy="3318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0">
            <a:extLst>
              <a:ext uri="{FF2B5EF4-FFF2-40B4-BE49-F238E27FC236}">
                <a16:creationId xmlns:a16="http://schemas.microsoft.com/office/drawing/2014/main" id="{E707649A-3BC2-F4AE-6C39-9ADA368E2FEE}"/>
              </a:ext>
            </a:extLst>
          </p:cNvPr>
          <p:cNvSpPr/>
          <p:nvPr/>
        </p:nvSpPr>
        <p:spPr>
          <a:xfrm>
            <a:off x="661492" y="604800"/>
            <a:ext cx="6709469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fr-FR" sz="3250" b="1" noProof="0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Charges de personnel</a:t>
            </a:r>
          </a:p>
        </p:txBody>
      </p:sp>
      <p:graphicFrame>
        <p:nvGraphicFramePr>
          <p:cNvPr id="10" name="Graphique_Variation">
            <a:extLst>
              <a:ext uri="{FF2B5EF4-FFF2-40B4-BE49-F238E27FC236}">
                <a16:creationId xmlns:a16="http://schemas.microsoft.com/office/drawing/2014/main" id="{5967ED26-3096-E547-C7D2-111742EF6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0647741"/>
              </p:ext>
            </p:extLst>
          </p:nvPr>
        </p:nvGraphicFramePr>
        <p:xfrm>
          <a:off x="7880349" y="933450"/>
          <a:ext cx="3365500" cy="3318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8BBB460F-0E7A-178C-D92C-D0CC89E5D29F}"/>
              </a:ext>
            </a:extLst>
          </p:cNvPr>
          <p:cNvSpPr txBox="1"/>
          <p:nvPr/>
        </p:nvSpPr>
        <p:spPr>
          <a:xfrm>
            <a:off x="1867212" y="5059376"/>
            <a:ext cx="416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accent4"/>
                </a:solidFill>
              </a:rPr>
              <a:t>N-1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A372A1C-A64F-DA97-822E-F2986505F997}"/>
              </a:ext>
            </a:extLst>
          </p:cNvPr>
          <p:cNvSpPr txBox="1"/>
          <p:nvPr/>
        </p:nvSpPr>
        <p:spPr>
          <a:xfrm>
            <a:off x="2711450" y="5059375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accent4"/>
                </a:solidFill>
              </a:rPr>
              <a:t>N</a:t>
            </a:r>
          </a:p>
        </p:txBody>
      </p:sp>
      <p:graphicFrame>
        <p:nvGraphicFramePr>
          <p:cNvPr id="24" name="Tableau_Horaires">
            <a:extLst>
              <a:ext uri="{FF2B5EF4-FFF2-40B4-BE49-F238E27FC236}">
                <a16:creationId xmlns:a16="http://schemas.microsoft.com/office/drawing/2014/main" id="{0AE45AC4-276C-5F8C-36A4-065789ED6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739333"/>
              </p:ext>
            </p:extLst>
          </p:nvPr>
        </p:nvGraphicFramePr>
        <p:xfrm>
          <a:off x="3816350" y="5005916"/>
          <a:ext cx="8127999" cy="1112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0577015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3827751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358814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kern="1200" dirty="0">
                          <a:solidFill>
                            <a:srgbClr val="FFFFFF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kern="1200" dirty="0">
                          <a:solidFill>
                            <a:srgbClr val="FFFFFF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N-1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739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0" i="0" kern="1200" dirty="0">
                          <a:solidFill>
                            <a:srgbClr val="FFFFFF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Nombres d’heures rémunérées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fr-FR" sz="1400" b="0" i="0" kern="1200" dirty="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fr-FR" sz="1400" b="0" i="0" kern="1200" dirty="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2422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0" i="0" kern="1200" dirty="0">
                          <a:solidFill>
                            <a:srgbClr val="FFFFFF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Coût de revient horaire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fr-FR" sz="1400" b="0" i="0" kern="1200" dirty="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fr-FR" sz="1400" b="0" i="0" kern="1200" dirty="0">
                          <a:solidFill>
                            <a:schemeClr val="tx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287386"/>
                  </a:ext>
                </a:extLst>
              </a:tr>
            </a:tbl>
          </a:graphicData>
        </a:graphic>
      </p:graphicFrame>
      <p:pic>
        <p:nvPicPr>
          <p:cNvPr id="37" name="Graphique 36" descr="Utilisateurs avec un remplissage uni">
            <a:extLst>
              <a:ext uri="{FF2B5EF4-FFF2-40B4-BE49-F238E27FC236}">
                <a16:creationId xmlns:a16="http://schemas.microsoft.com/office/drawing/2014/main" id="{328B5D2A-2135-C2C0-DA15-E29BD7100B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2549" y="1585161"/>
            <a:ext cx="1371601" cy="1371601"/>
          </a:xfrm>
          <a:prstGeom prst="rect">
            <a:avLst/>
          </a:prstGeom>
        </p:spPr>
      </p:pic>
      <p:sp>
        <p:nvSpPr>
          <p:cNvPr id="38" name="ZoneTexte_Variation">
            <a:extLst>
              <a:ext uri="{FF2B5EF4-FFF2-40B4-BE49-F238E27FC236}">
                <a16:creationId xmlns:a16="http://schemas.microsoft.com/office/drawing/2014/main" id="{4A04BEA7-E2B4-C1FD-E409-A458F1E22B93}"/>
              </a:ext>
            </a:extLst>
          </p:cNvPr>
          <p:cNvSpPr txBox="1"/>
          <p:nvPr/>
        </p:nvSpPr>
        <p:spPr>
          <a:xfrm>
            <a:off x="4432802" y="2892735"/>
            <a:ext cx="28310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Variation de [[</a:t>
            </a:r>
            <a:r>
              <a:rPr lang="fr-FR" dirty="0" err="1"/>
              <a:t>CP_%Var</a:t>
            </a:r>
            <a:r>
              <a:rPr lang="fr-FR" dirty="0"/>
              <a:t>]]% </a:t>
            </a:r>
          </a:p>
          <a:p>
            <a:pPr algn="ctr"/>
            <a:r>
              <a:rPr lang="fr-FR" dirty="0"/>
              <a:t>des charges de</a:t>
            </a:r>
          </a:p>
          <a:p>
            <a:pPr algn="ctr"/>
            <a:r>
              <a:rPr lang="fr-FR" dirty="0"/>
              <a:t>personnel entre les</a:t>
            </a:r>
          </a:p>
          <a:p>
            <a:pPr algn="ctr"/>
            <a:r>
              <a:rPr lang="fr-FR" dirty="0"/>
              <a:t>exercices N et N-1</a:t>
            </a:r>
          </a:p>
        </p:txBody>
      </p:sp>
    </p:spTree>
    <p:extLst>
      <p:ext uri="{BB962C8B-B14F-4D97-AF65-F5344CB8AC3E}">
        <p14:creationId xmlns:p14="http://schemas.microsoft.com/office/powerpoint/2010/main" val="2810684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FAD363B-E454-1F5E-194F-EC299BB21FF3}"/>
              </a:ext>
            </a:extLst>
          </p:cNvPr>
          <p:cNvSpPr/>
          <p:nvPr/>
        </p:nvSpPr>
        <p:spPr>
          <a:xfrm>
            <a:off x="661492" y="604800"/>
            <a:ext cx="6709469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fr-FR" sz="3250" b="1" noProof="0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Cotisations sociales</a:t>
            </a:r>
          </a:p>
        </p:txBody>
      </p:sp>
    </p:spTree>
    <p:extLst>
      <p:ext uri="{BB962C8B-B14F-4D97-AF65-F5344CB8AC3E}">
        <p14:creationId xmlns:p14="http://schemas.microsoft.com/office/powerpoint/2010/main" val="144431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F883124-56A6-23D3-631B-571C474340F1}"/>
              </a:ext>
            </a:extLst>
          </p:cNvPr>
          <p:cNvSpPr/>
          <p:nvPr/>
        </p:nvSpPr>
        <p:spPr>
          <a:xfrm>
            <a:off x="661492" y="604800"/>
            <a:ext cx="6709469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fr-FR" sz="3250" b="1" noProof="0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Investissements</a:t>
            </a:r>
          </a:p>
        </p:txBody>
      </p:sp>
      <p:graphicFrame>
        <p:nvGraphicFramePr>
          <p:cNvPr id="6" name="Graphique_DotationsAmo">
            <a:extLst>
              <a:ext uri="{FF2B5EF4-FFF2-40B4-BE49-F238E27FC236}">
                <a16:creationId xmlns:a16="http://schemas.microsoft.com/office/drawing/2014/main" id="{70A30D33-B66D-3AD5-A7B9-E19B257D59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8644684"/>
              </p:ext>
            </p:extLst>
          </p:nvPr>
        </p:nvGraphicFramePr>
        <p:xfrm>
          <a:off x="-1952625" y="1132946"/>
          <a:ext cx="10217695" cy="5120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I_commentaire">
            <a:extLst>
              <a:ext uri="{FF2B5EF4-FFF2-40B4-BE49-F238E27FC236}">
                <a16:creationId xmlns:a16="http://schemas.microsoft.com/office/drawing/2014/main" id="{E96B3046-6140-E8FD-2BC3-5EFBE9716C7B}"/>
              </a:ext>
            </a:extLst>
          </p:cNvPr>
          <p:cNvSpPr/>
          <p:nvPr/>
        </p:nvSpPr>
        <p:spPr>
          <a:xfrm>
            <a:off x="6096000" y="1351835"/>
            <a:ext cx="5638800" cy="4154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fr-FR" sz="1400" dirty="0"/>
              <a:t>L’analyse des investissements de l’exercice révèle une politique d’acquisition ciblée, avec un montant total d’immobilisations entrées s’élevant à 3 829,53 EUR, principalement concentré sur des dépôts de garantie et un équipement informatique. Le poste le plus significatif concerne les cautionnements versés (1 740,00 EUR pour un dépôt lié à *Man </a:t>
            </a:r>
            <a:r>
              <a:rPr lang="fr-FR" sz="1400" dirty="0" err="1"/>
              <a:t>Rental</a:t>
            </a:r>
            <a:r>
              <a:rPr lang="fr-FR" sz="1400" dirty="0"/>
              <a:t>*), suivi de cinq dépôts de garantie auprès d’*</a:t>
            </a:r>
            <a:r>
              <a:rPr lang="fr-FR" sz="1400" dirty="0" err="1"/>
              <a:t>Andco</a:t>
            </a:r>
            <a:r>
              <a:rPr lang="fr-FR" sz="1400" dirty="0"/>
              <a:t>* (1 472,42 EUR), ce qui suggère une diversification des engagements locatifs ou contractuels. L’acquisition d’un *iPhone 13 Pro* (617,11 EUR) reflète un investissement modéré en matériel informatique, probablement destiné à soutenir l’activité opérationnelle. En revanche, les sorties d’immobilisations, bien que non quantifiées dans leur total, montrent une réduction notable du parc de véhicules (*</a:t>
            </a:r>
            <a:r>
              <a:rPr lang="fr-FR" sz="1400" dirty="0" err="1"/>
              <a:t>Crafter</a:t>
            </a:r>
            <a:r>
              <a:rPr lang="fr-FR" sz="1400" dirty="0"/>
              <a:t>*), avec six unités cédées pour 1 760,28 EUR, ainsi que la clôture de quatre dépôts de garantie *</a:t>
            </a:r>
            <a:r>
              <a:rPr lang="fr-FR" sz="1400" dirty="0" err="1"/>
              <a:t>Andco</a:t>
            </a:r>
            <a:r>
              <a:rPr lang="fr-FR" sz="1400" dirty="0"/>
              <a:t> Media* (765,00 EUR), indiquant une rationalisation des actifs ou une adaptation des besoins logistiques.</a:t>
            </a:r>
          </a:p>
        </p:txBody>
      </p:sp>
    </p:spTree>
    <p:extLst>
      <p:ext uri="{BB962C8B-B14F-4D97-AF65-F5344CB8AC3E}">
        <p14:creationId xmlns:p14="http://schemas.microsoft.com/office/powerpoint/2010/main" val="3938344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61492" y="2082998"/>
            <a:ext cx="5351859" cy="1329432"/>
          </a:xfrm>
          <a:prstGeom prst="roundRect">
            <a:avLst>
              <a:gd name="adj" fmla="val 5225"/>
            </a:avLst>
          </a:prstGeom>
          <a:solidFill>
            <a:srgbClr val="DDEBEE"/>
          </a:solidFill>
          <a:ln w="7620">
            <a:solidFill>
              <a:srgbClr val="C3D1D4"/>
            </a:solidFill>
            <a:prstDash val="solid"/>
          </a:ln>
        </p:spPr>
        <p:txBody>
          <a:bodyPr/>
          <a:lstStyle/>
          <a:p>
            <a:endParaRPr lang="fr-FR" sz="1500"/>
          </a:p>
        </p:txBody>
      </p:sp>
      <p:sp>
        <p:nvSpPr>
          <p:cNvPr id="4" name="Text 2"/>
          <p:cNvSpPr/>
          <p:nvPr/>
        </p:nvSpPr>
        <p:spPr>
          <a:xfrm>
            <a:off x="833140" y="2254647"/>
            <a:ext cx="212050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b="1" dirty="0">
                <a:solidFill>
                  <a:srgbClr val="4741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Impôt Sociétés Total</a:t>
            </a:r>
            <a:endParaRPr lang="en-US" sz="1625" dirty="0"/>
          </a:p>
        </p:txBody>
      </p:sp>
      <p:sp>
        <p:nvSpPr>
          <p:cNvPr id="5" name="ZoneTexte_Tot"/>
          <p:cNvSpPr/>
          <p:nvPr/>
        </p:nvSpPr>
        <p:spPr>
          <a:xfrm>
            <a:off x="833140" y="2612331"/>
            <a:ext cx="50085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fr-FR" sz="1292" b="1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[[</a:t>
            </a:r>
            <a:r>
              <a:rPr lang="fr-FR" sz="1292" b="1" dirty="0" err="1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IS_tot</a:t>
            </a:r>
            <a:r>
              <a:rPr lang="fr-FR" sz="1292" b="1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]]</a:t>
            </a:r>
            <a:r>
              <a:rPr lang="en-US" sz="1292" b="1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EUR</a:t>
            </a:r>
            <a:endParaRPr lang="en-US" sz="1292" dirty="0"/>
          </a:p>
        </p:txBody>
      </p:sp>
      <p:sp>
        <p:nvSpPr>
          <p:cNvPr id="6" name="Text 4"/>
          <p:cNvSpPr/>
          <p:nvPr/>
        </p:nvSpPr>
        <p:spPr>
          <a:xfrm>
            <a:off x="833140" y="2976166"/>
            <a:ext cx="50085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Déficit constaté</a:t>
            </a:r>
            <a:endParaRPr lang="en-US" sz="1292" dirty="0"/>
          </a:p>
        </p:txBody>
      </p:sp>
      <p:sp>
        <p:nvSpPr>
          <p:cNvPr id="7" name="Shape 5"/>
          <p:cNvSpPr/>
          <p:nvPr/>
        </p:nvSpPr>
        <p:spPr>
          <a:xfrm>
            <a:off x="6178650" y="2082998"/>
            <a:ext cx="5351859" cy="1329432"/>
          </a:xfrm>
          <a:prstGeom prst="roundRect">
            <a:avLst>
              <a:gd name="adj" fmla="val 5225"/>
            </a:avLst>
          </a:prstGeom>
          <a:solidFill>
            <a:srgbClr val="DDEBEE"/>
          </a:solidFill>
          <a:ln w="7620">
            <a:solidFill>
              <a:srgbClr val="C3D1D4"/>
            </a:solidFill>
            <a:prstDash val="solid"/>
          </a:ln>
        </p:spPr>
        <p:txBody>
          <a:bodyPr/>
          <a:lstStyle/>
          <a:p>
            <a:endParaRPr lang="fr-FR" sz="1500"/>
          </a:p>
        </p:txBody>
      </p:sp>
      <p:sp>
        <p:nvSpPr>
          <p:cNvPr id="8" name="Text 6"/>
          <p:cNvSpPr/>
          <p:nvPr/>
        </p:nvSpPr>
        <p:spPr>
          <a:xfrm>
            <a:off x="6350298" y="2254647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b="1" dirty="0">
                <a:solidFill>
                  <a:srgbClr val="4741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Crédits d'Impôts</a:t>
            </a:r>
            <a:endParaRPr lang="en-US" sz="1625" dirty="0"/>
          </a:p>
        </p:txBody>
      </p:sp>
      <p:sp>
        <p:nvSpPr>
          <p:cNvPr id="9" name="ZoneTexte_Credit"/>
          <p:cNvSpPr/>
          <p:nvPr/>
        </p:nvSpPr>
        <p:spPr>
          <a:xfrm>
            <a:off x="6350298" y="2612331"/>
            <a:ext cx="50085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fr-FR" sz="1292" b="1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[[</a:t>
            </a:r>
            <a:r>
              <a:rPr lang="fr-FR" sz="1292" b="1" dirty="0" err="1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IS_credit</a:t>
            </a:r>
            <a:r>
              <a:rPr lang="fr-FR" sz="1292" b="1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]] </a:t>
            </a:r>
            <a:r>
              <a:rPr lang="en-US" sz="1292" b="1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EUR</a:t>
            </a:r>
            <a:endParaRPr lang="en-US" sz="1292" dirty="0"/>
          </a:p>
        </p:txBody>
      </p:sp>
      <p:sp>
        <p:nvSpPr>
          <p:cNvPr id="10" name="Shape 8"/>
          <p:cNvSpPr/>
          <p:nvPr/>
        </p:nvSpPr>
        <p:spPr>
          <a:xfrm>
            <a:off x="661492" y="3577729"/>
            <a:ext cx="5351859" cy="1329432"/>
          </a:xfrm>
          <a:prstGeom prst="roundRect">
            <a:avLst>
              <a:gd name="adj" fmla="val 5225"/>
            </a:avLst>
          </a:prstGeom>
          <a:solidFill>
            <a:srgbClr val="DDEBEE"/>
          </a:solidFill>
          <a:ln w="7620">
            <a:solidFill>
              <a:srgbClr val="C3D1D4"/>
            </a:solidFill>
            <a:prstDash val="solid"/>
          </a:ln>
        </p:spPr>
        <p:txBody>
          <a:bodyPr/>
          <a:lstStyle/>
          <a:p>
            <a:endParaRPr lang="fr-FR" sz="1500"/>
          </a:p>
        </p:txBody>
      </p:sp>
      <p:sp>
        <p:nvSpPr>
          <p:cNvPr id="11" name="Text 9"/>
          <p:cNvSpPr/>
          <p:nvPr/>
        </p:nvSpPr>
        <p:spPr>
          <a:xfrm>
            <a:off x="833140" y="3749378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b="1" dirty="0">
                <a:solidFill>
                  <a:srgbClr val="4741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Acomptes Versés</a:t>
            </a:r>
            <a:endParaRPr lang="en-US" sz="1625" dirty="0"/>
          </a:p>
        </p:txBody>
      </p:sp>
      <p:sp>
        <p:nvSpPr>
          <p:cNvPr id="12" name="ZoneTexte_Acomptes"/>
          <p:cNvSpPr/>
          <p:nvPr/>
        </p:nvSpPr>
        <p:spPr>
          <a:xfrm>
            <a:off x="833140" y="4107061"/>
            <a:ext cx="50085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fr-FR" sz="1292" b="1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[[</a:t>
            </a:r>
            <a:r>
              <a:rPr lang="fr-FR" sz="1292" b="1" dirty="0" err="1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IS_acomptes</a:t>
            </a:r>
            <a:r>
              <a:rPr lang="fr-FR" sz="1292" b="1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]] </a:t>
            </a:r>
            <a:r>
              <a:rPr lang="en-US" sz="1292" b="1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EUR</a:t>
            </a:r>
            <a:endParaRPr lang="en-US" sz="1292" dirty="0"/>
          </a:p>
        </p:txBody>
      </p:sp>
      <p:sp>
        <p:nvSpPr>
          <p:cNvPr id="13" name="ZoneTexte_ChoixMontant"/>
          <p:cNvSpPr/>
          <p:nvPr/>
        </p:nvSpPr>
        <p:spPr>
          <a:xfrm>
            <a:off x="833140" y="4470896"/>
            <a:ext cx="50085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À </a:t>
            </a:r>
            <a:r>
              <a:rPr lang="fr-FR" sz="1292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[[</a:t>
            </a:r>
            <a:r>
              <a:rPr lang="fr-FR" sz="1292" dirty="0" err="1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IS_choixMontant</a:t>
            </a:r>
            <a:r>
              <a:rPr lang="fr-FR" sz="1292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]]</a:t>
            </a:r>
            <a:endParaRPr lang="en-US" sz="1292" dirty="0">
              <a:solidFill>
                <a:srgbClr val="4741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8650" y="3577729"/>
            <a:ext cx="5351859" cy="1329432"/>
          </a:xfrm>
          <a:prstGeom prst="roundRect">
            <a:avLst>
              <a:gd name="adj" fmla="val 5225"/>
            </a:avLst>
          </a:prstGeom>
          <a:solidFill>
            <a:srgbClr val="DDEBEE"/>
          </a:solidFill>
          <a:ln w="7620">
            <a:solidFill>
              <a:srgbClr val="C3D1D4"/>
            </a:solidFill>
            <a:prstDash val="solid"/>
          </a:ln>
        </p:spPr>
        <p:txBody>
          <a:bodyPr/>
          <a:lstStyle/>
          <a:p>
            <a:endParaRPr lang="fr-FR" sz="1500"/>
          </a:p>
        </p:txBody>
      </p:sp>
      <p:sp>
        <p:nvSpPr>
          <p:cNvPr id="15" name="Text 13"/>
          <p:cNvSpPr/>
          <p:nvPr/>
        </p:nvSpPr>
        <p:spPr>
          <a:xfrm>
            <a:off x="6350298" y="3749378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b="1" dirty="0">
                <a:solidFill>
                  <a:srgbClr val="4741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Montant à Payer</a:t>
            </a:r>
            <a:endParaRPr lang="en-US" sz="1625" dirty="0"/>
          </a:p>
        </p:txBody>
      </p:sp>
      <p:sp>
        <p:nvSpPr>
          <p:cNvPr id="16" name="ZoneTexte_Montant"/>
          <p:cNvSpPr/>
          <p:nvPr/>
        </p:nvSpPr>
        <p:spPr>
          <a:xfrm>
            <a:off x="6350298" y="4107061"/>
            <a:ext cx="50085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fr-FR" sz="1292" b="1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[[</a:t>
            </a:r>
            <a:r>
              <a:rPr lang="fr-FR" sz="1292" b="1" dirty="0" err="1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IS_montant</a:t>
            </a:r>
            <a:r>
              <a:rPr lang="fr-FR" sz="1292" b="1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]] </a:t>
            </a:r>
            <a:r>
              <a:rPr lang="en-US" sz="1292" b="1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EUR</a:t>
            </a:r>
            <a:endParaRPr lang="en-US" sz="1292" dirty="0"/>
          </a:p>
        </p:txBody>
      </p:sp>
      <p:sp>
        <p:nvSpPr>
          <p:cNvPr id="17" name="Text 15"/>
          <p:cNvSpPr/>
          <p:nvPr/>
        </p:nvSpPr>
        <p:spPr>
          <a:xfrm>
            <a:off x="6350298" y="4470896"/>
            <a:ext cx="50085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Créance fiscale</a:t>
            </a:r>
            <a:endParaRPr lang="en-US" sz="1292" dirty="0"/>
          </a:p>
        </p:txBody>
      </p:sp>
      <p:sp>
        <p:nvSpPr>
          <p:cNvPr id="18" name="ZoneTexte_PhraseAcomptes"/>
          <p:cNvSpPr/>
          <p:nvPr/>
        </p:nvSpPr>
        <p:spPr>
          <a:xfrm>
            <a:off x="661492" y="5093196"/>
            <a:ext cx="1086901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Compte tenu du déficit constaté, aucun acompte d'impôt sur les sociétés n'est exigible au titre de l'exercice à venir. L'entreprise dispose d'une créance fiscale de 16 611 EUR correspondant aux acomptes versés.</a:t>
            </a:r>
            <a:endParaRPr lang="en-US" sz="1292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A449ED43-EF1C-1B47-FD9F-4B9C0D0D3BFF}"/>
              </a:ext>
            </a:extLst>
          </p:cNvPr>
          <p:cNvSpPr/>
          <p:nvPr/>
        </p:nvSpPr>
        <p:spPr>
          <a:xfrm>
            <a:off x="661492" y="604800"/>
            <a:ext cx="6929933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b="1" dirty="0" err="1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Impôt</a:t>
            </a:r>
            <a:r>
              <a:rPr lang="en-US" sz="3250" b="1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 sur les Sociétés</a:t>
            </a:r>
            <a:endParaRPr lang="en-US" sz="3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3C25E9D-0E17-F9BA-159A-EB34E1C88909}"/>
              </a:ext>
            </a:extLst>
          </p:cNvPr>
          <p:cNvSpPr/>
          <p:nvPr/>
        </p:nvSpPr>
        <p:spPr>
          <a:xfrm>
            <a:off x="661492" y="604800"/>
            <a:ext cx="6929933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b="1" dirty="0" err="1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Acompte</a:t>
            </a:r>
            <a:r>
              <a:rPr lang="en-US" sz="3250" b="1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 impots sur les sociétés N+1</a:t>
            </a:r>
            <a:endParaRPr lang="en-US" sz="3250" dirty="0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D9723506-A3A7-F07B-108E-FB3A5A0636DA}"/>
              </a:ext>
            </a:extLst>
          </p:cNvPr>
          <p:cNvSpPr/>
          <p:nvPr/>
        </p:nvSpPr>
        <p:spPr>
          <a:xfrm>
            <a:off x="5699125" y="1254124"/>
            <a:ext cx="793750" cy="4899025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61B652-DA68-A9B9-080C-F9B33B9EE6CA}"/>
              </a:ext>
            </a:extLst>
          </p:cNvPr>
          <p:cNvSpPr/>
          <p:nvPr/>
        </p:nvSpPr>
        <p:spPr>
          <a:xfrm>
            <a:off x="5880100" y="1396999"/>
            <a:ext cx="45085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200" dirty="0"/>
              <a:t>15/03</a:t>
            </a:r>
            <a:endParaRPr lang="fr-FR" sz="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D6A4E8-5B89-41C1-482C-21CB56ECAA98}"/>
              </a:ext>
            </a:extLst>
          </p:cNvPr>
          <p:cNvSpPr/>
          <p:nvPr/>
        </p:nvSpPr>
        <p:spPr>
          <a:xfrm>
            <a:off x="5880100" y="5080001"/>
            <a:ext cx="45085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200" dirty="0"/>
              <a:t>15/12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541764-6D65-37DF-3887-51DFD2101139}"/>
              </a:ext>
            </a:extLst>
          </p:cNvPr>
          <p:cNvSpPr/>
          <p:nvPr/>
        </p:nvSpPr>
        <p:spPr>
          <a:xfrm>
            <a:off x="5870575" y="2597150"/>
            <a:ext cx="45085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200" dirty="0"/>
              <a:t>15/06</a:t>
            </a:r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536928-73DA-BCDA-005B-DE38BA513094}"/>
              </a:ext>
            </a:extLst>
          </p:cNvPr>
          <p:cNvSpPr/>
          <p:nvPr/>
        </p:nvSpPr>
        <p:spPr>
          <a:xfrm>
            <a:off x="5870575" y="3879850"/>
            <a:ext cx="45085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200" dirty="0"/>
              <a:t>15/09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892109-B0C8-0F22-7EB5-20CD5D563755}"/>
              </a:ext>
            </a:extLst>
          </p:cNvPr>
          <p:cNvSpPr/>
          <p:nvPr/>
        </p:nvSpPr>
        <p:spPr>
          <a:xfrm>
            <a:off x="5086350" y="1564640"/>
            <a:ext cx="79375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5CC4A9-C4F5-3FC4-5E18-0F7662A26A59}"/>
              </a:ext>
            </a:extLst>
          </p:cNvPr>
          <p:cNvSpPr/>
          <p:nvPr/>
        </p:nvSpPr>
        <p:spPr>
          <a:xfrm>
            <a:off x="6321425" y="2764790"/>
            <a:ext cx="79375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21D383-150C-63E0-4814-8BB0BCD28BC6}"/>
              </a:ext>
            </a:extLst>
          </p:cNvPr>
          <p:cNvSpPr/>
          <p:nvPr/>
        </p:nvSpPr>
        <p:spPr>
          <a:xfrm>
            <a:off x="5076825" y="4047490"/>
            <a:ext cx="79375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ED2DBE-D0DA-C044-6DDD-36AC1F316239}"/>
              </a:ext>
            </a:extLst>
          </p:cNvPr>
          <p:cNvSpPr/>
          <p:nvPr/>
        </p:nvSpPr>
        <p:spPr>
          <a:xfrm>
            <a:off x="6330950" y="5247642"/>
            <a:ext cx="79375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221D4FD-5B7D-04D7-D8AD-72260CB2AE90}"/>
              </a:ext>
            </a:extLst>
          </p:cNvPr>
          <p:cNvSpPr/>
          <p:nvPr/>
        </p:nvSpPr>
        <p:spPr>
          <a:xfrm>
            <a:off x="3949700" y="1422399"/>
            <a:ext cx="1136650" cy="3301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349 €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81C7D988-6BF0-AE5F-BCD7-42AABDE58D81}"/>
              </a:ext>
            </a:extLst>
          </p:cNvPr>
          <p:cNvSpPr/>
          <p:nvPr/>
        </p:nvSpPr>
        <p:spPr>
          <a:xfrm>
            <a:off x="7124700" y="2618168"/>
            <a:ext cx="1136650" cy="3301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349 €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BA73D76F-8067-7368-FA04-E74317B37D08}"/>
              </a:ext>
            </a:extLst>
          </p:cNvPr>
          <p:cNvSpPr/>
          <p:nvPr/>
        </p:nvSpPr>
        <p:spPr>
          <a:xfrm>
            <a:off x="3940175" y="3905249"/>
            <a:ext cx="1136650" cy="3301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349 €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70D6C296-7C8C-005E-4A16-4E422D594261}"/>
              </a:ext>
            </a:extLst>
          </p:cNvPr>
          <p:cNvSpPr/>
          <p:nvPr/>
        </p:nvSpPr>
        <p:spPr>
          <a:xfrm>
            <a:off x="7124700" y="5105401"/>
            <a:ext cx="1136650" cy="3301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349 €</a:t>
            </a:r>
          </a:p>
        </p:txBody>
      </p:sp>
    </p:spTree>
    <p:extLst>
      <p:ext uri="{BB962C8B-B14F-4D97-AF65-F5344CB8AC3E}">
        <p14:creationId xmlns:p14="http://schemas.microsoft.com/office/powerpoint/2010/main" val="3762811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au_Autofin">
            <a:extLst>
              <a:ext uri="{FF2B5EF4-FFF2-40B4-BE49-F238E27FC236}">
                <a16:creationId xmlns:a16="http://schemas.microsoft.com/office/drawing/2014/main" id="{F781C472-F9FB-D563-C317-8EDC5BA89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869850"/>
              </p:ext>
            </p:extLst>
          </p:nvPr>
        </p:nvGraphicFramePr>
        <p:xfrm>
          <a:off x="5610542" y="3428998"/>
          <a:ext cx="5762308" cy="232560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77089">
                  <a:extLst>
                    <a:ext uri="{9D8B030D-6E8A-4147-A177-3AD203B41FA5}">
                      <a16:colId xmlns:a16="http://schemas.microsoft.com/office/drawing/2014/main" val="2447319731"/>
                    </a:ext>
                  </a:extLst>
                </a:gridCol>
                <a:gridCol w="2285219">
                  <a:extLst>
                    <a:ext uri="{9D8B030D-6E8A-4147-A177-3AD203B41FA5}">
                      <a16:colId xmlns:a16="http://schemas.microsoft.com/office/drawing/2014/main" val="99474264"/>
                    </a:ext>
                  </a:extLst>
                </a:gridCol>
              </a:tblGrid>
              <a:tr h="292176">
                <a:tc>
                  <a:txBody>
                    <a:bodyPr/>
                    <a:lstStyle/>
                    <a:p>
                      <a:pPr marL="180340" marR="257175">
                        <a:lnSpc>
                          <a:spcPts val="103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80340" marR="257175" algn="ctr">
                        <a:lnSpc>
                          <a:spcPts val="103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spc="-50">
                          <a:effectLst/>
                        </a:rPr>
                        <a:t>N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56025055"/>
                  </a:ext>
                </a:extLst>
              </a:tr>
              <a:tr h="227986">
                <a:tc>
                  <a:txBody>
                    <a:bodyPr/>
                    <a:lstStyle/>
                    <a:p>
                      <a:pPr marL="180340" marR="257175">
                        <a:lnSpc>
                          <a:spcPts val="109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Résultat net comptable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80340" marR="257175" algn="r">
                        <a:lnSpc>
                          <a:spcPts val="109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[[AF_resEx]]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7013302"/>
                  </a:ext>
                </a:extLst>
              </a:tr>
              <a:tr h="230199">
                <a:tc>
                  <a:txBody>
                    <a:bodyPr/>
                    <a:lstStyle/>
                    <a:p>
                      <a:pPr marL="180340" marR="257175">
                        <a:lnSpc>
                          <a:spcPts val="117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Dotations aux amortissements et provisions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80340" marR="257175" algn="r">
                        <a:lnSpc>
                          <a:spcPts val="117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[[AF_dota]]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19350193"/>
                  </a:ext>
                </a:extLst>
              </a:tr>
              <a:tr h="230199">
                <a:tc>
                  <a:txBody>
                    <a:bodyPr/>
                    <a:lstStyle/>
                    <a:p>
                      <a:pPr marL="180340" marR="257175">
                        <a:lnSpc>
                          <a:spcPts val="117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dirty="0">
                          <a:effectLst/>
                        </a:rPr>
                        <a:t>Reprises sur amortissements et provisions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80340" marR="257175" algn="r">
                        <a:lnSpc>
                          <a:spcPts val="117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[[AF_reprises]]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48156156"/>
                  </a:ext>
                </a:extLst>
              </a:tr>
              <a:tr h="230199">
                <a:tc>
                  <a:txBody>
                    <a:bodyPr/>
                    <a:lstStyle/>
                    <a:p>
                      <a:pPr marL="180340" marR="257175">
                        <a:lnSpc>
                          <a:spcPts val="118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+ ou – values sur cessions d’actifs</a:t>
                      </a:r>
                      <a:r>
                        <a:rPr lang="fr-FR" sz="900" spc="-35">
                          <a:effectLst/>
                        </a:rPr>
                        <a:t>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80340" marR="257175" algn="r">
                        <a:lnSpc>
                          <a:spcPts val="103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[[AF_cessions]]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88909343"/>
                  </a:ext>
                </a:extLst>
              </a:tr>
              <a:tr h="230199">
                <a:tc>
                  <a:txBody>
                    <a:bodyPr/>
                    <a:lstStyle/>
                    <a:p>
                      <a:pPr marL="180340" marR="257175">
                        <a:lnSpc>
                          <a:spcPts val="117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   Subventions</a:t>
                      </a:r>
                      <a:r>
                        <a:rPr lang="fr-FR" sz="900" spc="-45">
                          <a:effectLst/>
                        </a:rPr>
                        <a:t> </a:t>
                      </a:r>
                      <a:r>
                        <a:rPr lang="fr-FR" sz="900">
                          <a:effectLst/>
                        </a:rPr>
                        <a:t>d'investissement</a:t>
                      </a:r>
                      <a:r>
                        <a:rPr lang="fr-FR" sz="900" spc="-35">
                          <a:effectLst/>
                        </a:rPr>
                        <a:t> </a:t>
                      </a:r>
                      <a:r>
                        <a:rPr lang="fr-FR" sz="900">
                          <a:effectLst/>
                        </a:rPr>
                        <a:t>virées</a:t>
                      </a:r>
                      <a:r>
                        <a:rPr lang="fr-FR" sz="900" spc="-55">
                          <a:effectLst/>
                        </a:rPr>
                        <a:t> </a:t>
                      </a:r>
                      <a:r>
                        <a:rPr lang="fr-FR" sz="900">
                          <a:effectLst/>
                        </a:rPr>
                        <a:t>au</a:t>
                      </a:r>
                      <a:r>
                        <a:rPr lang="fr-FR" sz="900" spc="-50">
                          <a:effectLst/>
                        </a:rPr>
                        <a:t> </a:t>
                      </a:r>
                      <a:r>
                        <a:rPr lang="fr-FR" sz="900" spc="-10">
                          <a:effectLst/>
                        </a:rPr>
                        <a:t>résultat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80340" marR="257175" algn="r">
                        <a:lnSpc>
                          <a:spcPts val="117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[[AF_subven]]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2092167"/>
                  </a:ext>
                </a:extLst>
              </a:tr>
              <a:tr h="211017">
                <a:tc>
                  <a:txBody>
                    <a:bodyPr/>
                    <a:lstStyle/>
                    <a:p>
                      <a:pPr marL="180340" marR="257175">
                        <a:lnSpc>
                          <a:spcPts val="104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spc="-10" dirty="0">
                          <a:effectLst/>
                        </a:rPr>
                        <a:t>= Capacité d’autofinancement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340" marR="257175" algn="r">
                        <a:lnSpc>
                          <a:spcPts val="104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dirty="0">
                          <a:effectLst/>
                        </a:rPr>
                        <a:t>[[</a:t>
                      </a:r>
                      <a:r>
                        <a:rPr lang="fr-FR" sz="900" dirty="0" err="1">
                          <a:effectLst/>
                        </a:rPr>
                        <a:t>AF_capa</a:t>
                      </a:r>
                      <a:r>
                        <a:rPr lang="fr-FR" sz="900" dirty="0">
                          <a:effectLst/>
                        </a:rPr>
                        <a:t>]]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13013"/>
                  </a:ext>
                </a:extLst>
              </a:tr>
              <a:tr h="230199">
                <a:tc>
                  <a:txBody>
                    <a:bodyPr/>
                    <a:lstStyle/>
                    <a:p>
                      <a:pPr marL="180340" marR="257175">
                        <a:lnSpc>
                          <a:spcPts val="117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   Remboursements emprunts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80340" marR="257175" algn="r">
                        <a:lnSpc>
                          <a:spcPts val="117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[[AF_rembours]]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08588756"/>
                  </a:ext>
                </a:extLst>
              </a:tr>
              <a:tr h="230199">
                <a:tc>
                  <a:txBody>
                    <a:bodyPr/>
                    <a:lstStyle/>
                    <a:p>
                      <a:pPr marL="180340" marR="257175">
                        <a:lnSpc>
                          <a:spcPts val="117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dirty="0">
                          <a:effectLst/>
                        </a:rPr>
                        <a:t>   Dividendes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80340" marR="257175" algn="r">
                        <a:lnSpc>
                          <a:spcPts val="117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[[AF_divi]]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7054241"/>
                  </a:ext>
                </a:extLst>
              </a:tr>
              <a:tr h="213230">
                <a:tc>
                  <a:txBody>
                    <a:bodyPr/>
                    <a:lstStyle/>
                    <a:p>
                      <a:pPr marL="180340" marR="257175">
                        <a:lnSpc>
                          <a:spcPts val="105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dirty="0">
                          <a:effectLst/>
                        </a:rPr>
                        <a:t>= Capacité d’autofinancement net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340" marR="257175" algn="r">
                        <a:lnSpc>
                          <a:spcPts val="105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dirty="0">
                          <a:effectLst/>
                        </a:rPr>
                        <a:t>[[</a:t>
                      </a:r>
                      <a:r>
                        <a:rPr lang="fr-FR" sz="900" dirty="0" err="1">
                          <a:effectLst/>
                        </a:rPr>
                        <a:t>AF_capaNet</a:t>
                      </a:r>
                      <a:r>
                        <a:rPr lang="fr-FR" sz="900" dirty="0">
                          <a:effectLst/>
                        </a:rPr>
                        <a:t>]]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559387"/>
                  </a:ext>
                </a:extLst>
              </a:tr>
            </a:tbl>
          </a:graphicData>
        </a:graphic>
      </p:graphicFrame>
      <p:graphicFrame>
        <p:nvGraphicFramePr>
          <p:cNvPr id="5" name="Graphique_ProjAffect">
            <a:extLst>
              <a:ext uri="{FF2B5EF4-FFF2-40B4-BE49-F238E27FC236}">
                <a16:creationId xmlns:a16="http://schemas.microsoft.com/office/drawing/2014/main" id="{4135B297-DF79-BB5C-5D0A-182DBDDCED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6211058"/>
              </p:ext>
            </p:extLst>
          </p:nvPr>
        </p:nvGraphicFramePr>
        <p:xfrm>
          <a:off x="1047750" y="3194050"/>
          <a:ext cx="3092450" cy="27271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Tableau_ProjAffect">
            <a:extLst>
              <a:ext uri="{FF2B5EF4-FFF2-40B4-BE49-F238E27FC236}">
                <a16:creationId xmlns:a16="http://schemas.microsoft.com/office/drawing/2014/main" id="{087A91CB-7E22-488B-F9DE-E6A1B9875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349605"/>
              </p:ext>
            </p:extLst>
          </p:nvPr>
        </p:nvGraphicFramePr>
        <p:xfrm>
          <a:off x="284480" y="1565017"/>
          <a:ext cx="4795520" cy="142049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15870">
                  <a:extLst>
                    <a:ext uri="{9D8B030D-6E8A-4147-A177-3AD203B41FA5}">
                      <a16:colId xmlns:a16="http://schemas.microsoft.com/office/drawing/2014/main" val="3086593025"/>
                    </a:ext>
                  </a:extLst>
                </a:gridCol>
                <a:gridCol w="2279650">
                  <a:extLst>
                    <a:ext uri="{9D8B030D-6E8A-4147-A177-3AD203B41FA5}">
                      <a16:colId xmlns:a16="http://schemas.microsoft.com/office/drawing/2014/main" val="560004599"/>
                    </a:ext>
                  </a:extLst>
                </a:gridCol>
              </a:tblGrid>
              <a:tr h="214630">
                <a:tc>
                  <a:txBody>
                    <a:bodyPr/>
                    <a:lstStyle/>
                    <a:p>
                      <a:pPr marL="93345" marR="85090" algn="ctr">
                        <a:lnSpc>
                          <a:spcPts val="103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250" marR="83185" algn="ctr">
                        <a:lnSpc>
                          <a:spcPts val="117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spc="-50" dirty="0">
                          <a:effectLst/>
                        </a:rPr>
                        <a:t>N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18005571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marL="93345" marR="85090">
                        <a:lnSpc>
                          <a:spcPts val="113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dirty="0">
                          <a:effectLst/>
                        </a:rPr>
                        <a:t>Résultat</a:t>
                      </a:r>
                      <a:r>
                        <a:rPr lang="fr-FR" sz="900" spc="-25" dirty="0">
                          <a:effectLst/>
                        </a:rPr>
                        <a:t> </a:t>
                      </a:r>
                      <a:r>
                        <a:rPr lang="fr-FR" sz="900" dirty="0">
                          <a:effectLst/>
                        </a:rPr>
                        <a:t>de</a:t>
                      </a:r>
                      <a:r>
                        <a:rPr lang="fr-FR" sz="900" spc="-30" dirty="0">
                          <a:effectLst/>
                        </a:rPr>
                        <a:t> </a:t>
                      </a:r>
                      <a:r>
                        <a:rPr lang="fr-FR" sz="900" spc="-10" dirty="0">
                          <a:effectLst/>
                        </a:rPr>
                        <a:t>l'exercice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250" marR="83185" algn="r">
                        <a:lnSpc>
                          <a:spcPts val="113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dirty="0">
                          <a:effectLst/>
                        </a:rPr>
                        <a:t>[[</a:t>
                      </a:r>
                      <a:r>
                        <a:rPr lang="fr-FR" sz="900" dirty="0" err="1">
                          <a:effectLst/>
                        </a:rPr>
                        <a:t>PA_resEx</a:t>
                      </a:r>
                      <a:r>
                        <a:rPr lang="fr-FR" sz="900" dirty="0">
                          <a:effectLst/>
                        </a:rPr>
                        <a:t>]]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80666298"/>
                  </a:ext>
                </a:extLst>
              </a:tr>
              <a:tr h="211455">
                <a:tc gridSpan="2">
                  <a:txBody>
                    <a:bodyPr/>
                    <a:lstStyle/>
                    <a:p>
                      <a:pPr marL="93345" marR="85090">
                        <a:lnSpc>
                          <a:spcPts val="101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spc="-10" dirty="0">
                          <a:effectLst/>
                        </a:rPr>
                        <a:t>Affectations</a:t>
                      </a:r>
                      <a:r>
                        <a:rPr lang="fr-FR" sz="9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8063545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93345" marR="85090">
                        <a:lnSpc>
                          <a:spcPts val="110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-</a:t>
                      </a:r>
                      <a:r>
                        <a:rPr lang="fr-FR" sz="900" spc="-40">
                          <a:effectLst/>
                        </a:rPr>
                        <a:t> </a:t>
                      </a:r>
                      <a:r>
                        <a:rPr lang="fr-FR" sz="900">
                          <a:effectLst/>
                        </a:rPr>
                        <a:t>Réserve</a:t>
                      </a:r>
                      <a:r>
                        <a:rPr lang="fr-FR" sz="900" spc="-35">
                          <a:effectLst/>
                        </a:rPr>
                        <a:t> </a:t>
                      </a:r>
                      <a:r>
                        <a:rPr lang="fr-FR" sz="900" spc="-10">
                          <a:effectLst/>
                        </a:rPr>
                        <a:t>légale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250" marR="83185" algn="r">
                        <a:lnSpc>
                          <a:spcPts val="110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spc="-10">
                          <a:effectLst/>
                        </a:rPr>
                        <a:t>[[PA_resLeg]]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44664610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93345" marR="85090" algn="r">
                        <a:lnSpc>
                          <a:spcPts val="109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-</a:t>
                      </a:r>
                      <a:r>
                        <a:rPr lang="fr-FR" sz="900" spc="-40">
                          <a:effectLst/>
                        </a:rPr>
                        <a:t> </a:t>
                      </a:r>
                      <a:r>
                        <a:rPr lang="fr-FR" sz="900">
                          <a:effectLst/>
                        </a:rPr>
                        <a:t>Réserve</a:t>
                      </a:r>
                      <a:r>
                        <a:rPr lang="fr-FR" sz="900" spc="-35">
                          <a:effectLst/>
                        </a:rPr>
                        <a:t> </a:t>
                      </a:r>
                      <a:r>
                        <a:rPr lang="fr-FR" sz="900" spc="-10">
                          <a:effectLst/>
                        </a:rPr>
                        <a:t>ordinaire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250" marR="83185" algn="r">
                        <a:lnSpc>
                          <a:spcPts val="103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spc="-10" dirty="0">
                          <a:effectLst/>
                        </a:rPr>
                        <a:t>[[</a:t>
                      </a:r>
                      <a:r>
                        <a:rPr lang="fr-FR" sz="900" spc="-10" dirty="0" err="1">
                          <a:effectLst/>
                        </a:rPr>
                        <a:t>PA_resOrd</a:t>
                      </a:r>
                      <a:r>
                        <a:rPr lang="fr-FR" sz="900" spc="-10" dirty="0">
                          <a:effectLst/>
                        </a:rPr>
                        <a:t>]]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705937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93345" marR="85090" algn="r">
                        <a:lnSpc>
                          <a:spcPts val="110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-</a:t>
                      </a:r>
                      <a:r>
                        <a:rPr lang="fr-FR" sz="900" spc="-25">
                          <a:effectLst/>
                        </a:rPr>
                        <a:t> </a:t>
                      </a:r>
                      <a:r>
                        <a:rPr lang="fr-FR" sz="900">
                          <a:effectLst/>
                        </a:rPr>
                        <a:t>Report</a:t>
                      </a:r>
                      <a:r>
                        <a:rPr lang="fr-FR" sz="900" spc="-15">
                          <a:effectLst/>
                        </a:rPr>
                        <a:t> </a:t>
                      </a:r>
                      <a:r>
                        <a:rPr lang="fr-FR" sz="900">
                          <a:effectLst/>
                        </a:rPr>
                        <a:t>à</a:t>
                      </a:r>
                      <a:r>
                        <a:rPr lang="fr-FR" sz="900" spc="-15">
                          <a:effectLst/>
                        </a:rPr>
                        <a:t> </a:t>
                      </a:r>
                      <a:r>
                        <a:rPr lang="fr-FR" sz="900" spc="-10">
                          <a:effectLst/>
                        </a:rPr>
                        <a:t>nouveau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250" marR="83185" algn="r">
                        <a:lnSpc>
                          <a:spcPts val="103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spc="-10">
                          <a:effectLst/>
                        </a:rPr>
                        <a:t>[[PA_report]]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62558737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marL="93345" marR="85090">
                        <a:lnSpc>
                          <a:spcPts val="103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>
                          <a:effectLst/>
                        </a:rPr>
                        <a:t>-</a:t>
                      </a:r>
                      <a:r>
                        <a:rPr lang="fr-FR" sz="900" spc="-15">
                          <a:effectLst/>
                        </a:rPr>
                        <a:t> </a:t>
                      </a:r>
                      <a:r>
                        <a:rPr lang="fr-FR" sz="900" spc="-10">
                          <a:effectLst/>
                        </a:rPr>
                        <a:t>[[PA_affectation]]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250" marR="83185" algn="r">
                        <a:lnSpc>
                          <a:spcPts val="1030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900" spc="-10" dirty="0">
                          <a:effectLst/>
                        </a:rPr>
                        <a:t>[[</a:t>
                      </a:r>
                      <a:r>
                        <a:rPr lang="fr-FR" sz="900" spc="-10" dirty="0" err="1">
                          <a:effectLst/>
                        </a:rPr>
                        <a:t>PA_affect</a:t>
                      </a:r>
                      <a:r>
                        <a:rPr lang="fr-FR" sz="900" spc="-10" dirty="0">
                          <a:effectLst/>
                        </a:rPr>
                        <a:t>]]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15458361"/>
                  </a:ext>
                </a:extLst>
              </a:tr>
            </a:tbl>
          </a:graphicData>
        </a:graphic>
      </p:graphicFrame>
      <p:sp>
        <p:nvSpPr>
          <p:cNvPr id="10" name="Text 0">
            <a:extLst>
              <a:ext uri="{FF2B5EF4-FFF2-40B4-BE49-F238E27FC236}">
                <a16:creationId xmlns:a16="http://schemas.microsoft.com/office/drawing/2014/main" id="{05CC975D-8E72-E57B-4CDD-B0B2DCB76A3C}"/>
              </a:ext>
            </a:extLst>
          </p:cNvPr>
          <p:cNvSpPr/>
          <p:nvPr/>
        </p:nvSpPr>
        <p:spPr>
          <a:xfrm>
            <a:off x="661492" y="604800"/>
            <a:ext cx="9727108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fr-FR" sz="3250" b="1" noProof="0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Projet d’affectation du résultat et Autofinancement</a:t>
            </a:r>
          </a:p>
        </p:txBody>
      </p:sp>
    </p:spTree>
    <p:extLst>
      <p:ext uri="{BB962C8B-B14F-4D97-AF65-F5344CB8AC3E}">
        <p14:creationId xmlns:p14="http://schemas.microsoft.com/office/powerpoint/2010/main" val="1499083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548879"/>
            <a:ext cx="3966667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25"/>
              </a:lnSpc>
            </a:pPr>
            <a:r>
              <a:rPr lang="en-US" sz="2917" b="1" dirty="0" err="1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Trésorerie</a:t>
            </a:r>
            <a:endParaRPr lang="en-US" sz="2917" dirty="0"/>
          </a:p>
        </p:txBody>
      </p:sp>
      <p:pic>
        <p:nvPicPr>
          <p:cNvPr id="62" name="Graphique 61" descr="Bulle de discussion avec un remplissage uni">
            <a:extLst>
              <a:ext uri="{FF2B5EF4-FFF2-40B4-BE49-F238E27FC236}">
                <a16:creationId xmlns:a16="http://schemas.microsoft.com/office/drawing/2014/main" id="{A6258230-3B0A-95EF-FBF2-16AB44FC3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79660" y="441127"/>
            <a:ext cx="914400" cy="914400"/>
          </a:xfrm>
          <a:prstGeom prst="rect">
            <a:avLst/>
          </a:prstGeom>
        </p:spPr>
      </p:pic>
      <p:sp>
        <p:nvSpPr>
          <p:cNvPr id="63" name="T_Commentaire" hidden="1">
            <a:extLst>
              <a:ext uri="{FF2B5EF4-FFF2-40B4-BE49-F238E27FC236}">
                <a16:creationId xmlns:a16="http://schemas.microsoft.com/office/drawing/2014/main" id="{D4578BDE-4ECF-EC83-508D-F0F630D70358}"/>
              </a:ext>
            </a:extLst>
          </p:cNvPr>
          <p:cNvSpPr/>
          <p:nvPr/>
        </p:nvSpPr>
        <p:spPr>
          <a:xfrm>
            <a:off x="1170334" y="2154040"/>
            <a:ext cx="9851330" cy="25538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fr-FR" sz="1400" dirty="0"/>
              <a:t>L’exercice révèle une structure d’endettement marquée par une concentration d’emprunts contractés entre fin 2021 et fin 2024, avec des montants initiaux variant de 9 660 € à 55 000 €, reflétant des besoins de financement récurrents et probablement liés à des investissements matériels ou opérationnels. On observe que les deux premiers emprunts, souscrits simultanément en décembre 2021, arrivent à échéance en novembre 2026, tandis que les suivants s’échelonnent jusqu’en 2029, ce qui étale la charge de remboursement sur une période prolongée et limite les pressions financières à court terme. Les capitaux restants dus s’élèvent encore à des niveaux significatifs, notamment pour les emprunts les plus récents (comme celui de 46 531 € contracté en mai 2024), indiquant que la majorité des remboursements reste à effectuer dans les années à venir. Cette situation souligne l’importance d’une gestion rigoureuse des flux de trésorerie pour honorer ces engagements sans compromettre la stabilité financière de l’entreprise.</a:t>
            </a:r>
          </a:p>
          <a:p>
            <a:pPr algn="ctr"/>
            <a:endParaRPr lang="fr-FR" dirty="0"/>
          </a:p>
        </p:txBody>
      </p:sp>
      <p:graphicFrame>
        <p:nvGraphicFramePr>
          <p:cNvPr id="138" name="Tableau_ChargesExternes">
            <a:extLst>
              <a:ext uri="{FF2B5EF4-FFF2-40B4-BE49-F238E27FC236}">
                <a16:creationId xmlns:a16="http://schemas.microsoft.com/office/drawing/2014/main" id="{C9A04819-EAD1-3189-0AB3-98E56C67A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088284"/>
              </p:ext>
            </p:extLst>
          </p:nvPr>
        </p:nvGraphicFramePr>
        <p:xfrm>
          <a:off x="661490" y="1318023"/>
          <a:ext cx="10869020" cy="4924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804">
                  <a:extLst>
                    <a:ext uri="{9D8B030D-6E8A-4147-A177-3AD203B41FA5}">
                      <a16:colId xmlns:a16="http://schemas.microsoft.com/office/drawing/2014/main" val="4033353214"/>
                    </a:ext>
                  </a:extLst>
                </a:gridCol>
                <a:gridCol w="2173804">
                  <a:extLst>
                    <a:ext uri="{9D8B030D-6E8A-4147-A177-3AD203B41FA5}">
                      <a16:colId xmlns:a16="http://schemas.microsoft.com/office/drawing/2014/main" val="1025254575"/>
                    </a:ext>
                  </a:extLst>
                </a:gridCol>
                <a:gridCol w="2173804">
                  <a:extLst>
                    <a:ext uri="{9D8B030D-6E8A-4147-A177-3AD203B41FA5}">
                      <a16:colId xmlns:a16="http://schemas.microsoft.com/office/drawing/2014/main" val="3082834031"/>
                    </a:ext>
                  </a:extLst>
                </a:gridCol>
                <a:gridCol w="2173804">
                  <a:extLst>
                    <a:ext uri="{9D8B030D-6E8A-4147-A177-3AD203B41FA5}">
                      <a16:colId xmlns:a16="http://schemas.microsoft.com/office/drawing/2014/main" val="2670717278"/>
                    </a:ext>
                  </a:extLst>
                </a:gridCol>
                <a:gridCol w="2173804">
                  <a:extLst>
                    <a:ext uri="{9D8B030D-6E8A-4147-A177-3AD203B41FA5}">
                      <a16:colId xmlns:a16="http://schemas.microsoft.com/office/drawing/2014/main" val="1058135327"/>
                    </a:ext>
                  </a:extLst>
                </a:gridCol>
              </a:tblGrid>
              <a:tr h="447688">
                <a:tc>
                  <a:txBody>
                    <a:bodyPr/>
                    <a:lstStyle/>
                    <a:p>
                      <a:pPr algn="ctr"/>
                      <a:r>
                        <a:rPr lang="fr-FR" sz="1800" b="1" noProof="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Libellé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noProof="0" dirty="0">
                          <a:solidFill>
                            <a:schemeClr val="bg1"/>
                          </a:solidFill>
                        </a:rPr>
                        <a:t>Date de début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noProof="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Date de fin</a:t>
                      </a:r>
                      <a:endParaRPr lang="fr-FR" sz="1800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noProof="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Montant initiale</a:t>
                      </a:r>
                      <a:endParaRPr lang="fr-FR" sz="1800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noProof="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Restant dû</a:t>
                      </a:r>
                      <a:endParaRPr lang="fr-FR" sz="1800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430093"/>
                  </a:ext>
                </a:extLst>
              </a:tr>
              <a:tr h="373028">
                <a:tc>
                  <a:txBody>
                    <a:bodyPr/>
                    <a:lstStyle/>
                    <a:p>
                      <a:pPr marL="89535">
                        <a:lnSpc>
                          <a:spcPts val="118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292" kern="1200" dirty="0">
                          <a:solidFill>
                            <a:srgbClr val="4741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Emprunt cm 55 000 €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104140" algn="r">
                        <a:lnSpc>
                          <a:spcPts val="118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292" kern="1200" dirty="0">
                          <a:solidFill>
                            <a:srgbClr val="4741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15/12/21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065" marR="118110" algn="r">
                        <a:lnSpc>
                          <a:spcPts val="118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292" kern="1200" dirty="0">
                          <a:solidFill>
                            <a:srgbClr val="4741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15/11/26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4610" marR="131445" algn="r">
                        <a:lnSpc>
                          <a:spcPts val="118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292" kern="1200" dirty="0">
                          <a:solidFill>
                            <a:srgbClr val="4741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55000.00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1275" marR="55245" algn="r">
                        <a:lnSpc>
                          <a:spcPts val="1185"/>
                        </a:lnSpc>
                        <a:spcBef>
                          <a:spcPts val="295"/>
                        </a:spcBef>
                        <a:buNone/>
                      </a:pPr>
                      <a:r>
                        <a:rPr lang="fr-FR" sz="1292" kern="1200" dirty="0">
                          <a:solidFill>
                            <a:srgbClr val="4741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15779.18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595979"/>
                  </a:ext>
                </a:extLst>
              </a:tr>
              <a:tr h="373028"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098313"/>
                  </a:ext>
                </a:extLst>
              </a:tr>
              <a:tr h="373028"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439056"/>
                  </a:ext>
                </a:extLst>
              </a:tr>
              <a:tr h="373028"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005163"/>
                  </a:ext>
                </a:extLst>
              </a:tr>
              <a:tr h="373028"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370393"/>
                  </a:ext>
                </a:extLst>
              </a:tr>
              <a:tr h="373028"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870821"/>
                  </a:ext>
                </a:extLst>
              </a:tr>
              <a:tr h="373028"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118265"/>
                  </a:ext>
                </a:extLst>
              </a:tr>
              <a:tr h="373028"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968795"/>
                  </a:ext>
                </a:extLst>
              </a:tr>
              <a:tr h="373028"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845099"/>
                  </a:ext>
                </a:extLst>
              </a:tr>
              <a:tr h="373028"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8162499"/>
                  </a:ext>
                </a:extLst>
              </a:tr>
              <a:tr h="373028"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2706893"/>
                  </a:ext>
                </a:extLst>
              </a:tr>
              <a:tr h="373028"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92" kern="1200" dirty="0">
                        <a:solidFill>
                          <a:srgbClr val="47413C"/>
                        </a:solidFill>
                        <a:latin typeface="Open Sans" pitchFamily="34" charset="0"/>
                        <a:ea typeface="Open Sans" pitchFamily="34" charset="-122"/>
                        <a:cs typeface="Open Sans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34732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7B753D4-5BCD-AA42-ED37-438C17594EF4}"/>
              </a:ext>
            </a:extLst>
          </p:cNvPr>
          <p:cNvSpPr/>
          <p:nvPr/>
        </p:nvSpPr>
        <p:spPr>
          <a:xfrm>
            <a:off x="661492" y="548879"/>
            <a:ext cx="3966667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25"/>
              </a:lnSpc>
            </a:pPr>
            <a:r>
              <a:rPr lang="en-US" sz="2917" b="1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Faits </a:t>
            </a:r>
            <a:r>
              <a:rPr lang="en-US" sz="2917" b="1" dirty="0" err="1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marquants</a:t>
            </a:r>
            <a:endParaRPr lang="en-US" sz="2917" dirty="0"/>
          </a:p>
        </p:txBody>
      </p:sp>
      <p:sp>
        <p:nvSpPr>
          <p:cNvPr id="6" name="FM_commentaire">
            <a:extLst>
              <a:ext uri="{FF2B5EF4-FFF2-40B4-BE49-F238E27FC236}">
                <a16:creationId xmlns:a16="http://schemas.microsoft.com/office/drawing/2014/main" id="{AEEC8E40-BB70-458F-8BD0-BBBE55829ECE}"/>
              </a:ext>
            </a:extLst>
          </p:cNvPr>
          <p:cNvSpPr/>
          <p:nvPr/>
        </p:nvSpPr>
        <p:spPr>
          <a:xfrm>
            <a:off x="6096000" y="1351835"/>
            <a:ext cx="5638800" cy="4154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fr-FR" sz="1400" dirty="0"/>
              <a:t>L’analyse des investissements de l’exercice révèle une politique d’acquisition ciblée, avec un montant total d’immobilisations entrées s’élevant à 3 829,53 EUR, principalement concentré sur des dépôts de garantie et un équipement informatique. Le poste le plus significatif concerne les cautionnements versés (1 740,00 EUR pour un dépôt lié à *Man </a:t>
            </a:r>
            <a:r>
              <a:rPr lang="fr-FR" sz="1400" dirty="0" err="1"/>
              <a:t>Rental</a:t>
            </a:r>
            <a:r>
              <a:rPr lang="fr-FR" sz="1400" dirty="0"/>
              <a:t>*), suivi de cinq dépôts de garantie auprès d’*</a:t>
            </a:r>
            <a:r>
              <a:rPr lang="fr-FR" sz="1400" dirty="0" err="1"/>
              <a:t>Andco</a:t>
            </a:r>
            <a:r>
              <a:rPr lang="fr-FR" sz="1400" dirty="0"/>
              <a:t>* (1 472,42 EUR), ce qui suggère une diversification des engagements locatifs ou contractuels. L’acquisition d’un *iPhone 13 Pro* (617,11 EUR) reflète un investissement modéré en matériel informatique, probablement destiné à soutenir l’activité opérationnelle. En revanche, les sorties d’immobilisations, bien que non quantifiées dans leur total, montrent une réduction notable du parc de véhicules (*</a:t>
            </a:r>
            <a:r>
              <a:rPr lang="fr-FR" sz="1400" dirty="0" err="1"/>
              <a:t>Crafter</a:t>
            </a:r>
            <a:r>
              <a:rPr lang="fr-FR" sz="1400" dirty="0"/>
              <a:t>*), avec six unités cédées pour 1 760,28 EUR, ainsi que la clôture de quatre dépôts de garantie *</a:t>
            </a:r>
            <a:r>
              <a:rPr lang="fr-FR" sz="1400" dirty="0" err="1"/>
              <a:t>Andco</a:t>
            </a:r>
            <a:r>
              <a:rPr lang="fr-FR" sz="1400" dirty="0"/>
              <a:t> Media* (765,00 EUR), indiquant une rationalisation des actifs ou une adaptation des besoins logistiques.</a:t>
            </a:r>
          </a:p>
        </p:txBody>
      </p:sp>
    </p:spTree>
    <p:extLst>
      <p:ext uri="{BB962C8B-B14F-4D97-AF65-F5344CB8AC3E}">
        <p14:creationId xmlns:p14="http://schemas.microsoft.com/office/powerpoint/2010/main" val="1815774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EF4B4A5-53F7-5245-DFA4-14720D783082}"/>
              </a:ext>
            </a:extLst>
          </p:cNvPr>
          <p:cNvSpPr/>
          <p:nvPr/>
        </p:nvSpPr>
        <p:spPr>
          <a:xfrm>
            <a:off x="661492" y="548879"/>
            <a:ext cx="3966667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25"/>
              </a:lnSpc>
            </a:pPr>
            <a:r>
              <a:rPr lang="en-US" sz="2917" b="1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Points </a:t>
            </a:r>
            <a:r>
              <a:rPr lang="en-US" sz="2917" b="1" dirty="0" err="1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importants</a:t>
            </a:r>
            <a:endParaRPr lang="en-US" sz="2917" dirty="0"/>
          </a:p>
        </p:txBody>
      </p:sp>
      <p:sp>
        <p:nvSpPr>
          <p:cNvPr id="5" name="PI_commentaire">
            <a:extLst>
              <a:ext uri="{FF2B5EF4-FFF2-40B4-BE49-F238E27FC236}">
                <a16:creationId xmlns:a16="http://schemas.microsoft.com/office/drawing/2014/main" id="{B6744FDB-97EB-7340-C6A3-8D6C5261E753}"/>
              </a:ext>
            </a:extLst>
          </p:cNvPr>
          <p:cNvSpPr/>
          <p:nvPr/>
        </p:nvSpPr>
        <p:spPr>
          <a:xfrm>
            <a:off x="6096000" y="1351835"/>
            <a:ext cx="5638800" cy="4154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fr-FR" sz="1400" dirty="0"/>
              <a:t>L’analyse des investissements de l’exercice révèle une politique d’acquisition ciblée, avec un montant total d’immobilisations entrées s’élevant à 3 829,53 EUR, principalement concentré sur des dépôts de garantie et un équipement informatique. Le poste le plus significatif concerne les cautionnements versés (1 740,00 EUR pour un dépôt lié à *Man </a:t>
            </a:r>
            <a:r>
              <a:rPr lang="fr-FR" sz="1400" dirty="0" err="1"/>
              <a:t>Rental</a:t>
            </a:r>
            <a:r>
              <a:rPr lang="fr-FR" sz="1400" dirty="0"/>
              <a:t>*), suivi de cinq dépôts de garantie auprès d’*</a:t>
            </a:r>
            <a:r>
              <a:rPr lang="fr-FR" sz="1400" dirty="0" err="1"/>
              <a:t>Andco</a:t>
            </a:r>
            <a:r>
              <a:rPr lang="fr-FR" sz="1400" dirty="0"/>
              <a:t>* (1 472,42 EUR), ce qui suggère une diversification des engagements locatifs ou contractuels. L’acquisition d’un *iPhone 13 Pro* (617,11 EUR) reflète un investissement modéré en matériel informatique, probablement destiné à soutenir l’activité opérationnelle. En revanche, les sorties d’immobilisations, bien que non quantifiées dans leur total, montrent une réduction notable du parc de véhicules (*</a:t>
            </a:r>
            <a:r>
              <a:rPr lang="fr-FR" sz="1400" dirty="0" err="1"/>
              <a:t>Crafter</a:t>
            </a:r>
            <a:r>
              <a:rPr lang="fr-FR" sz="1400" dirty="0"/>
              <a:t>*), avec six unités cédées pour 1 760,28 EUR, ainsi que la clôture de quatre dépôts de garantie *</a:t>
            </a:r>
            <a:r>
              <a:rPr lang="fr-FR" sz="1400" dirty="0" err="1"/>
              <a:t>Andco</a:t>
            </a:r>
            <a:r>
              <a:rPr lang="fr-FR" sz="1400" dirty="0"/>
              <a:t> Media* (765,00 EUR), indiquant une rationalisation des actifs ou une adaptation des besoins logistiques.</a:t>
            </a:r>
          </a:p>
        </p:txBody>
      </p:sp>
    </p:spTree>
    <p:extLst>
      <p:ext uri="{BB962C8B-B14F-4D97-AF65-F5344CB8AC3E}">
        <p14:creationId xmlns:p14="http://schemas.microsoft.com/office/powerpoint/2010/main" val="1596819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17A04FB-CA4C-1FB4-3052-0601A2B6CF16}"/>
              </a:ext>
            </a:extLst>
          </p:cNvPr>
          <p:cNvSpPr/>
          <p:nvPr/>
        </p:nvSpPr>
        <p:spPr>
          <a:xfrm>
            <a:off x="661492" y="548879"/>
            <a:ext cx="3966667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25"/>
              </a:lnSpc>
            </a:pPr>
            <a:r>
              <a:rPr lang="en-US" sz="2917" b="1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Perspectives</a:t>
            </a:r>
            <a:endParaRPr lang="en-US" sz="2917" dirty="0"/>
          </a:p>
        </p:txBody>
      </p:sp>
      <p:sp>
        <p:nvSpPr>
          <p:cNvPr id="5" name="P_commentaire">
            <a:extLst>
              <a:ext uri="{FF2B5EF4-FFF2-40B4-BE49-F238E27FC236}">
                <a16:creationId xmlns:a16="http://schemas.microsoft.com/office/drawing/2014/main" id="{156B143D-0261-7616-B66E-6CB0B14D3133}"/>
              </a:ext>
            </a:extLst>
          </p:cNvPr>
          <p:cNvSpPr/>
          <p:nvPr/>
        </p:nvSpPr>
        <p:spPr>
          <a:xfrm>
            <a:off x="6096000" y="1351835"/>
            <a:ext cx="5638800" cy="4154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fr-FR" sz="1400" dirty="0"/>
              <a:t>L’analyse des investissements de l’exercice révèle une politique d’acquisition ciblée, avec un montant total d’immobilisations entrées s’élevant à 3 829,53 EUR, principalement concentré sur des dépôts de garantie et un équipement informatique. Le poste le plus significatif concerne les cautionnements versés (1 740,00 EUR pour un dépôt lié à *Man </a:t>
            </a:r>
            <a:r>
              <a:rPr lang="fr-FR" sz="1400" dirty="0" err="1"/>
              <a:t>Rental</a:t>
            </a:r>
            <a:r>
              <a:rPr lang="fr-FR" sz="1400" dirty="0"/>
              <a:t>*), suivi de cinq dépôts de garantie auprès d’*</a:t>
            </a:r>
            <a:r>
              <a:rPr lang="fr-FR" sz="1400" dirty="0" err="1"/>
              <a:t>Andco</a:t>
            </a:r>
            <a:r>
              <a:rPr lang="fr-FR" sz="1400" dirty="0"/>
              <a:t>* (1 472,42 EUR), ce qui suggère une diversification des engagements locatifs ou contractuels. L’acquisition d’un *iPhone 13 Pro* (617,11 EUR) reflète un investissement modéré en matériel informatique, probablement destiné à soutenir l’activité opérationnelle. En revanche, les sorties d’immobilisations, bien que non quantifiées dans leur total, montrent une réduction notable du parc de véhicules (*</a:t>
            </a:r>
            <a:r>
              <a:rPr lang="fr-FR" sz="1400" dirty="0" err="1"/>
              <a:t>Crafter</a:t>
            </a:r>
            <a:r>
              <a:rPr lang="fr-FR" sz="1400" dirty="0"/>
              <a:t>*), avec six unités cédées pour 1 760,28 EUR, ainsi que la clôture de quatre dépôts de garantie *</a:t>
            </a:r>
            <a:r>
              <a:rPr lang="fr-FR" sz="1400" dirty="0" err="1"/>
              <a:t>Andco</a:t>
            </a:r>
            <a:r>
              <a:rPr lang="fr-FR" sz="1400" dirty="0"/>
              <a:t> Media* (765,00 EUR), indiquant une rationalisation des actifs ou une adaptation des besoins logistiques.</a:t>
            </a:r>
          </a:p>
        </p:txBody>
      </p:sp>
    </p:spTree>
    <p:extLst>
      <p:ext uri="{BB962C8B-B14F-4D97-AF65-F5344CB8AC3E}">
        <p14:creationId xmlns:p14="http://schemas.microsoft.com/office/powerpoint/2010/main" val="3994927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604800"/>
            <a:ext cx="718879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33"/>
              </a:lnSpc>
            </a:pPr>
            <a:r>
              <a:rPr lang="fr-FR" sz="3083" b="1" noProof="0" dirty="0">
                <a:solidFill>
                  <a:srgbClr val="000000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Recommandations et Cybersécurité</a:t>
            </a:r>
            <a:endParaRPr lang="fr-FR" sz="3083" noProof="0" dirty="0"/>
          </a:p>
        </p:txBody>
      </p:sp>
      <p:sp>
        <p:nvSpPr>
          <p:cNvPr id="3" name="Shape 1"/>
          <p:cNvSpPr/>
          <p:nvPr/>
        </p:nvSpPr>
        <p:spPr>
          <a:xfrm>
            <a:off x="661492" y="1495227"/>
            <a:ext cx="353517" cy="353517"/>
          </a:xfrm>
          <a:prstGeom prst="roundRect">
            <a:avLst>
              <a:gd name="adj" fmla="val 18668"/>
            </a:avLst>
          </a:prstGeom>
          <a:solidFill>
            <a:srgbClr val="DDEBEE"/>
          </a:solidFill>
          <a:ln w="7620">
            <a:solidFill>
              <a:srgbClr val="C3D1D4"/>
            </a:solidFill>
            <a:prstDash val="solid"/>
          </a:ln>
        </p:spPr>
        <p:txBody>
          <a:bodyPr/>
          <a:lstStyle/>
          <a:p>
            <a:endParaRPr lang="fr-FR" sz="1500" noProof="0" dirty="0"/>
          </a:p>
        </p:txBody>
      </p:sp>
      <p:sp>
        <p:nvSpPr>
          <p:cNvPr id="4" name="Text 2"/>
          <p:cNvSpPr/>
          <p:nvPr/>
        </p:nvSpPr>
        <p:spPr>
          <a:xfrm>
            <a:off x="1172071" y="1549202"/>
            <a:ext cx="2643188" cy="245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fr-FR" sz="1542" b="1" noProof="0" dirty="0">
                <a:solidFill>
                  <a:srgbClr val="4741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Gestion des Mots de Passe</a:t>
            </a:r>
            <a:endParaRPr lang="fr-FR" sz="1542" noProof="0" dirty="0"/>
          </a:p>
        </p:txBody>
      </p:sp>
      <p:sp>
        <p:nvSpPr>
          <p:cNvPr id="5" name="Text 3"/>
          <p:cNvSpPr/>
          <p:nvPr/>
        </p:nvSpPr>
        <p:spPr>
          <a:xfrm>
            <a:off x="1172071" y="1889026"/>
            <a:ext cx="4825703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fr-FR" sz="1208" noProof="0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Utilisez des mots de passe complexes (majuscules, minuscules, chiffres, caractères spéciaux) et différents pour chaque site.</a:t>
            </a:r>
            <a:endParaRPr lang="fr-FR" sz="1208" noProof="0" dirty="0"/>
          </a:p>
        </p:txBody>
      </p:sp>
      <p:sp>
        <p:nvSpPr>
          <p:cNvPr id="6" name="Shape 4"/>
          <p:cNvSpPr/>
          <p:nvPr/>
        </p:nvSpPr>
        <p:spPr>
          <a:xfrm>
            <a:off x="6194127" y="1495227"/>
            <a:ext cx="353517" cy="353517"/>
          </a:xfrm>
          <a:prstGeom prst="roundRect">
            <a:avLst>
              <a:gd name="adj" fmla="val 18668"/>
            </a:avLst>
          </a:prstGeom>
          <a:solidFill>
            <a:srgbClr val="DDEBEE"/>
          </a:solidFill>
          <a:ln w="7620">
            <a:solidFill>
              <a:srgbClr val="C3D1D4"/>
            </a:solidFill>
            <a:prstDash val="solid"/>
          </a:ln>
        </p:spPr>
        <p:txBody>
          <a:bodyPr/>
          <a:lstStyle/>
          <a:p>
            <a:endParaRPr lang="fr-FR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6704707" y="1549202"/>
            <a:ext cx="2897683" cy="245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fr-FR" sz="1542" b="1" noProof="0" dirty="0">
                <a:solidFill>
                  <a:srgbClr val="4741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Sauvegardes et Mises à Jour</a:t>
            </a:r>
            <a:endParaRPr lang="fr-FR" sz="1542" noProof="0" dirty="0"/>
          </a:p>
        </p:txBody>
      </p:sp>
      <p:sp>
        <p:nvSpPr>
          <p:cNvPr id="8" name="Text 6"/>
          <p:cNvSpPr/>
          <p:nvPr/>
        </p:nvSpPr>
        <p:spPr>
          <a:xfrm>
            <a:off x="6704707" y="1889026"/>
            <a:ext cx="4825802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fr-FR" sz="1208" noProof="0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Effectuez des sauvegardes régulières, vérifiez-les, et maintenez vos logiciels à jour. Protégez votre matériel contre les virus.</a:t>
            </a:r>
            <a:endParaRPr lang="fr-FR" sz="1208" noProof="0" dirty="0"/>
          </a:p>
        </p:txBody>
      </p:sp>
      <p:sp>
        <p:nvSpPr>
          <p:cNvPr id="9" name="Shape 7"/>
          <p:cNvSpPr/>
          <p:nvPr/>
        </p:nvSpPr>
        <p:spPr>
          <a:xfrm>
            <a:off x="661492" y="2706092"/>
            <a:ext cx="353517" cy="353517"/>
          </a:xfrm>
          <a:prstGeom prst="roundRect">
            <a:avLst>
              <a:gd name="adj" fmla="val 18668"/>
            </a:avLst>
          </a:prstGeom>
          <a:solidFill>
            <a:srgbClr val="DDEBEE"/>
          </a:solidFill>
          <a:ln w="7620">
            <a:solidFill>
              <a:srgbClr val="C3D1D4"/>
            </a:solidFill>
            <a:prstDash val="solid"/>
          </a:ln>
        </p:spPr>
        <p:txBody>
          <a:bodyPr/>
          <a:lstStyle/>
          <a:p>
            <a:endParaRPr lang="fr-FR" sz="1500" noProof="0" dirty="0"/>
          </a:p>
        </p:txBody>
      </p:sp>
      <p:sp>
        <p:nvSpPr>
          <p:cNvPr id="10" name="Text 8"/>
          <p:cNvSpPr/>
          <p:nvPr/>
        </p:nvSpPr>
        <p:spPr>
          <a:xfrm>
            <a:off x="1172071" y="2760067"/>
            <a:ext cx="2138164" cy="245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fr-FR" sz="1542" b="1" noProof="0" dirty="0">
                <a:solidFill>
                  <a:srgbClr val="4741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Vigilance Numérique</a:t>
            </a:r>
            <a:endParaRPr lang="fr-FR" sz="1542" noProof="0" dirty="0"/>
          </a:p>
        </p:txBody>
      </p:sp>
      <p:sp>
        <p:nvSpPr>
          <p:cNvPr id="11" name="Text 9"/>
          <p:cNvSpPr/>
          <p:nvPr/>
        </p:nvSpPr>
        <p:spPr>
          <a:xfrm>
            <a:off x="1172071" y="3099892"/>
            <a:ext cx="4825703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fr-FR" sz="1208" noProof="0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Évitez les réseaux </a:t>
            </a:r>
            <a:r>
              <a:rPr lang="fr-FR" sz="1208" noProof="0" dirty="0" err="1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WiFi</a:t>
            </a:r>
            <a:r>
              <a:rPr lang="fr-FR" sz="1208" noProof="0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publics, séparez usages professionnels et personnels, méfiez-vous des liens suspects et contrôlez les permissions utilisateurs.</a:t>
            </a:r>
            <a:endParaRPr lang="fr-FR" sz="1208" noProof="0" dirty="0"/>
          </a:p>
        </p:txBody>
      </p:sp>
      <p:sp>
        <p:nvSpPr>
          <p:cNvPr id="12" name="Shape 10"/>
          <p:cNvSpPr/>
          <p:nvPr/>
        </p:nvSpPr>
        <p:spPr>
          <a:xfrm>
            <a:off x="6194127" y="2706092"/>
            <a:ext cx="353517" cy="353517"/>
          </a:xfrm>
          <a:prstGeom prst="roundRect">
            <a:avLst>
              <a:gd name="adj" fmla="val 18668"/>
            </a:avLst>
          </a:prstGeom>
          <a:solidFill>
            <a:srgbClr val="DDEBEE"/>
          </a:solidFill>
          <a:ln w="7620">
            <a:solidFill>
              <a:srgbClr val="C3D1D4"/>
            </a:solidFill>
            <a:prstDash val="solid"/>
          </a:ln>
        </p:spPr>
        <p:txBody>
          <a:bodyPr/>
          <a:lstStyle/>
          <a:p>
            <a:endParaRPr lang="fr-FR" sz="1500" noProof="0" dirty="0"/>
          </a:p>
        </p:txBody>
      </p:sp>
      <p:sp>
        <p:nvSpPr>
          <p:cNvPr id="13" name="Text 11"/>
          <p:cNvSpPr/>
          <p:nvPr/>
        </p:nvSpPr>
        <p:spPr>
          <a:xfrm>
            <a:off x="6704707" y="2760069"/>
            <a:ext cx="4752187" cy="245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fr-FR" sz="1540" b="1" noProof="0" dirty="0">
                <a:solidFill>
                  <a:srgbClr val="47413C"/>
                </a:solidFill>
                <a:latin typeface="League Spartan Bold" pitchFamily="34" charset="0"/>
                <a:ea typeface="League Spartan Bold" pitchFamily="34" charset="-122"/>
                <a:cs typeface="League Spartan Bold" pitchFamily="34" charset="-120"/>
              </a:rPr>
              <a:t>Document Unique d’Évaluation des Risques (DUERP)</a:t>
            </a:r>
            <a:endParaRPr lang="fr-FR" sz="1540" noProof="0" dirty="0"/>
          </a:p>
        </p:txBody>
      </p:sp>
      <p:sp>
        <p:nvSpPr>
          <p:cNvPr id="14" name="Text 12"/>
          <p:cNvSpPr/>
          <p:nvPr/>
        </p:nvSpPr>
        <p:spPr>
          <a:xfrm>
            <a:off x="6704707" y="3099892"/>
            <a:ext cx="4825802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fr-FR" sz="1208" noProof="0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Mise à jour obligatoire au moins annuellement. Intégrez les risques liés au COVID-19 et toute modification des conditions de travail.</a:t>
            </a:r>
            <a:endParaRPr lang="fr-FR" sz="1208" noProof="0" dirty="0"/>
          </a:p>
        </p:txBody>
      </p:sp>
      <p:sp>
        <p:nvSpPr>
          <p:cNvPr id="15" name="Text 13"/>
          <p:cNvSpPr/>
          <p:nvPr/>
        </p:nvSpPr>
        <p:spPr>
          <a:xfrm>
            <a:off x="661492" y="4276428"/>
            <a:ext cx="1086901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fr-FR" sz="1208" noProof="0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Pour plus d'informations : </a:t>
            </a:r>
            <a:r>
              <a:rPr lang="fr-FR" sz="1208" u="sng" noProof="0" dirty="0">
                <a:solidFill>
                  <a:srgbClr val="447A8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www.ssi.gouv.fr</a:t>
            </a:r>
            <a:r>
              <a:rPr lang="fr-FR" sz="1208" noProof="0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(ANSSI - Agence nationale de la sécurité des systèmes d'informations)</a:t>
            </a:r>
            <a:endParaRPr lang="fr-FR" sz="1208" noProof="0" dirty="0"/>
          </a:p>
        </p:txBody>
      </p:sp>
      <p:sp>
        <p:nvSpPr>
          <p:cNvPr id="16" name="Shape 14"/>
          <p:cNvSpPr/>
          <p:nvPr/>
        </p:nvSpPr>
        <p:spPr>
          <a:xfrm>
            <a:off x="661492" y="4783030"/>
            <a:ext cx="10869018" cy="25896"/>
          </a:xfrm>
          <a:prstGeom prst="rect">
            <a:avLst/>
          </a:prstGeom>
          <a:solidFill>
            <a:srgbClr val="47413C">
              <a:alpha val="50000"/>
            </a:srgbClr>
          </a:solidFill>
          <a:ln/>
        </p:spPr>
        <p:txBody>
          <a:bodyPr/>
          <a:lstStyle/>
          <a:p>
            <a:endParaRPr lang="fr-FR" sz="1500" noProof="0" dirty="0"/>
          </a:p>
        </p:txBody>
      </p:sp>
      <p:sp>
        <p:nvSpPr>
          <p:cNvPr id="17" name="Text 15"/>
          <p:cNvSpPr/>
          <p:nvPr/>
        </p:nvSpPr>
        <p:spPr>
          <a:xfrm>
            <a:off x="661492" y="4985544"/>
            <a:ext cx="10869018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fr-FR" sz="1208" i="1" noProof="0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Demeurant à votre disposition pour tout complément d'information, nous vous prions d'agréer, Madame, Monsieur, l'expression de nos sentiments dévoués.</a:t>
            </a:r>
            <a:endParaRPr lang="fr-FR" sz="1208" noProof="0" dirty="0"/>
          </a:p>
        </p:txBody>
      </p:sp>
      <p:sp>
        <p:nvSpPr>
          <p:cNvPr id="18" name="Text 16"/>
          <p:cNvSpPr/>
          <p:nvPr/>
        </p:nvSpPr>
        <p:spPr>
          <a:xfrm>
            <a:off x="661492" y="5665094"/>
            <a:ext cx="10869018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r>
              <a:rPr lang="fr-FR" sz="1208" b="1" noProof="0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LIARD Marlène </a:t>
            </a:r>
            <a:r>
              <a:rPr lang="fr-FR" sz="1208" noProof="0" dirty="0">
                <a:solidFill>
                  <a:srgbClr val="4741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Expert-Comptable - Chef de groupe</a:t>
            </a:r>
            <a:endParaRPr lang="fr-FR" sz="1208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1">
      <a:dk1>
        <a:srgbClr val="4C4239"/>
      </a:dk1>
      <a:lt1>
        <a:srgbClr val="FEFFFE"/>
      </a:lt1>
      <a:dk2>
        <a:srgbClr val="36798A"/>
      </a:dk2>
      <a:lt2>
        <a:srgbClr val="EBE3D6"/>
      </a:lt2>
      <a:accent1>
        <a:srgbClr val="36798A"/>
      </a:accent1>
      <a:accent2>
        <a:srgbClr val="77BFCF"/>
      </a:accent2>
      <a:accent3>
        <a:srgbClr val="4C4239"/>
      </a:accent3>
      <a:accent4>
        <a:srgbClr val="81744E"/>
      </a:accent4>
      <a:accent5>
        <a:srgbClr val="EBE3D6"/>
      </a:accent5>
      <a:accent6>
        <a:srgbClr val="77BFCF"/>
      </a:accent6>
      <a:hlink>
        <a:srgbClr val="77BFCF"/>
      </a:hlink>
      <a:folHlink>
        <a:srgbClr val="77BFCF"/>
      </a:folHlink>
    </a:clrScheme>
    <a:fontScheme name="Personnalisé 1">
      <a:majorFont>
        <a:latin typeface="Plutot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2125</Words>
  <Application>Microsoft Office PowerPoint</Application>
  <PresentationFormat>Grand écran</PresentationFormat>
  <Paragraphs>166</Paragraphs>
  <Slides>15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Aptos</vt:lpstr>
      <vt:lpstr>Arial</vt:lpstr>
      <vt:lpstr>Calibri</vt:lpstr>
      <vt:lpstr>Inter</vt:lpstr>
      <vt:lpstr>League Spartan Bold</vt:lpstr>
      <vt:lpstr>Open Sans</vt:lpstr>
      <vt:lpstr>Plutot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DEBOUCHE Lucas</dc:creator>
  <cp:lastModifiedBy>DEBOUCHE Lucas</cp:lastModifiedBy>
  <cp:revision>61</cp:revision>
  <dcterms:created xsi:type="dcterms:W3CDTF">2025-10-22T11:12:50Z</dcterms:created>
  <dcterms:modified xsi:type="dcterms:W3CDTF">2025-10-24T09:11:33Z</dcterms:modified>
</cp:coreProperties>
</file>