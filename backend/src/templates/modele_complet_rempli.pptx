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0"/>
  </p:notesMasterIdLst>
  <p:sldIdLst>
    <p:sldId id="256" r:id="rId2"/>
    <p:sldId id="276" r:id="rId3"/>
    <p:sldId id="257" r:id="rId4"/>
    <p:sldId id="286" r:id="rId5"/>
    <p:sldId id="280" r:id="rId6"/>
    <p:sldId id="277" r:id="rId7"/>
    <p:sldId id="278" r:id="rId8"/>
    <p:sldId id="279" r:id="rId9"/>
    <p:sldId id="268" r:id="rId10"/>
    <p:sldId id="285" r:id="rId11"/>
    <p:sldId id="281" r:id="rId12"/>
    <p:sldId id="287" r:id="rId13"/>
    <p:sldId id="273" r:id="rId14"/>
    <p:sldId id="282" r:id="rId15"/>
    <p:sldId id="283" r:id="rId16"/>
    <p:sldId id="284" r:id="rId17"/>
    <p:sldId id="275" r:id="rId18"/>
    <p:sldId id="288" r:id="rId1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7A87"/>
    <a:srgbClr val="47413C"/>
    <a:srgbClr val="827161"/>
    <a:srgbClr val="77BFCF"/>
    <a:srgbClr val="EBE3D5"/>
    <a:srgbClr val="72B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0"/>
  </p:normalViewPr>
  <p:slideViewPr>
    <p:cSldViewPr snapToGrid="0">
      <p:cViewPr varScale="1">
        <p:scale>
          <a:sx n="150" d="100"/>
          <a:sy n="150" d="100"/>
        </p:scale>
        <p:origin x="2946"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Feuil1!$B$1</c:f>
              <c:strCache>
                <c:ptCount val="1"/>
                <c:pt idx="0">
                  <c:v>N</c:v>
                </c:pt>
              </c:strCache>
            </c:strRef>
          </c:tx>
          <c:spPr>
            <a:solidFill>
              <a:schemeClr val="accent1"/>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Feuil1!$A$2:$A$6</c:f>
              <c:strCache>
                <c:ptCount val="5"/>
                <c:pt idx="0">
                  <c:v>CA HT</c:v>
                </c:pt>
                <c:pt idx="1">
                  <c:v>Marge brute</c:v>
                </c:pt>
                <c:pt idx="2">
                  <c:v>Excédent brut d'exploitation</c:v>
                </c:pt>
                <c:pt idx="3">
                  <c:v>Résultat courant</c:v>
                </c:pt>
                <c:pt idx="4">
                  <c:v>Résultat net</c:v>
                </c:pt>
              </c:strCache>
            </c:strRef>
          </c:cat>
          <c:val>
            <c:numRef>
              <c:f>Feuil1!$B$2:$B$6</c:f>
              <c:numCache>
                <c:formatCode>General</c:formatCode>
                <c:ptCount val="5"/>
                <c:pt idx="0">
                  <c:v>2587796</c:v>
                </c:pt>
                <c:pt idx="1">
                  <c:v>2218693</c:v>
                </c:pt>
                <c:pt idx="2">
                  <c:v>-42791</c:v>
                </c:pt>
                <c:pt idx="3">
                  <c:v>-41610</c:v>
                </c:pt>
                <c:pt idx="4">
                  <c:v>-33307</c:v>
                </c:pt>
              </c:numCache>
            </c:numRef>
          </c:val>
          <c:extLst>
            <c:ext xmlns:c16="http://schemas.microsoft.com/office/drawing/2014/chart" uri="{C3380CC4-5D6E-409C-BE32-E72D297353CC}">
              <c16:uniqueId val="{00000000-E5B4-462D-AA32-D350A5274AB4}"/>
            </c:ext>
          </c:extLst>
        </c:ser>
        <c:ser>
          <c:idx val="1"/>
          <c:order val="1"/>
          <c:tx>
            <c:strRef>
              <c:f>Feuil1!$C$1</c:f>
              <c:strCache>
                <c:ptCount val="1"/>
                <c:pt idx="0">
                  <c:v>N-1</c:v>
                </c:pt>
              </c:strCache>
            </c:strRef>
          </c:tx>
          <c:spPr>
            <a:solidFill>
              <a:schemeClr val="accent2"/>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Feuil1!$A$2:$A$6</c:f>
              <c:strCache>
                <c:ptCount val="5"/>
                <c:pt idx="0">
                  <c:v>CA HT</c:v>
                </c:pt>
                <c:pt idx="1">
                  <c:v>Marge brute</c:v>
                </c:pt>
                <c:pt idx="2">
                  <c:v>Excédent brut d'exploitation</c:v>
                </c:pt>
                <c:pt idx="3">
                  <c:v>Résultat courant</c:v>
                </c:pt>
                <c:pt idx="4">
                  <c:v>Résultat net</c:v>
                </c:pt>
              </c:strCache>
            </c:strRef>
          </c:cat>
          <c:val>
            <c:numRef>
              <c:f>Feuil1!$C$2:$C$6</c:f>
              <c:numCache>
                <c:formatCode>General</c:formatCode>
                <c:ptCount val="5"/>
                <c:pt idx="0">
                  <c:v>2264626</c:v>
                </c:pt>
                <c:pt idx="1">
                  <c:v>1931961</c:v>
                </c:pt>
                <c:pt idx="2">
                  <c:v>192454</c:v>
                </c:pt>
                <c:pt idx="3">
                  <c:v>115417</c:v>
                </c:pt>
                <c:pt idx="4">
                  <c:v>109914</c:v>
                </c:pt>
              </c:numCache>
            </c:numRef>
          </c:val>
          <c:extLst>
            <c:ext xmlns:c16="http://schemas.microsoft.com/office/drawing/2014/chart" uri="{C3380CC4-5D6E-409C-BE32-E72D297353CC}">
              <c16:uniqueId val="{00000001-E5B4-462D-AA32-D350A5274AB4}"/>
            </c:ext>
          </c:extLst>
        </c:ser>
        <c:dLbls>
          <c:dLblPos val="outEnd"/>
          <c:showLegendKey val="0"/>
          <c:showVal val="1"/>
          <c:showCatName val="0"/>
          <c:showSerName val="0"/>
          <c:showPercent val="0"/>
          <c:showBubbleSize val="0"/>
        </c:dLbls>
        <c:gapWidth val="219"/>
        <c:overlap val="-27"/>
        <c:axId val="666381615"/>
        <c:axId val="666382575"/>
      </c:barChart>
      <c:catAx>
        <c:axId val="666381615"/>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crossAx val="666382575"/>
        <c:crosses val="autoZero"/>
        <c:auto val="1"/>
        <c:lblAlgn val="ctr"/>
        <c:lblOffset val="100"/>
        <c:noMultiLvlLbl val="0"/>
      </c:catAx>
      <c:valAx>
        <c:axId val="66638257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crossAx val="66638161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tx>
            <c:strRef>
              <c:f>Feuil1!$B$1</c:f>
              <c:strCache>
                <c:ptCount val="1"/>
                <c:pt idx="0">
                  <c:v>N</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invertIfNegative val="0"/>
          <c:dLbls>
            <c:dLbl>
              <c:idx val="0"/>
              <c:numFmt formatCode="#,##0" sourceLinked="0"/>
              <c:spPr>
                <a:noFill/>
                <a:ln>
                  <a:noFill/>
                </a:ln>
                <a:effectLst/>
              </c:spPr>
              <c:txPr>
                <a:bodyPr rot="0" spcFirstLastPara="1" vertOverflow="overflow" horzOverflow="overflow" vert="horz" wrap="square" lIns="38100" tIns="19050" rIns="38100" bIns="19050" anchor="ctr" anchorCtr="1">
                  <a:noAutofit/>
                </a:bodyPr>
                <a:lstStyle/>
                <a:p>
                  <a:pPr>
                    <a:defRPr sz="1197"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eparator>, </c:separator>
              <c:extLst>
                <c:ext xmlns:c15="http://schemas.microsoft.com/office/drawing/2012/chart" uri="{CE6537A1-D6FC-4f65-9D91-7224C49458BB}">
                  <c15:layout>
                    <c:manualLayout>
                      <c:w val="0.21569811320754717"/>
                      <c:h val="4.2933677781383357E-2"/>
                    </c:manualLayout>
                  </c15:layout>
                </c:ext>
                <c:ext xmlns:c16="http://schemas.microsoft.com/office/drawing/2014/chart" uri="{C3380CC4-5D6E-409C-BE32-E72D297353CC}">
                  <c16:uniqueId val="{00000009-4061-4ECA-8A7D-2892A072AD90}"/>
                </c:ext>
              </c:extLst>
            </c:dLbl>
            <c:numFmt formatCode="#,##0" sourceLinked="0"/>
            <c:spPr>
              <a:noFill/>
              <a:ln>
                <a:noFill/>
              </a:ln>
              <a:effectLst/>
            </c:spPr>
            <c:txPr>
              <a:bodyPr rot="0" spcFirstLastPara="1" vertOverflow="overflow" horzOverflow="overflow"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Feuil1!$A$2</c:f>
              <c:numCache>
                <c:formatCode>General</c:formatCode>
                <c:ptCount val="1"/>
              </c:numCache>
            </c:numRef>
          </c:cat>
          <c:val>
            <c:numRef>
              <c:f>Feuil1!$B$2</c:f>
              <c:numCache>
                <c:formatCode>General</c:formatCode>
                <c:ptCount val="1"/>
                <c:pt idx="0">
                  <c:v>1459729</c:v>
                </c:pt>
              </c:numCache>
            </c:numRef>
          </c:val>
          <c:extLst>
            <c:ext xmlns:c16="http://schemas.microsoft.com/office/drawing/2014/chart" uri="{C3380CC4-5D6E-409C-BE32-E72D297353CC}">
              <c16:uniqueId val="{00000000-4061-4ECA-8A7D-2892A072AD90}"/>
            </c:ext>
          </c:extLst>
        </c:ser>
        <c:ser>
          <c:idx val="1"/>
          <c:order val="1"/>
          <c:tx>
            <c:strRef>
              <c:f>Feuil1!$C$1</c:f>
              <c:strCache>
                <c:ptCount val="1"/>
                <c:pt idx="0">
                  <c:v>N-1</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invertIfNegative val="0"/>
          <c:dLbls>
            <c:dLbl>
              <c:idx val="0"/>
              <c:numFmt formatCode="#,##0" sourceLinked="0"/>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eparator> </c:separator>
              <c:extLst>
                <c:ext xmlns:c15="http://schemas.microsoft.com/office/drawing/2012/chart" uri="{CE6537A1-D6FC-4f65-9D91-7224C49458BB}">
                  <c15:layout>
                    <c:manualLayout>
                      <c:w val="0.24588679245283016"/>
                      <c:h val="3.9107146784825117E-2"/>
                    </c:manualLayout>
                  </c15:layout>
                </c:ext>
                <c:ext xmlns:c16="http://schemas.microsoft.com/office/drawing/2014/chart" uri="{C3380CC4-5D6E-409C-BE32-E72D297353CC}">
                  <c16:uniqueId val="{0000000A-4061-4ECA-8A7D-2892A072AD90}"/>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Feuil1!$A$2</c:f>
              <c:numCache>
                <c:formatCode>General</c:formatCode>
                <c:ptCount val="1"/>
              </c:numCache>
            </c:numRef>
          </c:cat>
          <c:val>
            <c:numRef>
              <c:f>Feuil1!$C$2</c:f>
              <c:numCache>
                <c:formatCode>General</c:formatCode>
                <c:ptCount val="1"/>
                <c:pt idx="0">
                  <c:v>1155224</c:v>
                </c:pt>
              </c:numCache>
            </c:numRef>
          </c:val>
          <c:extLst>
            <c:ext xmlns:c16="http://schemas.microsoft.com/office/drawing/2014/chart" uri="{C3380CC4-5D6E-409C-BE32-E72D297353CC}">
              <c16:uniqueId val="{00000006-4061-4ECA-8A7D-2892A072AD90}"/>
            </c:ext>
          </c:extLst>
        </c:ser>
        <c:dLbls>
          <c:showLegendKey val="0"/>
          <c:showVal val="0"/>
          <c:showCatName val="0"/>
          <c:showSerName val="0"/>
          <c:showPercent val="0"/>
          <c:showBubbleSize val="0"/>
        </c:dLbls>
        <c:gapWidth val="170"/>
        <c:overlap val="-24"/>
        <c:axId val="2080974911"/>
        <c:axId val="2080973951"/>
      </c:barChart>
      <c:catAx>
        <c:axId val="2080974911"/>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crossAx val="2080973951"/>
        <c:crosses val="autoZero"/>
        <c:auto val="1"/>
        <c:lblAlgn val="ctr"/>
        <c:lblOffset val="100"/>
        <c:noMultiLvlLbl val="0"/>
      </c:catAx>
      <c:valAx>
        <c:axId val="208097395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crossAx val="208097491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bar"/>
        <c:grouping val="clustered"/>
        <c:varyColors val="0"/>
        <c:ser>
          <c:idx val="0"/>
          <c:order val="0"/>
          <c:tx>
            <c:strRef>
              <c:f>Feuil1!$B$1</c:f>
              <c:strCache>
                <c:ptCount val="1"/>
                <c:pt idx="0">
                  <c:v>N-1</c:v>
                </c:pt>
              </c:strCache>
            </c:strRef>
          </c:tx>
          <c:spPr>
            <a:solidFill>
              <a:schemeClr val="accent2"/>
            </a:solidFill>
            <a:ln>
              <a:noFill/>
            </a:ln>
            <a:effectLst/>
          </c:spPr>
          <c:invertIfNegative val="0"/>
          <c:dLbls>
            <c:dLbl>
              <c:idx val="0"/>
              <c:numFmt formatCode="#,##0" sourceLinked="0"/>
              <c:spPr>
                <a:noFill/>
                <a:ln>
                  <a:noFill/>
                </a:ln>
                <a:effectLst/>
              </c:spPr>
              <c:txPr>
                <a:bodyPr rot="0" spcFirstLastPara="1" vertOverflow="overflow" horzOverflow="overflow" vert="horz" wrap="square" lIns="38100" tIns="19050" rIns="38100" bIns="19050" anchor="ctr" anchorCtr="1">
                  <a:noAutofit/>
                </a:bodyPr>
                <a:lstStyle/>
                <a:p>
                  <a:pPr>
                    <a:defRPr sz="1197"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eparator>, </c:separator>
              <c:extLst>
                <c:ext xmlns:c15="http://schemas.microsoft.com/office/drawing/2012/chart" uri="{CE6537A1-D6FC-4f65-9D91-7224C49458BB}">
                  <c15:layout>
                    <c:manualLayout>
                      <c:w val="0.21569811320754717"/>
                      <c:h val="4.2933677781383357E-2"/>
                    </c:manualLayout>
                  </c15:layout>
                </c:ext>
                <c:ext xmlns:c16="http://schemas.microsoft.com/office/drawing/2014/chart" uri="{C3380CC4-5D6E-409C-BE32-E72D297353CC}">
                  <c16:uniqueId val="{00000000-2306-4A19-8F15-240C691A69C5}"/>
                </c:ext>
              </c:extLst>
            </c:dLbl>
            <c:numFmt formatCode="#,##0" sourceLinked="0"/>
            <c:spPr>
              <a:noFill/>
              <a:ln>
                <a:noFill/>
              </a:ln>
              <a:effectLst/>
            </c:spPr>
            <c:txPr>
              <a:bodyPr rot="0" spcFirstLastPara="1" vertOverflow="overflow" horzOverflow="overflow"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Feuil1!$A$2:$A$3</c:f>
              <c:strCache>
                <c:ptCount val="2"/>
                <c:pt idx="0">
                  <c:v>% du chiffre d'affaires</c:v>
                </c:pt>
                <c:pt idx="1">
                  <c:v>% de la marge brute</c:v>
                </c:pt>
              </c:strCache>
            </c:strRef>
          </c:cat>
          <c:val>
            <c:numRef>
              <c:f>Feuil1!$B$2:$B$3</c:f>
              <c:numCache>
                <c:formatCode>General</c:formatCode>
                <c:ptCount val="2"/>
                <c:pt idx="0">
                  <c:v>51</c:v>
                </c:pt>
                <c:pt idx="1">
                  <c:v>66</c:v>
                </c:pt>
              </c:numCache>
            </c:numRef>
          </c:val>
          <c:extLst>
            <c:ext xmlns:c16="http://schemas.microsoft.com/office/drawing/2014/chart" uri="{C3380CC4-5D6E-409C-BE32-E72D297353CC}">
              <c16:uniqueId val="{00000001-2306-4A19-8F15-240C691A69C5}"/>
            </c:ext>
          </c:extLst>
        </c:ser>
        <c:ser>
          <c:idx val="1"/>
          <c:order val="1"/>
          <c:tx>
            <c:strRef>
              <c:f>Feuil1!$C$1</c:f>
              <c:strCache>
                <c:ptCount val="1"/>
                <c:pt idx="0">
                  <c:v>N</c:v>
                </c:pt>
              </c:strCache>
            </c:strRef>
          </c:tx>
          <c:spPr>
            <a:solidFill>
              <a:srgbClr val="447A87"/>
            </a:solidFill>
            <a:ln>
              <a:noFill/>
            </a:ln>
            <a:effectLst/>
          </c:spPr>
          <c:invertIfNegative val="0"/>
          <c:dLbls>
            <c:dLbl>
              <c:idx val="0"/>
              <c:numFmt formatCode="#,##0" sourceLinked="0"/>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eparator> </c:separator>
              <c:extLst>
                <c:ext xmlns:c15="http://schemas.microsoft.com/office/drawing/2012/chart" uri="{CE6537A1-D6FC-4f65-9D91-7224C49458BB}">
                  <c15:layout>
                    <c:manualLayout>
                      <c:w val="0.24588679245283016"/>
                      <c:h val="3.9107146784825117E-2"/>
                    </c:manualLayout>
                  </c15:layout>
                </c:ext>
                <c:ext xmlns:c16="http://schemas.microsoft.com/office/drawing/2014/chart" uri="{C3380CC4-5D6E-409C-BE32-E72D297353CC}">
                  <c16:uniqueId val="{00000002-2306-4A19-8F15-240C691A69C5}"/>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Feuil1!$A$2:$A$3</c:f>
              <c:strCache>
                <c:ptCount val="2"/>
                <c:pt idx="0">
                  <c:v>% du chiffre d'affaires</c:v>
                </c:pt>
                <c:pt idx="1">
                  <c:v>% de la marge brute</c:v>
                </c:pt>
              </c:strCache>
            </c:strRef>
          </c:cat>
          <c:val>
            <c:numRef>
              <c:f>Feuil1!$C$2:$C$3</c:f>
              <c:numCache>
                <c:formatCode>General</c:formatCode>
                <c:ptCount val="2"/>
                <c:pt idx="0">
                  <c:v>56</c:v>
                </c:pt>
                <c:pt idx="1">
                  <c:v>60</c:v>
                </c:pt>
              </c:numCache>
            </c:numRef>
          </c:val>
          <c:extLst>
            <c:ext xmlns:c16="http://schemas.microsoft.com/office/drawing/2014/chart" uri="{C3380CC4-5D6E-409C-BE32-E72D297353CC}">
              <c16:uniqueId val="{00000003-2306-4A19-8F15-240C691A69C5}"/>
            </c:ext>
          </c:extLst>
        </c:ser>
        <c:dLbls>
          <c:showLegendKey val="0"/>
          <c:showVal val="0"/>
          <c:showCatName val="0"/>
          <c:showSerName val="0"/>
          <c:showPercent val="0"/>
          <c:showBubbleSize val="0"/>
        </c:dLbls>
        <c:gapWidth val="170"/>
        <c:axId val="2080974911"/>
        <c:axId val="2080973951"/>
      </c:barChart>
      <c:catAx>
        <c:axId val="2080974911"/>
        <c:scaling>
          <c:orientation val="minMax"/>
        </c:scaling>
        <c:delete val="0"/>
        <c:axPos val="l"/>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crossAx val="2080973951"/>
        <c:crosses val="autoZero"/>
        <c:auto val="1"/>
        <c:lblAlgn val="ctr"/>
        <c:lblOffset val="100"/>
        <c:noMultiLvlLbl val="0"/>
      </c:catAx>
      <c:valAx>
        <c:axId val="2080973951"/>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crossAx val="208097491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pieChart>
        <c:varyColors val="1"/>
        <c:ser>
          <c:idx val="0"/>
          <c:order val="0"/>
          <c:tx>
            <c:strRef>
              <c:f>Feuil1!$B$1</c:f>
              <c:strCache>
                <c:ptCount val="1"/>
                <c:pt idx="0">
                  <c:v>Affectation</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413B-40E1-B0E4-08E452B766D1}"/>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413B-40E1-B0E4-08E452B766D1}"/>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413B-40E1-B0E4-08E452B766D1}"/>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413B-40E1-B0E4-08E452B766D1}"/>
              </c:ext>
            </c:extLst>
          </c:dPt>
          <c:dLbls>
            <c:numFmt formatCode="General"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fr-FR"/>
              </a:p>
            </c:txPr>
            <c:dLblPos val="out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Feuil1!$A$2:$A$5</c:f>
              <c:strCache>
                <c:ptCount val="4"/>
                <c:pt idx="0">
                  <c:v>Réserve légale</c:v>
                </c:pt>
                <c:pt idx="1">
                  <c:v>Réserve ordinaire</c:v>
                </c:pt>
                <c:pt idx="2">
                  <c:v>Report à nouveau</c:v>
                </c:pt>
                <c:pt idx="3">
                  <c:v>[[PA_affectation]]</c:v>
                </c:pt>
              </c:strCache>
            </c:strRef>
          </c:cat>
          <c:val>
            <c:numRef>
              <c:f>Feuil1!$B$2:$B$5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1C2C-4D24-AE8D-B3DD41116887}"/>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5E46E8-D735-4CE2-917E-F7377184E44E}" type="datetimeFigureOut">
              <a:rPr lang="fr-FR" smtClean="0"/>
              <a:t>27/10/2025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384FDB-75A9-4247-A774-52F97C0DBECE}" type="slidenum">
              <a:rPr lang="fr-FR" smtClean="0"/>
              <a:t>‹N°›</a:t>
            </a:fld>
            <a:endParaRPr lang="fr-FR"/>
          </a:p>
        </p:txBody>
      </p:sp>
    </p:spTree>
    <p:extLst>
      <p:ext uri="{BB962C8B-B14F-4D97-AF65-F5344CB8AC3E}">
        <p14:creationId xmlns:p14="http://schemas.microsoft.com/office/powerpoint/2010/main" val="1239746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46384FDB-75A9-4247-A774-52F97C0DBECE}" type="slidenum">
              <a:rPr lang="fr-FR" smtClean="0"/>
              <a:t>1</a:t>
            </a:fld>
            <a:endParaRPr lang="fr-FR"/>
          </a:p>
        </p:txBody>
      </p:sp>
    </p:spTree>
    <p:extLst>
      <p:ext uri="{BB962C8B-B14F-4D97-AF65-F5344CB8AC3E}">
        <p14:creationId xmlns:p14="http://schemas.microsoft.com/office/powerpoint/2010/main" val="20694206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a:t>Le chiffre d’affaires de votre entreprise affiche une progression notable entre 2023 et 2024, passant de 2 264 626 EUR à 2 587 796 EUR, soit une hausse de 14,27 %. Cette croissance, bien que modérée, témoigne d’une dynamique commerciale positive dans un contexte où la moyenne sectorielle globale (81 923 EUR en 2023) reste très inférieure à vos performances. Votre positionnement dans la tranche 5 du secteur, avec un chiffre d’affaires largement supérieur aux autres tranches, confirme votre statut d’acteur majeur sur votre marché.</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a:t>La marge brute suit une tendance similaire à celle du chiffre d’affaires, avec une augmentation de 14,84 %, passant de 1 931 961 EUR à 2 218 693 EUR entre 2023 et 2024. Le taux de marge se maintient à un niveau très élevé, autour de 85 %, légèrement au-dessus de la moyenne sectorielle globale (90,2 % en apparence, mais les tranches indiquent des valeurs plus basses pour les acteurs de taille comparable). Votre performance dans la tranche 5, où la marge moyenne est de 89,4 %, souligne une efficacité opérationnelle remarquable, malgré une légère baisse relative par rapport aux tranches inférieures.</a:t>
            </a:r>
            <a:endParaRPr lang="fr-FR" sz="1200" dirty="0"/>
          </a:p>
        </p:txBody>
      </p:sp>
      <p:sp>
        <p:nvSpPr>
          <p:cNvPr id="4" name="Espace réservé du numéro de diapositive 3"/>
          <p:cNvSpPr>
            <a:spLocks noGrp="1"/>
          </p:cNvSpPr>
          <p:nvPr>
            <p:ph type="sldNum" sz="quarter" idx="5"/>
          </p:nvPr>
        </p:nvSpPr>
        <p:spPr/>
        <p:txBody>
          <a:bodyPr/>
          <a:lstStyle/>
          <a:p>
            <a:fld id="{46384FDB-75A9-4247-A774-52F97C0DBECE}" type="slidenum">
              <a:rPr lang="fr-FR" smtClean="0"/>
              <a:t>3</a:t>
            </a:fld>
            <a:endParaRPr lang="fr-FR"/>
          </a:p>
        </p:txBody>
      </p:sp>
    </p:spTree>
    <p:extLst>
      <p:ext uri="{BB962C8B-B14F-4D97-AF65-F5344CB8AC3E}">
        <p14:creationId xmlns:p14="http://schemas.microsoft.com/office/powerpoint/2010/main" val="31916500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46384FDB-75A9-4247-A774-52F97C0DBECE}" type="slidenum">
              <a:rPr lang="fr-FR" smtClean="0"/>
              <a:t>4</a:t>
            </a:fld>
            <a:endParaRPr lang="fr-FR"/>
          </a:p>
        </p:txBody>
      </p:sp>
    </p:spTree>
    <p:extLst>
      <p:ext uri="{BB962C8B-B14F-4D97-AF65-F5344CB8AC3E}">
        <p14:creationId xmlns:p14="http://schemas.microsoft.com/office/powerpoint/2010/main" val="41107799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E47B1-6094-35A2-F05B-4249CE5FAA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AE5781-FD9D-FE50-DCA5-74ABE41AE4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E77B44-65A7-A8B1-7E5F-EDCEEA85B3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998AA4-5E67-1842-99C1-FF90FC64AC02}"/>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2997945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46384FDB-75A9-4247-A774-52F97C0DBECE}" type="slidenum">
              <a:rPr lang="fr-FR" smtClean="0"/>
              <a:t>6</a:t>
            </a:fld>
            <a:endParaRPr lang="fr-FR"/>
          </a:p>
        </p:txBody>
      </p:sp>
    </p:spTree>
    <p:extLst>
      <p:ext uri="{BB962C8B-B14F-4D97-AF65-F5344CB8AC3E}">
        <p14:creationId xmlns:p14="http://schemas.microsoft.com/office/powerpoint/2010/main" val="7014743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46384FDB-75A9-4247-A774-52F97C0DBECE}" type="slidenum">
              <a:rPr lang="fr-FR" smtClean="0"/>
              <a:t>7</a:t>
            </a:fld>
            <a:endParaRPr lang="fr-FR"/>
          </a:p>
        </p:txBody>
      </p:sp>
    </p:spTree>
    <p:extLst>
      <p:ext uri="{BB962C8B-B14F-4D97-AF65-F5344CB8AC3E}">
        <p14:creationId xmlns:p14="http://schemas.microsoft.com/office/powerpoint/2010/main" val="31819807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a:t>L’analyse des investissements de l’exercice révèle une répartition contrastée entre les immobilisations entrées et sorties, marquée par une prédominance des dépôts de garantie dans les deux flux. Les entrées, d’un montant total de 3 829,53 EUR, se concentrent principalement sur des cautions locatives (3 212,42 EUR au total), dont cinq versements répétés pour un même prestataire (Andco), suggérant une diversification ou un renouvellement des engagements contractuels, tandis que l’acquisition d’un équipement informatique (iPhone 13 Pro pour 617,11 EUR) reste marginale en volume. À l’inverse, les sorties, bien que non quantifiées globalement, mettent en lumière une cession significative de véhicules utilitaires (1 760,28 EUR pour six VW Crafter), qui pourrait indiquer un renouvellement partiel du parc ou une optimisation des actifs, complétée par la restitution de dépôts de garantie antérieurs (765,00 EUR liés à Andco Media), reflétant possiblement la clôture de contrats ou des ajustements opérationnels. Cette dynamique souligne une gestion active des immobilisations, avec une attention particulière portée sur les engagements locatifs et les actifs mobiliers, dont les motifs (renouvellement, résiliation ou optimisation) mériteraient d’être précisés pour affiner l’analyse stratégique.</a:t>
            </a:r>
            <a:endParaRPr lang="fr-FR" sz="1200" dirty="0"/>
          </a:p>
        </p:txBody>
      </p:sp>
      <p:sp>
        <p:nvSpPr>
          <p:cNvPr id="4" name="Espace réservé du numéro de diapositive 3"/>
          <p:cNvSpPr>
            <a:spLocks noGrp="1"/>
          </p:cNvSpPr>
          <p:nvPr>
            <p:ph type="sldNum" sz="quarter" idx="5"/>
          </p:nvPr>
        </p:nvSpPr>
        <p:spPr/>
        <p:txBody>
          <a:bodyPr/>
          <a:lstStyle/>
          <a:p>
            <a:fld id="{46384FDB-75A9-4247-A774-52F97C0DBECE}" type="slidenum">
              <a:rPr lang="fr-FR" smtClean="0"/>
              <a:t>8</a:t>
            </a:fld>
            <a:endParaRPr lang="fr-FR"/>
          </a:p>
        </p:txBody>
      </p:sp>
    </p:spTree>
    <p:extLst>
      <p:ext uri="{BB962C8B-B14F-4D97-AF65-F5344CB8AC3E}">
        <p14:creationId xmlns:p14="http://schemas.microsoft.com/office/powerpoint/2010/main" val="4615040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46384FDB-75A9-4247-A774-52F97C0DBECE}" type="slidenum">
              <a:rPr lang="fr-FR" smtClean="0"/>
              <a:t>10</a:t>
            </a:fld>
            <a:endParaRPr lang="fr-FR"/>
          </a:p>
        </p:txBody>
      </p:sp>
    </p:spTree>
    <p:extLst>
      <p:ext uri="{BB962C8B-B14F-4D97-AF65-F5344CB8AC3E}">
        <p14:creationId xmlns:p14="http://schemas.microsoft.com/office/powerpoint/2010/main" val="10030758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46384FDB-75A9-4247-A774-52F97C0DBECE}" type="slidenum">
              <a:rPr lang="fr-FR" smtClean="0"/>
              <a:t>11</a:t>
            </a:fld>
            <a:endParaRPr lang="fr-FR"/>
          </a:p>
        </p:txBody>
      </p:sp>
    </p:spTree>
    <p:extLst>
      <p:ext uri="{BB962C8B-B14F-4D97-AF65-F5344CB8AC3E}">
        <p14:creationId xmlns:p14="http://schemas.microsoft.com/office/powerpoint/2010/main" val="15457388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46384FDB-75A9-4247-A774-52F97C0DBECE}" type="slidenum">
              <a:rPr lang="fr-FR" smtClean="0"/>
              <a:t>12</a:t>
            </a:fld>
            <a:endParaRPr lang="fr-FR"/>
          </a:p>
        </p:txBody>
      </p:sp>
    </p:spTree>
    <p:extLst>
      <p:ext uri="{BB962C8B-B14F-4D97-AF65-F5344CB8AC3E}">
        <p14:creationId xmlns:p14="http://schemas.microsoft.com/office/powerpoint/2010/main" val="23929599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46384FDB-75A9-4247-A774-52F97C0DBECE}" type="slidenum">
              <a:rPr lang="fr-FR" smtClean="0"/>
              <a:t>14</a:t>
            </a:fld>
            <a:endParaRPr lang="fr-FR"/>
          </a:p>
        </p:txBody>
      </p:sp>
    </p:spTree>
    <p:extLst>
      <p:ext uri="{BB962C8B-B14F-4D97-AF65-F5344CB8AC3E}">
        <p14:creationId xmlns:p14="http://schemas.microsoft.com/office/powerpoint/2010/main" val="36307640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46384FDB-75A9-4247-A774-52F97C0DBECE}" type="slidenum">
              <a:rPr lang="fr-FR" smtClean="0"/>
              <a:t>15</a:t>
            </a:fld>
            <a:endParaRPr lang="fr-FR"/>
          </a:p>
        </p:txBody>
      </p:sp>
    </p:spTree>
    <p:extLst>
      <p:ext uri="{BB962C8B-B14F-4D97-AF65-F5344CB8AC3E}">
        <p14:creationId xmlns:p14="http://schemas.microsoft.com/office/powerpoint/2010/main" val="11469562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46384FDB-75A9-4247-A774-52F97C0DBECE}" type="slidenum">
              <a:rPr lang="fr-FR" smtClean="0"/>
              <a:t>16</a:t>
            </a:fld>
            <a:endParaRPr lang="fr-FR"/>
          </a:p>
        </p:txBody>
      </p:sp>
    </p:spTree>
    <p:extLst>
      <p:ext uri="{BB962C8B-B14F-4D97-AF65-F5344CB8AC3E}">
        <p14:creationId xmlns:p14="http://schemas.microsoft.com/office/powerpoint/2010/main" val="10139745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46384FDB-75A9-4247-A774-52F97C0DBECE}" type="slidenum">
              <a:rPr lang="fr-FR" smtClean="0"/>
              <a:t>18</a:t>
            </a:fld>
            <a:endParaRPr lang="fr-FR"/>
          </a:p>
        </p:txBody>
      </p:sp>
    </p:spTree>
    <p:extLst>
      <p:ext uri="{BB962C8B-B14F-4D97-AF65-F5344CB8AC3E}">
        <p14:creationId xmlns:p14="http://schemas.microsoft.com/office/powerpoint/2010/main" val="9140816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D4AB1D-2F62-A51F-7999-28F4147C7968}"/>
              </a:ext>
            </a:extLst>
          </p:cNvPr>
          <p:cNvSpPr>
            <a:spLocks noGrp="1"/>
          </p:cNvSpPr>
          <p:nvPr>
            <p:ph type="ctrTitle"/>
          </p:nvPr>
        </p:nvSpPr>
        <p:spPr>
          <a:xfrm>
            <a:off x="1524000" y="1122363"/>
            <a:ext cx="9144000" cy="2387600"/>
          </a:xfrm>
        </p:spPr>
        <p:txBody>
          <a:bodyPr anchor="b"/>
          <a:lstStyle>
            <a:lvl1pPr algn="ctr">
              <a:defRPr sz="6000"/>
            </a:lvl1pPr>
          </a:lstStyle>
          <a:p>
            <a:r>
              <a:rPr lang="fr-FR" dirty="0"/>
              <a:t>Modifiez le style du titre</a:t>
            </a:r>
          </a:p>
        </p:txBody>
      </p:sp>
      <p:sp>
        <p:nvSpPr>
          <p:cNvPr id="3" name="Sous-titre 2">
            <a:extLst>
              <a:ext uri="{FF2B5EF4-FFF2-40B4-BE49-F238E27FC236}">
                <a16:creationId xmlns:a16="http://schemas.microsoft.com/office/drawing/2014/main" id="{78AA4968-7443-C28C-D920-8B1EA4409F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9" name="Espace réservé du numéro de diapositive 5">
            <a:extLst>
              <a:ext uri="{FF2B5EF4-FFF2-40B4-BE49-F238E27FC236}">
                <a16:creationId xmlns:a16="http://schemas.microsoft.com/office/drawing/2014/main" id="{E65B154A-4A12-FDBF-5D8B-9BB8EE98AF6E}"/>
              </a:ext>
            </a:extLst>
          </p:cNvPr>
          <p:cNvSpPr txBox="1">
            <a:spLocks/>
          </p:cNvSpPr>
          <p:nvPr userDrawn="1"/>
        </p:nvSpPr>
        <p:spPr>
          <a:xfrm>
            <a:off x="11760000" y="6371351"/>
            <a:ext cx="432000" cy="432000"/>
          </a:xfrm>
          <a:prstGeom prst="rect">
            <a:avLst/>
          </a:prstGeom>
          <a:solidFill>
            <a:srgbClr val="827161"/>
          </a:solidFill>
        </p:spPr>
        <p:txBody>
          <a:bodyPr vert="horz" lIns="91440" tIns="45720" rIns="91440" bIns="45720" rtlCol="0" anchor="ctr"/>
          <a:lstStyle>
            <a:defPPr>
              <a:defRPr lang="fr-FR"/>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9B51A1E-902D-48AF-9020-955120F399B6}" type="slidenum">
              <a:rPr lang="fr-FR" smtClean="0">
                <a:solidFill>
                  <a:schemeClr val="bg1"/>
                </a:solidFill>
              </a:rPr>
              <a:pPr/>
              <a:t>‹N°›</a:t>
            </a:fld>
            <a:endParaRPr lang="fr-FR" dirty="0">
              <a:solidFill>
                <a:schemeClr val="bg1"/>
              </a:solidFill>
            </a:endParaRPr>
          </a:p>
        </p:txBody>
      </p:sp>
    </p:spTree>
    <p:extLst>
      <p:ext uri="{BB962C8B-B14F-4D97-AF65-F5344CB8AC3E}">
        <p14:creationId xmlns:p14="http://schemas.microsoft.com/office/powerpoint/2010/main" val="40390921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713B98-0EFD-3203-904A-7DA53067646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1AB55FB8-D421-163F-FF86-EE314C6824F1}"/>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u numéro de diapositive 5">
            <a:extLst>
              <a:ext uri="{FF2B5EF4-FFF2-40B4-BE49-F238E27FC236}">
                <a16:creationId xmlns:a16="http://schemas.microsoft.com/office/drawing/2014/main" id="{86AB7BD8-2867-C997-818F-D4CCCAFA268F}"/>
              </a:ext>
            </a:extLst>
          </p:cNvPr>
          <p:cNvSpPr>
            <a:spLocks noGrp="1"/>
          </p:cNvSpPr>
          <p:nvPr>
            <p:ph type="sldNum" sz="quarter" idx="4"/>
          </p:nvPr>
        </p:nvSpPr>
        <p:spPr>
          <a:xfrm>
            <a:off x="11760000" y="6371351"/>
            <a:ext cx="432000" cy="432000"/>
          </a:xfrm>
          <a:prstGeom prst="rect">
            <a:avLst/>
          </a:prstGeom>
          <a:solidFill>
            <a:schemeClr val="tx1">
              <a:lumMod val="75000"/>
              <a:lumOff val="25000"/>
            </a:schemeClr>
          </a:solidFill>
        </p:spPr>
        <p:txBody>
          <a:bodyPr vert="horz" lIns="0" tIns="0" rIns="0" bIns="0" rtlCol="0" anchor="ctr"/>
          <a:lstStyle>
            <a:lvl1pPr algn="ctr">
              <a:defRPr sz="1200">
                <a:solidFill>
                  <a:schemeClr val="bg1"/>
                </a:solidFill>
                <a:latin typeface="+mj-lt"/>
              </a:defRPr>
            </a:lvl1pPr>
          </a:lstStyle>
          <a:p>
            <a:pPr rtl="0"/>
            <a:fld id="{19B51A1E-902D-48AF-9020-955120F399B6}" type="slidenum">
              <a:rPr lang="fr-FR" noProof="0" smtClean="0"/>
              <a:pPr rtl="0"/>
              <a:t>‹N°›</a:t>
            </a:fld>
            <a:endParaRPr lang="fr-FR" noProof="0"/>
          </a:p>
        </p:txBody>
      </p:sp>
    </p:spTree>
    <p:extLst>
      <p:ext uri="{BB962C8B-B14F-4D97-AF65-F5344CB8AC3E}">
        <p14:creationId xmlns:p14="http://schemas.microsoft.com/office/powerpoint/2010/main" val="21477662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B3E534E-44E0-1229-16AD-0F042A39D5AC}"/>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EA26724E-3796-343B-3D45-9D5771F1274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7" name="Espace réservé du numéro de diapositive 5">
            <a:extLst>
              <a:ext uri="{FF2B5EF4-FFF2-40B4-BE49-F238E27FC236}">
                <a16:creationId xmlns:a16="http://schemas.microsoft.com/office/drawing/2014/main" id="{95ADCB7A-CC4C-AEC0-0079-901F132AAD27}"/>
              </a:ext>
            </a:extLst>
          </p:cNvPr>
          <p:cNvSpPr txBox="1">
            <a:spLocks/>
          </p:cNvSpPr>
          <p:nvPr userDrawn="1"/>
        </p:nvSpPr>
        <p:spPr>
          <a:xfrm>
            <a:off x="11760000" y="6371351"/>
            <a:ext cx="432000" cy="432000"/>
          </a:xfrm>
          <a:prstGeom prst="rect">
            <a:avLst/>
          </a:prstGeom>
          <a:solidFill>
            <a:schemeClr val="tx1">
              <a:lumMod val="75000"/>
              <a:lumOff val="25000"/>
            </a:schemeClr>
          </a:solidFill>
        </p:spPr>
        <p:txBody>
          <a:bodyPr vert="horz" lIns="0" tIns="0" rIns="0" bIns="0" rtlCol="0" anchor="ctr"/>
          <a:lstStyle>
            <a:defPPr>
              <a:defRPr lang="fr-FR"/>
            </a:defPPr>
            <a:lvl1pPr marL="0" algn="ctr" defTabSz="914400" rtl="0" eaLnBrk="1" latinLnBrk="0" hangingPunct="1">
              <a:defRPr sz="12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9B51A1E-902D-48AF-9020-955120F399B6}" type="slidenum">
              <a:rPr lang="fr-FR" smtClean="0"/>
              <a:pPr/>
              <a:t>‹N°›</a:t>
            </a:fld>
            <a:endParaRPr lang="fr-FR"/>
          </a:p>
        </p:txBody>
      </p:sp>
    </p:spTree>
    <p:extLst>
      <p:ext uri="{BB962C8B-B14F-4D97-AF65-F5344CB8AC3E}">
        <p14:creationId xmlns:p14="http://schemas.microsoft.com/office/powerpoint/2010/main" val="41267806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E9FE4A4-DDB3-ACD5-284E-E83A3157ED83}"/>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28B8D650-E17E-26D4-AAFF-D24CEA196D12}"/>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B588FE44-16A9-7E56-2699-6731A84A3756}"/>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8" name="Espace réservé du numéro de diapositive 5">
            <a:extLst>
              <a:ext uri="{FF2B5EF4-FFF2-40B4-BE49-F238E27FC236}">
                <a16:creationId xmlns:a16="http://schemas.microsoft.com/office/drawing/2014/main" id="{89C79BE4-AD74-B7A5-4ECD-2035A6500A16}"/>
              </a:ext>
            </a:extLst>
          </p:cNvPr>
          <p:cNvSpPr>
            <a:spLocks noGrp="1"/>
          </p:cNvSpPr>
          <p:nvPr>
            <p:ph type="sldNum" sz="quarter" idx="4"/>
          </p:nvPr>
        </p:nvSpPr>
        <p:spPr>
          <a:xfrm>
            <a:off x="11760000" y="6371351"/>
            <a:ext cx="432000" cy="432000"/>
          </a:xfrm>
          <a:prstGeom prst="rect">
            <a:avLst/>
          </a:prstGeom>
          <a:solidFill>
            <a:schemeClr val="tx1">
              <a:lumMod val="75000"/>
              <a:lumOff val="25000"/>
            </a:schemeClr>
          </a:solidFill>
        </p:spPr>
        <p:txBody>
          <a:bodyPr vert="horz" lIns="0" tIns="0" rIns="0" bIns="0" rtlCol="0" anchor="ctr"/>
          <a:lstStyle>
            <a:lvl1pPr algn="ctr">
              <a:defRPr sz="1200">
                <a:solidFill>
                  <a:schemeClr val="bg1"/>
                </a:solidFill>
                <a:latin typeface="+mj-lt"/>
              </a:defRPr>
            </a:lvl1pPr>
          </a:lstStyle>
          <a:p>
            <a:pPr rtl="0"/>
            <a:fld id="{19B51A1E-902D-48AF-9020-955120F399B6}" type="slidenum">
              <a:rPr lang="fr-FR" noProof="0" smtClean="0"/>
              <a:pPr rtl="0"/>
              <a:t>‹N°›</a:t>
            </a:fld>
            <a:endParaRPr lang="fr-FR" noProof="0"/>
          </a:p>
        </p:txBody>
      </p:sp>
    </p:spTree>
    <p:extLst>
      <p:ext uri="{BB962C8B-B14F-4D97-AF65-F5344CB8AC3E}">
        <p14:creationId xmlns:p14="http://schemas.microsoft.com/office/powerpoint/2010/main" val="3142421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151EA46-EA5A-29C6-7CB3-F49A25455B29}"/>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03860D9C-9696-C4B6-25BB-6FCC1470C3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1DA45F40-A97D-988C-2DCD-4C86008835DF}"/>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0B37C8AD-45A8-FD9A-FC91-10AFCB8BC4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55B2718E-AD62-70E6-A9F7-0E4B929F0BC3}"/>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 name="Espace réservé du numéro de diapositive 5">
            <a:extLst>
              <a:ext uri="{FF2B5EF4-FFF2-40B4-BE49-F238E27FC236}">
                <a16:creationId xmlns:a16="http://schemas.microsoft.com/office/drawing/2014/main" id="{4169CC89-5472-1A59-CEE0-A63C4B89B769}"/>
              </a:ext>
            </a:extLst>
          </p:cNvPr>
          <p:cNvSpPr txBox="1">
            <a:spLocks/>
          </p:cNvSpPr>
          <p:nvPr userDrawn="1"/>
        </p:nvSpPr>
        <p:spPr>
          <a:xfrm>
            <a:off x="11760000" y="6371351"/>
            <a:ext cx="432000" cy="432000"/>
          </a:xfrm>
          <a:prstGeom prst="rect">
            <a:avLst/>
          </a:prstGeom>
          <a:solidFill>
            <a:schemeClr val="tx1">
              <a:lumMod val="75000"/>
              <a:lumOff val="25000"/>
            </a:schemeClr>
          </a:solidFill>
        </p:spPr>
        <p:txBody>
          <a:bodyPr vert="horz" lIns="0" tIns="0" rIns="0" bIns="0" rtlCol="0" anchor="ctr"/>
          <a:lstStyle>
            <a:defPPr>
              <a:defRPr lang="fr-FR"/>
            </a:defPPr>
            <a:lvl1pPr marL="0" algn="ctr" defTabSz="914400" rtl="0" eaLnBrk="1" latinLnBrk="0" hangingPunct="1">
              <a:defRPr sz="12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9B51A1E-902D-48AF-9020-955120F399B6}" type="slidenum">
              <a:rPr lang="fr-FR" smtClean="0"/>
              <a:pPr/>
              <a:t>‹N°›</a:t>
            </a:fld>
            <a:endParaRPr lang="fr-FR"/>
          </a:p>
        </p:txBody>
      </p:sp>
    </p:spTree>
    <p:extLst>
      <p:ext uri="{BB962C8B-B14F-4D97-AF65-F5344CB8AC3E}">
        <p14:creationId xmlns:p14="http://schemas.microsoft.com/office/powerpoint/2010/main" val="222664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8A708C9-6790-9390-932F-BFB3151B8D05}"/>
              </a:ext>
            </a:extLst>
          </p:cNvPr>
          <p:cNvSpPr>
            <a:spLocks noGrp="1"/>
          </p:cNvSpPr>
          <p:nvPr>
            <p:ph type="title"/>
          </p:nvPr>
        </p:nvSpPr>
        <p:spPr/>
        <p:txBody>
          <a:bodyPr/>
          <a:lstStyle/>
          <a:p>
            <a:r>
              <a:rPr lang="fr-FR"/>
              <a:t>Modifiez le style du titre</a:t>
            </a:r>
          </a:p>
        </p:txBody>
      </p:sp>
      <p:sp>
        <p:nvSpPr>
          <p:cNvPr id="6" name="Espace réservé du numéro de diapositive 5">
            <a:extLst>
              <a:ext uri="{FF2B5EF4-FFF2-40B4-BE49-F238E27FC236}">
                <a16:creationId xmlns:a16="http://schemas.microsoft.com/office/drawing/2014/main" id="{469ED877-D1A2-E71D-6A75-2B59F1FE2DD3}"/>
              </a:ext>
            </a:extLst>
          </p:cNvPr>
          <p:cNvSpPr txBox="1">
            <a:spLocks/>
          </p:cNvSpPr>
          <p:nvPr userDrawn="1"/>
        </p:nvSpPr>
        <p:spPr>
          <a:xfrm>
            <a:off x="11760000" y="6371351"/>
            <a:ext cx="432000" cy="432000"/>
          </a:xfrm>
          <a:prstGeom prst="rect">
            <a:avLst/>
          </a:prstGeom>
          <a:solidFill>
            <a:schemeClr val="tx1">
              <a:lumMod val="75000"/>
              <a:lumOff val="25000"/>
            </a:schemeClr>
          </a:solidFill>
        </p:spPr>
        <p:txBody>
          <a:bodyPr vert="horz" lIns="0" tIns="0" rIns="0" bIns="0" rtlCol="0" anchor="ctr"/>
          <a:lstStyle>
            <a:defPPr>
              <a:defRPr lang="fr-FR"/>
            </a:defPPr>
            <a:lvl1pPr marL="0" algn="ctr" defTabSz="914400" rtl="0" eaLnBrk="1" latinLnBrk="0" hangingPunct="1">
              <a:defRPr sz="12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9B51A1E-902D-48AF-9020-955120F399B6}" type="slidenum">
              <a:rPr lang="fr-FR" smtClean="0"/>
              <a:pPr/>
              <a:t>‹N°›</a:t>
            </a:fld>
            <a:endParaRPr lang="fr-FR"/>
          </a:p>
        </p:txBody>
      </p:sp>
    </p:spTree>
    <p:extLst>
      <p:ext uri="{BB962C8B-B14F-4D97-AF65-F5344CB8AC3E}">
        <p14:creationId xmlns:p14="http://schemas.microsoft.com/office/powerpoint/2010/main" val="4283339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Espace réservé du numéro de diapositive 5">
            <a:extLst>
              <a:ext uri="{FF2B5EF4-FFF2-40B4-BE49-F238E27FC236}">
                <a16:creationId xmlns:a16="http://schemas.microsoft.com/office/drawing/2014/main" id="{0CCFA614-6DA7-8331-65B8-631726088B82}"/>
              </a:ext>
            </a:extLst>
          </p:cNvPr>
          <p:cNvSpPr>
            <a:spLocks noGrp="1"/>
          </p:cNvSpPr>
          <p:nvPr>
            <p:ph type="sldNum" sz="quarter" idx="4"/>
          </p:nvPr>
        </p:nvSpPr>
        <p:spPr>
          <a:xfrm>
            <a:off x="11760000" y="6371351"/>
            <a:ext cx="432000" cy="432000"/>
          </a:xfrm>
          <a:prstGeom prst="rect">
            <a:avLst/>
          </a:prstGeom>
          <a:solidFill>
            <a:schemeClr val="tx1">
              <a:lumMod val="75000"/>
              <a:lumOff val="25000"/>
            </a:schemeClr>
          </a:solidFill>
        </p:spPr>
        <p:txBody>
          <a:bodyPr vert="horz" lIns="0" tIns="0" rIns="0" bIns="0" rtlCol="0" anchor="ctr"/>
          <a:lstStyle>
            <a:lvl1pPr algn="ctr">
              <a:defRPr sz="1200">
                <a:solidFill>
                  <a:schemeClr val="bg1"/>
                </a:solidFill>
                <a:latin typeface="+mj-lt"/>
              </a:defRPr>
            </a:lvl1pPr>
          </a:lstStyle>
          <a:p>
            <a:pPr rtl="0"/>
            <a:fld id="{19B51A1E-902D-48AF-9020-955120F399B6}" type="slidenum">
              <a:rPr lang="fr-FR" noProof="0" smtClean="0"/>
              <a:pPr rtl="0"/>
              <a:t>‹N°›</a:t>
            </a:fld>
            <a:endParaRPr lang="fr-FR" noProof="0"/>
          </a:p>
        </p:txBody>
      </p:sp>
    </p:spTree>
    <p:extLst>
      <p:ext uri="{BB962C8B-B14F-4D97-AF65-F5344CB8AC3E}">
        <p14:creationId xmlns:p14="http://schemas.microsoft.com/office/powerpoint/2010/main" val="7086731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F666F9-F569-9A93-51FB-C0FCDED1A41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5DB90362-33D3-B6D3-FD3B-DD902B7D46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EB6C1A72-41F3-4AF6-4C2B-7CFB888C58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Espace réservé du numéro de diapositive 5">
            <a:extLst>
              <a:ext uri="{FF2B5EF4-FFF2-40B4-BE49-F238E27FC236}">
                <a16:creationId xmlns:a16="http://schemas.microsoft.com/office/drawing/2014/main" id="{D086FEF8-23BD-FBC3-9FCD-5E809EC4B95F}"/>
              </a:ext>
            </a:extLst>
          </p:cNvPr>
          <p:cNvSpPr>
            <a:spLocks noGrp="1"/>
          </p:cNvSpPr>
          <p:nvPr>
            <p:ph type="sldNum" sz="quarter" idx="4"/>
          </p:nvPr>
        </p:nvSpPr>
        <p:spPr>
          <a:xfrm>
            <a:off x="11760000" y="6371351"/>
            <a:ext cx="432000" cy="432000"/>
          </a:xfrm>
          <a:prstGeom prst="rect">
            <a:avLst/>
          </a:prstGeom>
          <a:solidFill>
            <a:schemeClr val="tx1">
              <a:lumMod val="75000"/>
              <a:lumOff val="25000"/>
            </a:schemeClr>
          </a:solidFill>
        </p:spPr>
        <p:txBody>
          <a:bodyPr vert="horz" lIns="0" tIns="0" rIns="0" bIns="0" rtlCol="0" anchor="ctr"/>
          <a:lstStyle>
            <a:lvl1pPr algn="ctr">
              <a:defRPr sz="1200">
                <a:solidFill>
                  <a:schemeClr val="bg1"/>
                </a:solidFill>
                <a:latin typeface="+mj-lt"/>
              </a:defRPr>
            </a:lvl1pPr>
          </a:lstStyle>
          <a:p>
            <a:pPr rtl="0"/>
            <a:fld id="{19B51A1E-902D-48AF-9020-955120F399B6}" type="slidenum">
              <a:rPr lang="fr-FR" noProof="0" smtClean="0"/>
              <a:pPr rtl="0"/>
              <a:t>‹N°›</a:t>
            </a:fld>
            <a:endParaRPr lang="fr-FR" noProof="0"/>
          </a:p>
        </p:txBody>
      </p:sp>
    </p:spTree>
    <p:extLst>
      <p:ext uri="{BB962C8B-B14F-4D97-AF65-F5344CB8AC3E}">
        <p14:creationId xmlns:p14="http://schemas.microsoft.com/office/powerpoint/2010/main" val="37730226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AB0327E-626D-3513-DF61-CC313C976AA5}"/>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55CDFFA1-F4E5-C439-C3D7-6C475C17E1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D509610C-93CD-ED05-CD31-4ADC63200A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Espace réservé du numéro de diapositive 5">
            <a:extLst>
              <a:ext uri="{FF2B5EF4-FFF2-40B4-BE49-F238E27FC236}">
                <a16:creationId xmlns:a16="http://schemas.microsoft.com/office/drawing/2014/main" id="{4E1B425A-A7A3-8AAC-35E7-9F879BE39812}"/>
              </a:ext>
            </a:extLst>
          </p:cNvPr>
          <p:cNvSpPr>
            <a:spLocks noGrp="1"/>
          </p:cNvSpPr>
          <p:nvPr>
            <p:ph type="sldNum" sz="quarter" idx="4"/>
          </p:nvPr>
        </p:nvSpPr>
        <p:spPr>
          <a:xfrm>
            <a:off x="11760000" y="6371351"/>
            <a:ext cx="432000" cy="432000"/>
          </a:xfrm>
          <a:prstGeom prst="rect">
            <a:avLst/>
          </a:prstGeom>
          <a:solidFill>
            <a:schemeClr val="tx1">
              <a:lumMod val="75000"/>
              <a:lumOff val="25000"/>
            </a:schemeClr>
          </a:solidFill>
        </p:spPr>
        <p:txBody>
          <a:bodyPr vert="horz" lIns="0" tIns="0" rIns="0" bIns="0" rtlCol="0" anchor="ctr"/>
          <a:lstStyle>
            <a:lvl1pPr algn="ctr">
              <a:defRPr sz="1200">
                <a:solidFill>
                  <a:schemeClr val="bg1"/>
                </a:solidFill>
                <a:latin typeface="+mj-lt"/>
              </a:defRPr>
            </a:lvl1pPr>
          </a:lstStyle>
          <a:p>
            <a:pPr rtl="0"/>
            <a:fld id="{19B51A1E-902D-48AF-9020-955120F399B6}" type="slidenum">
              <a:rPr lang="fr-FR" noProof="0" smtClean="0"/>
              <a:pPr rtl="0"/>
              <a:t>‹N°›</a:t>
            </a:fld>
            <a:endParaRPr lang="fr-FR" noProof="0"/>
          </a:p>
        </p:txBody>
      </p:sp>
    </p:spTree>
    <p:extLst>
      <p:ext uri="{BB962C8B-B14F-4D97-AF65-F5344CB8AC3E}">
        <p14:creationId xmlns:p14="http://schemas.microsoft.com/office/powerpoint/2010/main" val="2921135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9A8948F-CE80-D1A7-5201-7BB1B09FAE2B}"/>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5844FE29-AB10-B70B-5600-651B8FAA45CC}"/>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8" name="Espace réservé du numéro de diapositive 5">
            <a:extLst>
              <a:ext uri="{FF2B5EF4-FFF2-40B4-BE49-F238E27FC236}">
                <a16:creationId xmlns:a16="http://schemas.microsoft.com/office/drawing/2014/main" id="{23891324-62B6-4A7A-65AC-916F066AAF22}"/>
              </a:ext>
            </a:extLst>
          </p:cNvPr>
          <p:cNvSpPr>
            <a:spLocks noGrp="1"/>
          </p:cNvSpPr>
          <p:nvPr>
            <p:ph type="sldNum" sz="quarter" idx="4"/>
          </p:nvPr>
        </p:nvSpPr>
        <p:spPr>
          <a:xfrm>
            <a:off x="11760000" y="6371351"/>
            <a:ext cx="432000" cy="432000"/>
          </a:xfrm>
          <a:prstGeom prst="rect">
            <a:avLst/>
          </a:prstGeom>
          <a:solidFill>
            <a:schemeClr val="tx1">
              <a:lumMod val="75000"/>
              <a:lumOff val="25000"/>
            </a:schemeClr>
          </a:solidFill>
        </p:spPr>
        <p:txBody>
          <a:bodyPr vert="horz" lIns="0" tIns="0" rIns="0" bIns="0" rtlCol="0" anchor="ctr"/>
          <a:lstStyle>
            <a:lvl1pPr algn="ctr">
              <a:defRPr sz="1200">
                <a:solidFill>
                  <a:schemeClr val="bg1"/>
                </a:solidFill>
                <a:latin typeface="+mj-lt"/>
              </a:defRPr>
            </a:lvl1pPr>
          </a:lstStyle>
          <a:p>
            <a:pPr rtl="0"/>
            <a:fld id="{19B51A1E-902D-48AF-9020-955120F399B6}" type="slidenum">
              <a:rPr lang="fr-FR" noProof="0" smtClean="0"/>
              <a:pPr rtl="0"/>
              <a:t>‹N°›</a:t>
            </a:fld>
            <a:endParaRPr lang="fr-FR" noProof="0"/>
          </a:p>
        </p:txBody>
      </p:sp>
    </p:spTree>
    <p:extLst>
      <p:ext uri="{BB962C8B-B14F-4D97-AF65-F5344CB8AC3E}">
        <p14:creationId xmlns:p14="http://schemas.microsoft.com/office/powerpoint/2010/main" val="20887442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F25FF5FF-6303-2576-AF19-3048240EED3E}"/>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3B03142E-C0C3-EE9A-0A2E-6F47A406F64A}"/>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u numéro de diapositive 5">
            <a:extLst>
              <a:ext uri="{FF2B5EF4-FFF2-40B4-BE49-F238E27FC236}">
                <a16:creationId xmlns:a16="http://schemas.microsoft.com/office/drawing/2014/main" id="{78BD7993-F66F-C126-218F-A8165EA03B39}"/>
              </a:ext>
            </a:extLst>
          </p:cNvPr>
          <p:cNvSpPr>
            <a:spLocks noGrp="1"/>
          </p:cNvSpPr>
          <p:nvPr>
            <p:ph type="sldNum" sz="quarter" idx="4"/>
          </p:nvPr>
        </p:nvSpPr>
        <p:spPr>
          <a:xfrm>
            <a:off x="11760000" y="6371351"/>
            <a:ext cx="432000" cy="432000"/>
          </a:xfrm>
          <a:prstGeom prst="rect">
            <a:avLst/>
          </a:prstGeom>
          <a:solidFill>
            <a:schemeClr val="tx1">
              <a:lumMod val="75000"/>
              <a:lumOff val="25000"/>
            </a:schemeClr>
          </a:solidFill>
        </p:spPr>
        <p:txBody>
          <a:bodyPr vert="horz" lIns="0" tIns="0" rIns="0" bIns="0" rtlCol="0" anchor="ctr"/>
          <a:lstStyle>
            <a:lvl1pPr algn="ctr">
              <a:defRPr sz="1200">
                <a:solidFill>
                  <a:schemeClr val="bg1"/>
                </a:solidFill>
                <a:latin typeface="+mj-lt"/>
              </a:defRPr>
            </a:lvl1pPr>
          </a:lstStyle>
          <a:p>
            <a:pPr rtl="0"/>
            <a:fld id="{19B51A1E-902D-48AF-9020-955120F399B6}" type="slidenum">
              <a:rPr lang="fr-FR" noProof="0" smtClean="0"/>
              <a:pPr rtl="0"/>
              <a:t>‹N°›</a:t>
            </a:fld>
            <a:endParaRPr lang="fr-FR" noProof="0"/>
          </a:p>
        </p:txBody>
      </p:sp>
    </p:spTree>
    <p:extLst>
      <p:ext uri="{BB962C8B-B14F-4D97-AF65-F5344CB8AC3E}">
        <p14:creationId xmlns:p14="http://schemas.microsoft.com/office/powerpoint/2010/main" val="40110595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2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txBody>
          <a:bodyPr/>
          <a:lstStyle/>
          <a:p>
            <a:endParaRPr lang="fr-FR"/>
          </a:p>
        </p:txBody>
      </p:sp>
      <p:sp>
        <p:nvSpPr>
          <p:cNvPr id="3" name="Shape 1"/>
          <p:cNvSpPr/>
          <p:nvPr/>
        </p:nvSpPr>
        <p:spPr>
          <a:xfrm>
            <a:off x="0" y="0"/>
            <a:ext cx="12192000" cy="6858000"/>
          </a:xfrm>
          <a:prstGeom prst="rect">
            <a:avLst/>
          </a:prstGeom>
          <a:solidFill>
            <a:srgbClr val="FFFFFF"/>
          </a:solidFill>
          <a:ln/>
        </p:spPr>
        <p:txBody>
          <a:bodyPr/>
          <a:lstStyle/>
          <a:p>
            <a:endParaRPr lang="fr-FR"/>
          </a:p>
        </p:txBody>
      </p:sp>
      <p:sp>
        <p:nvSpPr>
          <p:cNvPr id="4" name="Rectangle 3">
            <a:extLst>
              <a:ext uri="{FF2B5EF4-FFF2-40B4-BE49-F238E27FC236}">
                <a16:creationId xmlns:a16="http://schemas.microsoft.com/office/drawing/2014/main" id="{AE04F8E9-C54D-A0A7-65A7-18470C3BF4A9}"/>
              </a:ext>
            </a:extLst>
          </p:cNvPr>
          <p:cNvSpPr/>
          <p:nvPr userDrawn="1"/>
        </p:nvSpPr>
        <p:spPr>
          <a:xfrm>
            <a:off x="9780101" y="6371351"/>
            <a:ext cx="1979897" cy="4319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5" name="Rectangle 4">
            <a:extLst>
              <a:ext uri="{FF2B5EF4-FFF2-40B4-BE49-F238E27FC236}">
                <a16:creationId xmlns:a16="http://schemas.microsoft.com/office/drawing/2014/main" id="{1ECC6030-3A6E-4C9F-70F1-5EDA972971AF}"/>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6" name="Forme libre : Forme 30">
            <a:extLst>
              <a:ext uri="{FF2B5EF4-FFF2-40B4-BE49-F238E27FC236}">
                <a16:creationId xmlns:a16="http://schemas.microsoft.com/office/drawing/2014/main" id="{8E736545-DBB9-EA34-0B95-CE35DDC0E285}"/>
              </a:ext>
            </a:extLst>
          </p:cNvPr>
          <p:cNvSpPr/>
          <p:nvPr userDrawn="1"/>
        </p:nvSpPr>
        <p:spPr>
          <a:xfrm>
            <a:off x="-4864" y="6371351"/>
            <a:ext cx="9780102" cy="432000"/>
          </a:xfrm>
          <a:custGeom>
            <a:avLst/>
            <a:gdLst>
              <a:gd name="connsiteX0" fmla="*/ 0 w 9780102"/>
              <a:gd name="connsiteY0" fmla="*/ 0 h 432000"/>
              <a:gd name="connsiteX1" fmla="*/ 9780102 w 9780102"/>
              <a:gd name="connsiteY1" fmla="*/ 0 h 432000"/>
              <a:gd name="connsiteX2" fmla="*/ 9780102 w 9780102"/>
              <a:gd name="connsiteY2" fmla="*/ 432000 h 432000"/>
              <a:gd name="connsiteX3" fmla="*/ 0 w 9780102"/>
              <a:gd name="connsiteY3" fmla="*/ 432000 h 432000"/>
            </a:gdLst>
            <a:ahLst/>
            <a:cxnLst>
              <a:cxn ang="0">
                <a:pos x="connsiteX0" y="connsiteY0"/>
              </a:cxn>
              <a:cxn ang="0">
                <a:pos x="connsiteX1" y="connsiteY1"/>
              </a:cxn>
              <a:cxn ang="0">
                <a:pos x="connsiteX2" y="connsiteY2"/>
              </a:cxn>
              <a:cxn ang="0">
                <a:pos x="connsiteX3" y="connsiteY3"/>
              </a:cxn>
            </a:cxnLst>
            <a:rect l="l" t="t" r="r" b="b"/>
            <a:pathLst>
              <a:path w="9780102" h="432000">
                <a:moveTo>
                  <a:pt x="0" y="0"/>
                </a:moveTo>
                <a:lnTo>
                  <a:pt x="9780102" y="0"/>
                </a:lnTo>
                <a:lnTo>
                  <a:pt x="9780102" y="432000"/>
                </a:lnTo>
                <a:lnTo>
                  <a:pt x="0" y="432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7" name="Espace réservé du pied de page 4">
            <a:extLst>
              <a:ext uri="{FF2B5EF4-FFF2-40B4-BE49-F238E27FC236}">
                <a16:creationId xmlns:a16="http://schemas.microsoft.com/office/drawing/2014/main" id="{ADCC8A3C-451C-8184-A686-9CC5E9F958D3}"/>
              </a:ext>
            </a:extLst>
          </p:cNvPr>
          <p:cNvSpPr>
            <a:spLocks noGrp="1"/>
          </p:cNvSpPr>
          <p:nvPr>
            <p:ph type="ftr" sz="quarter" idx="3"/>
          </p:nvPr>
        </p:nvSpPr>
        <p:spPr>
          <a:xfrm>
            <a:off x="432000" y="6439820"/>
            <a:ext cx="5664000" cy="295062"/>
          </a:xfrm>
          <a:prstGeom prst="rect">
            <a:avLst/>
          </a:prstGeom>
          <a:noFill/>
        </p:spPr>
        <p:txBody>
          <a:bodyPr vert="horz" lIns="0" tIns="0" rIns="0" bIns="0" rtlCol="0" anchor="ctr"/>
          <a:lstStyle>
            <a:lvl1pPr algn="l">
              <a:defRPr sz="1200">
                <a:solidFill>
                  <a:schemeClr val="tx1">
                    <a:lumMod val="75000"/>
                    <a:lumOff val="25000"/>
                  </a:schemeClr>
                </a:solidFill>
              </a:defRPr>
            </a:lvl1pPr>
          </a:lstStyle>
          <a:p>
            <a:pPr rtl="0"/>
            <a:r>
              <a:rPr lang="fr-FR" noProof="0"/>
              <a:t>Ajouter un pied de page</a:t>
            </a:r>
          </a:p>
        </p:txBody>
      </p:sp>
      <p:sp>
        <p:nvSpPr>
          <p:cNvPr id="8" name="Espace réservé du numéro de diapositive 5">
            <a:extLst>
              <a:ext uri="{FF2B5EF4-FFF2-40B4-BE49-F238E27FC236}">
                <a16:creationId xmlns:a16="http://schemas.microsoft.com/office/drawing/2014/main" id="{F0C6BDC3-71B4-B5D6-AD9C-97E9173A4A9E}"/>
              </a:ext>
            </a:extLst>
          </p:cNvPr>
          <p:cNvSpPr>
            <a:spLocks noGrp="1"/>
          </p:cNvSpPr>
          <p:nvPr>
            <p:ph type="sldNum" sz="quarter" idx="4"/>
          </p:nvPr>
        </p:nvSpPr>
        <p:spPr>
          <a:xfrm>
            <a:off x="11760000" y="6371351"/>
            <a:ext cx="432000" cy="432000"/>
          </a:xfrm>
          <a:prstGeom prst="rect">
            <a:avLst/>
          </a:prstGeom>
          <a:solidFill>
            <a:schemeClr val="tx1">
              <a:lumMod val="75000"/>
              <a:lumOff val="25000"/>
            </a:schemeClr>
          </a:solidFill>
        </p:spPr>
        <p:txBody>
          <a:bodyPr vert="horz" lIns="0" tIns="0" rIns="0" bIns="0" rtlCol="0" anchor="ctr"/>
          <a:lstStyle>
            <a:lvl1pPr algn="ctr">
              <a:defRPr sz="1200">
                <a:solidFill>
                  <a:schemeClr val="bg1"/>
                </a:solidFill>
                <a:latin typeface="+mj-lt"/>
              </a:defRPr>
            </a:lvl1pPr>
          </a:lstStyle>
          <a:p>
            <a:pPr rtl="0"/>
            <a:fld id="{19B51A1E-902D-48AF-9020-955120F399B6}" type="slidenum">
              <a:rPr lang="fr-FR" noProof="0" smtClean="0"/>
              <a:pPr rtl="0"/>
              <a:t>‹N°›</a:t>
            </a:fld>
            <a:endParaRPr lang="fr-FR" noProof="0"/>
          </a:p>
        </p:txBody>
      </p:sp>
      <p:sp>
        <p:nvSpPr>
          <p:cNvPr id="9" name="Rectangle 8">
            <a:extLst>
              <a:ext uri="{FF2B5EF4-FFF2-40B4-BE49-F238E27FC236}">
                <a16:creationId xmlns:a16="http://schemas.microsoft.com/office/drawing/2014/main" id="{A55BDCB4-5FD2-90D4-B309-131D8762287D}"/>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10" name="Rectangle 28">
            <a:extLst>
              <a:ext uri="{FF2B5EF4-FFF2-40B4-BE49-F238E27FC236}">
                <a16:creationId xmlns:a16="http://schemas.microsoft.com/office/drawing/2014/main" id="{11F50E53-0A79-B26B-F8F9-70E6E8D40598}"/>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cxnSp>
        <p:nvCxnSpPr>
          <p:cNvPr id="11" name="Connecteur droit 10">
            <a:extLst>
              <a:ext uri="{FF2B5EF4-FFF2-40B4-BE49-F238E27FC236}">
                <a16:creationId xmlns:a16="http://schemas.microsoft.com/office/drawing/2014/main" id="{1017D2C0-B4C1-561B-682C-4E13E1B4A761}"/>
              </a:ext>
            </a:extLst>
          </p:cNvPr>
          <p:cNvCxnSpPr>
            <a:cxnSpLocks/>
          </p:cNvCxnSpPr>
          <p:nvPr userDrawn="1"/>
        </p:nvCxnSpPr>
        <p:spPr>
          <a:xfrm flipH="1">
            <a:off x="1" y="6371351"/>
            <a:ext cx="12191999"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pic>
        <p:nvPicPr>
          <p:cNvPr id="12" name="Image 11">
            <a:extLst>
              <a:ext uri="{FF2B5EF4-FFF2-40B4-BE49-F238E27FC236}">
                <a16:creationId xmlns:a16="http://schemas.microsoft.com/office/drawing/2014/main" id="{146A614E-58DC-241B-35D6-8804CE160B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69859" y="6323410"/>
            <a:ext cx="1744997" cy="507266"/>
          </a:xfrm>
          <a:prstGeom prst="rect">
            <a:avLst/>
          </a:prstGeom>
        </p:spPr>
      </p:pic>
    </p:spTree>
    <p:extLst>
      <p:ext uri="{BB962C8B-B14F-4D97-AF65-F5344CB8AC3E}">
        <p14:creationId xmlns:p14="http://schemas.microsoft.com/office/powerpoint/2010/main" val="32342948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34023398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14231149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271944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1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24767273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hyperlink" Target="http://www.lacomptabilite.fr/" TargetMode="Externa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37A04A0E-D8B3-AE63-CA94-BD13D25697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60512AC3-7024-5400-D611-839A64ED42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7" name="Rectangle 16">
            <a:extLst>
              <a:ext uri="{FF2B5EF4-FFF2-40B4-BE49-F238E27FC236}">
                <a16:creationId xmlns:a16="http://schemas.microsoft.com/office/drawing/2014/main" id="{4F9B9BB5-20E4-5C3F-AD7F-02B0BA9B756D}"/>
              </a:ext>
            </a:extLst>
          </p:cNvPr>
          <p:cNvSpPr/>
          <p:nvPr userDrawn="1"/>
        </p:nvSpPr>
        <p:spPr>
          <a:xfrm>
            <a:off x="9780101" y="6371351"/>
            <a:ext cx="1979897" cy="4319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18" name="Rectangle 17">
            <a:extLst>
              <a:ext uri="{FF2B5EF4-FFF2-40B4-BE49-F238E27FC236}">
                <a16:creationId xmlns:a16="http://schemas.microsoft.com/office/drawing/2014/main" id="{80F706F3-251D-D686-A1AF-EEE775298418}"/>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19" name="Forme libre : Forme 30">
            <a:extLst>
              <a:ext uri="{FF2B5EF4-FFF2-40B4-BE49-F238E27FC236}">
                <a16:creationId xmlns:a16="http://schemas.microsoft.com/office/drawing/2014/main" id="{E65E246C-FC7B-BE70-9834-D53F7AE95C07}"/>
              </a:ext>
            </a:extLst>
          </p:cNvPr>
          <p:cNvSpPr/>
          <p:nvPr userDrawn="1"/>
        </p:nvSpPr>
        <p:spPr>
          <a:xfrm>
            <a:off x="-4864" y="6371351"/>
            <a:ext cx="9780102" cy="432000"/>
          </a:xfrm>
          <a:custGeom>
            <a:avLst/>
            <a:gdLst>
              <a:gd name="connsiteX0" fmla="*/ 0 w 9780102"/>
              <a:gd name="connsiteY0" fmla="*/ 0 h 432000"/>
              <a:gd name="connsiteX1" fmla="*/ 9780102 w 9780102"/>
              <a:gd name="connsiteY1" fmla="*/ 0 h 432000"/>
              <a:gd name="connsiteX2" fmla="*/ 9780102 w 9780102"/>
              <a:gd name="connsiteY2" fmla="*/ 432000 h 432000"/>
              <a:gd name="connsiteX3" fmla="*/ 0 w 9780102"/>
              <a:gd name="connsiteY3" fmla="*/ 432000 h 432000"/>
            </a:gdLst>
            <a:ahLst/>
            <a:cxnLst>
              <a:cxn ang="0">
                <a:pos x="connsiteX0" y="connsiteY0"/>
              </a:cxn>
              <a:cxn ang="0">
                <a:pos x="connsiteX1" y="connsiteY1"/>
              </a:cxn>
              <a:cxn ang="0">
                <a:pos x="connsiteX2" y="connsiteY2"/>
              </a:cxn>
              <a:cxn ang="0">
                <a:pos x="connsiteX3" y="connsiteY3"/>
              </a:cxn>
            </a:cxnLst>
            <a:rect l="l" t="t" r="r" b="b"/>
            <a:pathLst>
              <a:path w="9780102" h="432000">
                <a:moveTo>
                  <a:pt x="0" y="0"/>
                </a:moveTo>
                <a:lnTo>
                  <a:pt x="9780102" y="0"/>
                </a:lnTo>
                <a:lnTo>
                  <a:pt x="9780102" y="432000"/>
                </a:lnTo>
                <a:lnTo>
                  <a:pt x="0" y="432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21" name="Espace réservé du numéro de diapositive 5">
            <a:extLst>
              <a:ext uri="{FF2B5EF4-FFF2-40B4-BE49-F238E27FC236}">
                <a16:creationId xmlns:a16="http://schemas.microsoft.com/office/drawing/2014/main" id="{8140ECE7-19DB-6A44-BE72-860703939806}"/>
              </a:ext>
            </a:extLst>
          </p:cNvPr>
          <p:cNvSpPr>
            <a:spLocks noGrp="1"/>
          </p:cNvSpPr>
          <p:nvPr>
            <p:ph type="sldNum" sz="quarter" idx="4"/>
          </p:nvPr>
        </p:nvSpPr>
        <p:spPr>
          <a:xfrm>
            <a:off x="11760000" y="6371351"/>
            <a:ext cx="432000" cy="432000"/>
          </a:xfrm>
          <a:prstGeom prst="rect">
            <a:avLst/>
          </a:prstGeom>
          <a:solidFill>
            <a:schemeClr val="tx1">
              <a:lumMod val="75000"/>
              <a:lumOff val="25000"/>
            </a:schemeClr>
          </a:solidFill>
        </p:spPr>
        <p:txBody>
          <a:bodyPr vert="horz" lIns="0" tIns="0" rIns="0" bIns="0" rtlCol="0" anchor="ctr"/>
          <a:lstStyle>
            <a:lvl1pPr algn="ctr">
              <a:defRPr sz="1200">
                <a:solidFill>
                  <a:schemeClr val="bg1"/>
                </a:solidFill>
                <a:latin typeface="+mj-lt"/>
              </a:defRPr>
            </a:lvl1pPr>
          </a:lstStyle>
          <a:p>
            <a:pPr rtl="0"/>
            <a:fld id="{19B51A1E-902D-48AF-9020-955120F399B6}" type="slidenum">
              <a:rPr lang="fr-FR" noProof="0" smtClean="0"/>
              <a:pPr rtl="0"/>
              <a:t>‹N°›</a:t>
            </a:fld>
            <a:endParaRPr lang="fr-FR" noProof="0"/>
          </a:p>
        </p:txBody>
      </p:sp>
      <p:sp>
        <p:nvSpPr>
          <p:cNvPr id="22" name="Rectangle 21">
            <a:extLst>
              <a:ext uri="{FF2B5EF4-FFF2-40B4-BE49-F238E27FC236}">
                <a16:creationId xmlns:a16="http://schemas.microsoft.com/office/drawing/2014/main" id="{02BB5004-FAB2-1A1B-9845-7CCAE1FE6FDE}"/>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23" name="Rectangle 28">
            <a:extLst>
              <a:ext uri="{FF2B5EF4-FFF2-40B4-BE49-F238E27FC236}">
                <a16:creationId xmlns:a16="http://schemas.microsoft.com/office/drawing/2014/main" id="{2BC85924-6FBA-AE9F-6849-C861B9BCA4C6}"/>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cxnSp>
        <p:nvCxnSpPr>
          <p:cNvPr id="24" name="Connecteur droit 23">
            <a:extLst>
              <a:ext uri="{FF2B5EF4-FFF2-40B4-BE49-F238E27FC236}">
                <a16:creationId xmlns:a16="http://schemas.microsoft.com/office/drawing/2014/main" id="{83C3B8C2-3C26-9FF8-39DB-A390739A6C59}"/>
              </a:ext>
            </a:extLst>
          </p:cNvPr>
          <p:cNvCxnSpPr>
            <a:cxnSpLocks/>
          </p:cNvCxnSpPr>
          <p:nvPr userDrawn="1"/>
        </p:nvCxnSpPr>
        <p:spPr>
          <a:xfrm flipH="1">
            <a:off x="1" y="6371351"/>
            <a:ext cx="12191999"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pic>
        <p:nvPicPr>
          <p:cNvPr id="25" name="Image 24">
            <a:extLst>
              <a:ext uri="{FF2B5EF4-FFF2-40B4-BE49-F238E27FC236}">
                <a16:creationId xmlns:a16="http://schemas.microsoft.com/office/drawing/2014/main" id="{77B6209B-EA55-B200-058C-C661FB835B5E}"/>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9869859" y="6323410"/>
            <a:ext cx="1744997" cy="507266"/>
          </a:xfrm>
          <a:prstGeom prst="rect">
            <a:avLst/>
          </a:prstGeom>
        </p:spPr>
      </p:pic>
      <p:sp>
        <p:nvSpPr>
          <p:cNvPr id="4" name="ZoneTexte 3">
            <a:extLst>
              <a:ext uri="{FF2B5EF4-FFF2-40B4-BE49-F238E27FC236}">
                <a16:creationId xmlns:a16="http://schemas.microsoft.com/office/drawing/2014/main" id="{06659032-6A8B-7110-0AC8-375D1BD34C85}"/>
              </a:ext>
            </a:extLst>
          </p:cNvPr>
          <p:cNvSpPr txBox="1"/>
          <p:nvPr userDrawn="1"/>
        </p:nvSpPr>
        <p:spPr>
          <a:xfrm>
            <a:off x="958779" y="6481045"/>
            <a:ext cx="1130438" cy="276999"/>
          </a:xfrm>
          <a:prstGeom prst="rect">
            <a:avLst/>
          </a:prstGeom>
          <a:noFill/>
        </p:spPr>
        <p:txBody>
          <a:bodyPr wrap="none" rtlCol="0">
            <a:spAutoFit/>
          </a:bodyPr>
          <a:lstStyle/>
          <a:p>
            <a:pPr algn="ctr"/>
            <a:r>
              <a:rPr lang="fr-FR" sz="1200" noProof="0" dirty="0">
                <a:solidFill>
                  <a:srgbClr val="47413C"/>
                </a:solidFill>
              </a:rPr>
              <a:t>03 81 60 76 07</a:t>
            </a:r>
          </a:p>
        </p:txBody>
      </p:sp>
      <p:sp>
        <p:nvSpPr>
          <p:cNvPr id="5" name="ZoneTexte 4">
            <a:extLst>
              <a:ext uri="{FF2B5EF4-FFF2-40B4-BE49-F238E27FC236}">
                <a16:creationId xmlns:a16="http://schemas.microsoft.com/office/drawing/2014/main" id="{95115658-BFEF-BDAE-CD85-C3D888982702}"/>
              </a:ext>
            </a:extLst>
          </p:cNvPr>
          <p:cNvSpPr txBox="1"/>
          <p:nvPr userDrawn="1"/>
        </p:nvSpPr>
        <p:spPr>
          <a:xfrm>
            <a:off x="5270739" y="6481046"/>
            <a:ext cx="1650516" cy="276999"/>
          </a:xfrm>
          <a:prstGeom prst="rect">
            <a:avLst/>
          </a:prstGeom>
          <a:noFill/>
        </p:spPr>
        <p:txBody>
          <a:bodyPr wrap="none" rtlCol="0">
            <a:spAutoFit/>
          </a:bodyPr>
          <a:lstStyle/>
          <a:p>
            <a:r>
              <a:rPr lang="fr-FR" sz="1200" u="sng" dirty="0">
                <a:solidFill>
                  <a:srgbClr val="47413C"/>
                </a:solidFill>
                <a:hlinkClick r:id="rId19">
                  <a:extLst>
                    <a:ext uri="{A12FA001-AC4F-418D-AE19-62706E023703}">
                      <ahyp:hlinkClr xmlns:ahyp="http://schemas.microsoft.com/office/drawing/2018/hyperlinkcolor" val="tx"/>
                    </a:ext>
                  </a:extLst>
                </a:hlinkClick>
              </a:rPr>
              <a:t>www.lacomptabilite.fr</a:t>
            </a:r>
            <a:endParaRPr lang="fr-FR" sz="1000" noProof="0" dirty="0">
              <a:solidFill>
                <a:srgbClr val="47413C"/>
              </a:solidFill>
            </a:endParaRPr>
          </a:p>
        </p:txBody>
      </p:sp>
    </p:spTree>
    <p:extLst>
      <p:ext uri="{BB962C8B-B14F-4D97-AF65-F5344CB8AC3E}">
        <p14:creationId xmlns:p14="http://schemas.microsoft.com/office/powerpoint/2010/main" val="4376369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chart" Target="../charts/char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hyperlink" Target="https://www.ssi.gouv.fr/" TargetMode="External"/><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A01A903C-674E-2177-CADF-0276C8C9868A}"/>
              </a:ext>
            </a:extLst>
          </p:cNvPr>
          <p:cNvSpPr/>
          <p:nvPr/>
        </p:nvSpPr>
        <p:spPr>
          <a:xfrm>
            <a:off x="3096812" y="604800"/>
            <a:ext cx="5998369" cy="620078"/>
          </a:xfrm>
          <a:prstGeom prst="rect">
            <a:avLst/>
          </a:prstGeom>
          <a:noFill/>
          <a:ln/>
        </p:spPr>
        <p:txBody>
          <a:bodyPr wrap="none" lIns="0" tIns="0" rIns="0" bIns="0" rtlCol="0" anchor="t"/>
          <a:lstStyle/>
          <a:p>
            <a:pPr marL="0" indent="0" algn="ctr">
              <a:lnSpc>
                <a:spcPts val="4850"/>
              </a:lnSpc>
              <a:buNone/>
            </a:pPr>
            <a:r>
              <a:rPr lang="en-US" sz="3900" b="1" dirty="0">
                <a:solidFill>
                  <a:srgbClr val="000000"/>
                </a:solidFill>
                <a:latin typeface="League Spartan Bold" pitchFamily="34" charset="0"/>
                <a:ea typeface="League Spartan Bold" pitchFamily="34" charset="-122"/>
                <a:cs typeface="League Spartan Bold" pitchFamily="34" charset="-120"/>
              </a:rPr>
              <a:t>Lettre de Fin de Mission</a:t>
            </a:r>
            <a:endParaRPr lang="en-US" sz="3900" dirty="0"/>
          </a:p>
        </p:txBody>
      </p:sp>
      <p:sp>
        <p:nvSpPr>
          <p:cNvPr id="6" name="dateFinEx">
            <a:extLst>
              <a:ext uri="{FF2B5EF4-FFF2-40B4-BE49-F238E27FC236}">
                <a16:creationId xmlns:a16="http://schemas.microsoft.com/office/drawing/2014/main" id="{0464A97F-E904-2D29-2F16-7F26EEE89D4D}"/>
              </a:ext>
            </a:extLst>
          </p:cNvPr>
          <p:cNvSpPr/>
          <p:nvPr/>
        </p:nvSpPr>
        <p:spPr>
          <a:xfrm>
            <a:off x="4572272" y="1181418"/>
            <a:ext cx="3079478" cy="607089"/>
          </a:xfrm>
          <a:prstGeom prst="rect">
            <a:avLst/>
          </a:prstGeom>
          <a:noFill/>
          <a:ln/>
        </p:spPr>
        <p:txBody>
          <a:bodyPr wrap="square" lIns="0" tIns="0" rIns="0" bIns="0" rtlCol="0" anchor="t">
            <a:spAutoFit/>
          </a:bodyPr>
          <a:lstStyle/>
          <a:p>
            <a:pPr marL="0" indent="0" algn="ctr">
              <a:lnSpc>
                <a:spcPts val="2400"/>
              </a:lnSpc>
              <a:buNone/>
            </a:pPr>
            <a:r>
              <a:rPr lang="en-US" sz="1950" b="1">
                <a:solidFill>
                  <a:srgbClr val="000000"/>
                </a:solidFill>
                <a:latin typeface="League Spartan Bold" pitchFamily="34" charset="0"/>
                <a:ea typeface="League Spartan Bold" pitchFamily="34" charset="-122"/>
                <a:cs typeface="League Spartan Bold" pitchFamily="34" charset="-120"/>
              </a:rPr>
              <a:t>Exercice clos le 31/12/2024</a:t>
            </a:r>
            <a:endParaRPr lang="en-US" sz="1950" dirty="0"/>
          </a:p>
        </p:txBody>
      </p:sp>
      <p:sp>
        <p:nvSpPr>
          <p:cNvPr id="20" name="infosClient">
            <a:extLst>
              <a:ext uri="{FF2B5EF4-FFF2-40B4-BE49-F238E27FC236}">
                <a16:creationId xmlns:a16="http://schemas.microsoft.com/office/drawing/2014/main" id="{CD5390F0-2075-D8CD-D351-325E2E4BD0E2}"/>
              </a:ext>
            </a:extLst>
          </p:cNvPr>
          <p:cNvSpPr txBox="1"/>
          <p:nvPr/>
        </p:nvSpPr>
        <p:spPr>
          <a:xfrm>
            <a:off x="1350944" y="2179954"/>
            <a:ext cx="3331874" cy="3139321"/>
          </a:xfrm>
          <a:prstGeom prst="rect">
            <a:avLst/>
          </a:prstGeom>
          <a:noFill/>
        </p:spPr>
        <p:txBody>
          <a:bodyPr wrap="none" rtlCol="0">
            <a:spAutoFit/>
          </a:bodyPr>
          <a:lstStyle/>
          <a:p>
            <a:r>
              <a:rPr lang="fr-FR"/>
              <a:t>SAS LES GARCONS COIFFEURS</a:t>
            </a:r>
          </a:p>
          <a:p>
            <a:r>
              <a:rPr lang="fr-FR"/>
              <a:t>54 RUE DE VESOUL</a:t>
            </a:r>
          </a:p>
          <a:p>
            <a:r>
              <a:rPr lang="fr-FR"/>
              <a:t>25000, BESANCON</a:t>
            </a:r>
          </a:p>
          <a:p>
            <a:endParaRPr lang="fr-FR"/>
          </a:p>
          <a:p>
            <a:endParaRPr lang="fr-FR"/>
          </a:p>
          <a:p>
            <a:r>
              <a:rPr lang="fr-FR"/>
              <a:t>9 RUE JACQUARD</a:t>
            </a:r>
          </a:p>
          <a:p>
            <a:r>
              <a:rPr lang="fr-FR"/>
              <a:t>25000, BESANCON</a:t>
            </a:r>
          </a:p>
          <a:p>
            <a:endParaRPr lang="fr-FR"/>
          </a:p>
          <a:p>
            <a:endParaRPr lang="fr-FR"/>
          </a:p>
          <a:p>
            <a:r>
              <a:rPr lang="fr-FR"/>
              <a:t>Référence : LM CC0758</a:t>
            </a:r>
          </a:p>
          <a:p>
            <a:r>
              <a:rPr lang="fr-FR"/>
              <a:t>Besançon, le 23/10/2025</a:t>
            </a:r>
            <a:endParaRPr lang="fr-FR" dirty="0"/>
          </a:p>
        </p:txBody>
      </p:sp>
      <p:sp>
        <p:nvSpPr>
          <p:cNvPr id="18" name="Text 16"/>
          <p:cNvSpPr/>
          <p:nvPr/>
        </p:nvSpPr>
        <p:spPr>
          <a:xfrm>
            <a:off x="661492" y="5665094"/>
            <a:ext cx="10869018" cy="502841"/>
          </a:xfrm>
          <a:prstGeom prst="rect">
            <a:avLst/>
          </a:prstGeom>
          <a:noFill/>
          <a:ln/>
        </p:spPr>
        <p:txBody>
          <a:bodyPr wrap="square" lIns="0" tIns="0" rIns="0" bIns="0" rtlCol="0" anchor="t"/>
          <a:lstStyle/>
          <a:p>
            <a:pPr>
              <a:lnSpc>
                <a:spcPts val="1958"/>
              </a:lnSpc>
            </a:pPr>
            <a:r>
              <a:rPr lang="fr-FR" sz="1208" b="1" noProof="0">
                <a:solidFill>
                  <a:srgbClr val="47413C"/>
                </a:solidFill>
                <a:latin typeface="Open Sans" pitchFamily="34" charset="0"/>
                <a:ea typeface="Open Sans" pitchFamily="34" charset="-122"/>
                <a:cs typeface="Open Sans" pitchFamily="34" charset="-120"/>
              </a:rPr>
              <a:t>LIARD Marlène Expert-Comptable – LIARD Marlène Chef de groupe</a:t>
            </a:r>
            <a:endParaRPr lang="fr-FR" sz="1208" noProof="0" dirty="0"/>
          </a:p>
        </p:txBody>
      </p:sp>
    </p:spTree>
    <p:extLst>
      <p:ext uri="{BB962C8B-B14F-4D97-AF65-F5344CB8AC3E}">
        <p14:creationId xmlns:p14="http://schemas.microsoft.com/office/powerpoint/2010/main" val="16767866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604800"/>
            <a:ext cx="5221883" cy="516732"/>
          </a:xfrm>
          <a:prstGeom prst="rect">
            <a:avLst/>
          </a:prstGeom>
          <a:noFill/>
          <a:ln/>
        </p:spPr>
        <p:txBody>
          <a:bodyPr wrap="none" lIns="0" tIns="0" rIns="0" bIns="0" rtlCol="0" anchor="t"/>
          <a:lstStyle/>
          <a:p>
            <a:pPr>
              <a:lnSpc>
                <a:spcPts val="4042"/>
              </a:lnSpc>
            </a:pPr>
            <a:r>
              <a:rPr lang="fr-FR" sz="3250" b="1" noProof="0" dirty="0">
                <a:solidFill>
                  <a:srgbClr val="000000"/>
                </a:solidFill>
                <a:latin typeface="League Spartan Bold" pitchFamily="34" charset="0"/>
                <a:ea typeface="League Spartan Bold" pitchFamily="34" charset="-122"/>
                <a:cs typeface="League Spartan Bold" pitchFamily="34" charset="-120"/>
              </a:rPr>
              <a:t>Contexte Sectoriel</a:t>
            </a:r>
            <a:endParaRPr lang="fr-FR" sz="3250" noProof="0" dirty="0"/>
          </a:p>
        </p:txBody>
      </p:sp>
      <p:graphicFrame>
        <p:nvGraphicFramePr>
          <p:cNvPr id="13" name="TableauAS">
            <a:extLst>
              <a:ext uri="{FF2B5EF4-FFF2-40B4-BE49-F238E27FC236}">
                <a16:creationId xmlns:a16="http://schemas.microsoft.com/office/drawing/2014/main" id="{5905539E-4977-DEBD-D693-8F5291885E63}"/>
              </a:ext>
            </a:extLst>
          </p:cNvPr>
          <p:cNvGraphicFramePr>
            <a:graphicFrameLocks noGrp="1"/>
          </p:cNvGraphicFramePr>
          <p:nvPr>
            <p:extLst>
              <p:ext uri="{D42A27DB-BD31-4B8C-83A1-F6EECF244321}">
                <p14:modId xmlns:p14="http://schemas.microsoft.com/office/powerpoint/2010/main" val="1723478412"/>
              </p:ext>
            </p:extLst>
          </p:nvPr>
        </p:nvGraphicFramePr>
        <p:xfrm>
          <a:off x="655242" y="4282696"/>
          <a:ext cx="11009709" cy="1630680"/>
        </p:xfrm>
        <a:graphic>
          <a:graphicData uri="http://schemas.openxmlformats.org/drawingml/2006/table">
            <a:tbl>
              <a:tblPr firstRow="1" bandRow="1">
                <a:tableStyleId>{5C22544A-7EE6-4342-B048-85BDC9FD1C3A}</a:tableStyleId>
              </a:tblPr>
              <a:tblGrid>
                <a:gridCol w="2567355">
                  <a:extLst>
                    <a:ext uri="{9D8B030D-6E8A-4147-A177-3AD203B41FA5}">
                      <a16:colId xmlns:a16="http://schemas.microsoft.com/office/drawing/2014/main" val="1984050464"/>
                    </a:ext>
                  </a:extLst>
                </a:gridCol>
                <a:gridCol w="1407059">
                  <a:extLst>
                    <a:ext uri="{9D8B030D-6E8A-4147-A177-3AD203B41FA5}">
                      <a16:colId xmlns:a16="http://schemas.microsoft.com/office/drawing/2014/main" val="739299337"/>
                    </a:ext>
                  </a:extLst>
                </a:gridCol>
                <a:gridCol w="1407059">
                  <a:extLst>
                    <a:ext uri="{9D8B030D-6E8A-4147-A177-3AD203B41FA5}">
                      <a16:colId xmlns:a16="http://schemas.microsoft.com/office/drawing/2014/main" val="2382934357"/>
                    </a:ext>
                  </a:extLst>
                </a:gridCol>
                <a:gridCol w="1407059">
                  <a:extLst>
                    <a:ext uri="{9D8B030D-6E8A-4147-A177-3AD203B41FA5}">
                      <a16:colId xmlns:a16="http://schemas.microsoft.com/office/drawing/2014/main" val="1207797669"/>
                    </a:ext>
                  </a:extLst>
                </a:gridCol>
                <a:gridCol w="1407059">
                  <a:extLst>
                    <a:ext uri="{9D8B030D-6E8A-4147-A177-3AD203B41FA5}">
                      <a16:colId xmlns:a16="http://schemas.microsoft.com/office/drawing/2014/main" val="935529554"/>
                    </a:ext>
                  </a:extLst>
                </a:gridCol>
                <a:gridCol w="1407059">
                  <a:extLst>
                    <a:ext uri="{9D8B030D-6E8A-4147-A177-3AD203B41FA5}">
                      <a16:colId xmlns:a16="http://schemas.microsoft.com/office/drawing/2014/main" val="3315694442"/>
                    </a:ext>
                  </a:extLst>
                </a:gridCol>
                <a:gridCol w="1407059">
                  <a:extLst>
                    <a:ext uri="{9D8B030D-6E8A-4147-A177-3AD203B41FA5}">
                      <a16:colId xmlns:a16="http://schemas.microsoft.com/office/drawing/2014/main" val="1540789719"/>
                    </a:ext>
                  </a:extLst>
                </a:gridCol>
              </a:tblGrid>
              <a:tr h="370840">
                <a:tc gridSpan="7">
                  <a:txBody>
                    <a:bodyPr/>
                    <a:lstStyle/>
                    <a:p>
                      <a:pPr algn="ctr"/>
                      <a:r>
                        <a:rPr lang="fr-FR" b="1" i="0">
                          <a:solidFill>
                            <a:srgbClr val="FFFFFF"/>
                          </a:solidFill>
                          <a:effectLst/>
                          <a:latin typeface="Inter"/>
                        </a:rPr>
                        <a:t>Données sectorielles 2023</a:t>
                      </a:r>
                      <a:endParaRPr lang="fr-FR" dirty="0"/>
                    </a:p>
                  </a:txBody>
                  <a:tcPr/>
                </a:tc>
                <a:tc hMerge="1">
                  <a:txBody>
                    <a:bodyPr/>
                    <a:lstStyle/>
                    <a:p>
                      <a:endParaRPr lang="fr-FR" dirty="0"/>
                    </a:p>
                  </a:txBody>
                  <a:tcPr/>
                </a:tc>
                <a:tc hMerge="1">
                  <a:txBody>
                    <a:bodyPr/>
                    <a:lstStyle/>
                    <a:p>
                      <a:endParaRPr lang="fr-FR" dirty="0"/>
                    </a:p>
                  </a:txBody>
                  <a:tcPr/>
                </a:tc>
                <a:tc hMerge="1">
                  <a:txBody>
                    <a:bodyPr/>
                    <a:lstStyle/>
                    <a:p>
                      <a:endParaRPr lang="fr-FR" dirty="0"/>
                    </a:p>
                  </a:txBody>
                  <a:tcPr/>
                </a:tc>
                <a:tc hMerge="1">
                  <a:txBody>
                    <a:bodyPr/>
                    <a:lstStyle/>
                    <a:p>
                      <a:endParaRPr lang="fr-FR" dirty="0"/>
                    </a:p>
                  </a:txBody>
                  <a:tcPr/>
                </a:tc>
                <a:tc hMerge="1">
                  <a:txBody>
                    <a:bodyPr/>
                    <a:lstStyle/>
                    <a:p>
                      <a:endParaRPr lang="fr-FR" dirty="0"/>
                    </a:p>
                  </a:txBody>
                  <a:tcPr/>
                </a:tc>
                <a:tc hMerge="1">
                  <a:txBody>
                    <a:bodyPr/>
                    <a:lstStyle/>
                    <a:p>
                      <a:endParaRPr lang="fr-FR" dirty="0"/>
                    </a:p>
                  </a:txBody>
                  <a:tcPr/>
                </a:tc>
                <a:extLst>
                  <a:ext uri="{0D108BD9-81ED-4DB2-BD59-A6C34878D82A}">
                    <a16:rowId xmlns:a16="http://schemas.microsoft.com/office/drawing/2014/main" val="253351738"/>
                  </a:ext>
                </a:extLst>
              </a:tr>
              <a:tr h="370840">
                <a:tc>
                  <a:txBody>
                    <a:bodyPr/>
                    <a:lstStyle/>
                    <a:p>
                      <a:pPr marL="0" algn="ctr" defTabSz="914400" rtl="0" eaLnBrk="1" latinLnBrk="0" hangingPunct="1"/>
                      <a:r>
                        <a:rPr lang="fr-FR" sz="1400" b="0" i="0" kern="1200" dirty="0">
                          <a:solidFill>
                            <a:srgbClr val="FFFFFF"/>
                          </a:solidFill>
                          <a:effectLst/>
                          <a:latin typeface="Inter"/>
                          <a:ea typeface="+mn-ea"/>
                          <a:cs typeface="+mn-cs"/>
                        </a:rPr>
                        <a:t>Répartition selon le chiffre d’affaires en % du CA</a:t>
                      </a:r>
                    </a:p>
                  </a:txBody>
                  <a:tcPr anchor="ctr">
                    <a:solidFill>
                      <a:srgbClr val="447A87"/>
                    </a:solidFill>
                  </a:tcPr>
                </a:tc>
                <a:tc>
                  <a:txBody>
                    <a:bodyPr/>
                    <a:lstStyle/>
                    <a:p>
                      <a:pPr algn="ctr"/>
                      <a:r>
                        <a:rPr lang="fr-FR" sz="1400" b="0" i="0" kern="1200" dirty="0">
                          <a:solidFill>
                            <a:srgbClr val="FFFFFF"/>
                          </a:solidFill>
                          <a:effectLst/>
                          <a:latin typeface="Inter"/>
                          <a:ea typeface="+mn-ea"/>
                          <a:cs typeface="+mn-cs"/>
                        </a:rPr>
                        <a:t>Global</a:t>
                      </a:r>
                    </a:p>
                  </a:txBody>
                  <a:tcPr anchor="ctr">
                    <a:solidFill>
                      <a:srgbClr val="447A87"/>
                    </a:solidFill>
                  </a:tcPr>
                </a:tc>
                <a:tc>
                  <a:txBody>
                    <a:bodyPr/>
                    <a:lstStyle/>
                    <a:p>
                      <a:pPr algn="ctr"/>
                      <a:r>
                        <a:rPr lang="fr-FR" sz="1400" b="0" i="0" kern="1200" dirty="0">
                          <a:solidFill>
                            <a:srgbClr val="FFFFFF"/>
                          </a:solidFill>
                          <a:effectLst/>
                          <a:latin typeface="Inter"/>
                          <a:ea typeface="+mn-ea"/>
                          <a:cs typeface="+mn-cs"/>
                        </a:rPr>
                        <a:t>Tranche 1</a:t>
                      </a:r>
                    </a:p>
                  </a:txBody>
                  <a:tcPr anchor="ctr">
                    <a:solidFill>
                      <a:srgbClr val="447A87"/>
                    </a:solidFill>
                  </a:tcPr>
                </a:tc>
                <a:tc>
                  <a:txBody>
                    <a:bodyPr/>
                    <a:lstStyle/>
                    <a:p>
                      <a:pPr algn="ctr"/>
                      <a:r>
                        <a:rPr lang="fr-FR" sz="1400" b="0" i="0" kern="1200" dirty="0">
                          <a:solidFill>
                            <a:srgbClr val="FFFFFF"/>
                          </a:solidFill>
                          <a:effectLst/>
                          <a:latin typeface="Inter"/>
                          <a:ea typeface="+mn-ea"/>
                          <a:cs typeface="+mn-cs"/>
                        </a:rPr>
                        <a:t>Tranche 2</a:t>
                      </a:r>
                    </a:p>
                  </a:txBody>
                  <a:tcPr anchor="ctr">
                    <a:solidFill>
                      <a:srgbClr val="447A87"/>
                    </a:solidFill>
                  </a:tcPr>
                </a:tc>
                <a:tc>
                  <a:txBody>
                    <a:bodyPr/>
                    <a:lstStyle/>
                    <a:p>
                      <a:pPr algn="ctr"/>
                      <a:r>
                        <a:rPr lang="fr-FR" sz="1400" b="0" i="0" kern="1200" dirty="0">
                          <a:solidFill>
                            <a:srgbClr val="FFFFFF"/>
                          </a:solidFill>
                          <a:effectLst/>
                          <a:latin typeface="Inter"/>
                          <a:ea typeface="+mn-ea"/>
                          <a:cs typeface="+mn-cs"/>
                        </a:rPr>
                        <a:t>Tranche 3</a:t>
                      </a:r>
                    </a:p>
                  </a:txBody>
                  <a:tcPr anchor="ctr">
                    <a:solidFill>
                      <a:srgbClr val="447A87"/>
                    </a:solidFill>
                  </a:tcPr>
                </a:tc>
                <a:tc>
                  <a:txBody>
                    <a:bodyPr/>
                    <a:lstStyle/>
                    <a:p>
                      <a:pPr algn="ctr"/>
                      <a:r>
                        <a:rPr lang="fr-FR" sz="1400" b="0" i="0" kern="1200" dirty="0">
                          <a:solidFill>
                            <a:srgbClr val="FFFFFF"/>
                          </a:solidFill>
                          <a:effectLst/>
                          <a:latin typeface="Inter"/>
                          <a:ea typeface="+mn-ea"/>
                          <a:cs typeface="+mn-cs"/>
                        </a:rPr>
                        <a:t>Tranche 4</a:t>
                      </a:r>
                    </a:p>
                  </a:txBody>
                  <a:tcPr anchor="ctr">
                    <a:solidFill>
                      <a:srgbClr val="447A87"/>
                    </a:solidFill>
                  </a:tcPr>
                </a:tc>
                <a:tc>
                  <a:txBody>
                    <a:bodyPr/>
                    <a:lstStyle/>
                    <a:p>
                      <a:pPr algn="ctr"/>
                      <a:r>
                        <a:rPr lang="fr-FR" sz="1400" b="0" i="0" kern="1200" dirty="0">
                          <a:solidFill>
                            <a:srgbClr val="FFFFFF"/>
                          </a:solidFill>
                          <a:effectLst/>
                          <a:latin typeface="Inter"/>
                          <a:ea typeface="+mn-ea"/>
                          <a:cs typeface="+mn-cs"/>
                        </a:rPr>
                        <a:t>Tranche 5</a:t>
                      </a:r>
                    </a:p>
                  </a:txBody>
                  <a:tcPr anchor="ctr">
                    <a:solidFill>
                      <a:srgbClr val="447A87"/>
                    </a:solidFill>
                  </a:tcPr>
                </a:tc>
                <a:extLst>
                  <a:ext uri="{0D108BD9-81ED-4DB2-BD59-A6C34878D82A}">
                    <a16:rowId xmlns:a16="http://schemas.microsoft.com/office/drawing/2014/main" val="1108564748"/>
                  </a:ext>
                </a:extLst>
              </a:tr>
              <a:tr h="370840">
                <a:tc>
                  <a:txBody>
                    <a:bodyPr/>
                    <a:lstStyle/>
                    <a:p>
                      <a:r>
                        <a:rPr lang="fr-FR" sz="1400" b="0" i="0" kern="1200" dirty="0">
                          <a:solidFill>
                            <a:schemeClr val="tx1"/>
                          </a:solidFill>
                          <a:effectLst/>
                          <a:latin typeface="Inter"/>
                          <a:ea typeface="+mn-ea"/>
                          <a:cs typeface="+mn-cs"/>
                        </a:rPr>
                        <a:t>Chiffre d’affaires HT en €</a:t>
                      </a:r>
                    </a:p>
                  </a:txBody>
                  <a:tcPr anchor="ctr"/>
                </a:tc>
                <a:tc>
                  <a:txBody>
                    <a:bodyPr/>
                    <a:lstStyle/>
                    <a:p>
                      <a:pPr marR="53975" algn="r">
                        <a:lnSpc>
                          <a:spcPts val="1185"/>
                        </a:lnSpc>
                        <a:spcBef>
                          <a:spcPts val="295"/>
                        </a:spcBef>
                        <a:buNone/>
                      </a:pPr>
                      <a:r>
                        <a:rPr lang="fr-FR" sz="1400" b="0" i="0" kern="1200">
                          <a:solidFill>
                            <a:schemeClr val="tx1"/>
                          </a:solidFill>
                          <a:effectLst/>
                          <a:latin typeface="Inter"/>
                          <a:ea typeface="+mn-ea"/>
                          <a:cs typeface="+mn-cs"/>
                        </a:rPr>
                        <a:t>81 923</a:t>
                      </a:r>
                      <a:endParaRPr lang="fr-FR" sz="1400" b="0" i="0" kern="1200" dirty="0">
                        <a:solidFill>
                          <a:schemeClr val="tx1"/>
                        </a:solidFill>
                        <a:effectLst/>
                        <a:latin typeface="Inter"/>
                        <a:ea typeface="+mn-ea"/>
                        <a:cs typeface="+mn-cs"/>
                      </a:endParaRPr>
                    </a:p>
                  </a:txBody>
                  <a:tcPr marL="0" marR="0" marT="0" marB="0" anchor="ctr"/>
                </a:tc>
                <a:tc>
                  <a:txBody>
                    <a:bodyPr/>
                    <a:lstStyle/>
                    <a:p>
                      <a:pPr marR="53975" algn="r">
                        <a:lnSpc>
                          <a:spcPts val="1185"/>
                        </a:lnSpc>
                        <a:spcBef>
                          <a:spcPts val="295"/>
                        </a:spcBef>
                        <a:buNone/>
                      </a:pPr>
                      <a:r>
                        <a:rPr lang="fr-FR" sz="1400" b="0" i="0" kern="1200">
                          <a:solidFill>
                            <a:schemeClr val="tx1"/>
                          </a:solidFill>
                          <a:effectLst/>
                          <a:latin typeface="Inter"/>
                          <a:ea typeface="+mn-ea"/>
                          <a:cs typeface="+mn-cs"/>
                        </a:rPr>
                        <a:t>33 537</a:t>
                      </a:r>
                      <a:endParaRPr lang="fr-FR" sz="1400" b="0" i="0" kern="1200" dirty="0">
                        <a:solidFill>
                          <a:schemeClr val="tx1"/>
                        </a:solidFill>
                        <a:effectLst/>
                        <a:latin typeface="Inter"/>
                        <a:ea typeface="+mn-ea"/>
                        <a:cs typeface="+mn-cs"/>
                      </a:endParaRPr>
                    </a:p>
                  </a:txBody>
                  <a:tcPr marL="0" marR="0" marT="0" marB="0" anchor="ctr"/>
                </a:tc>
                <a:tc>
                  <a:txBody>
                    <a:bodyPr/>
                    <a:lstStyle/>
                    <a:p>
                      <a:pPr marR="53975" algn="r">
                        <a:lnSpc>
                          <a:spcPts val="1185"/>
                        </a:lnSpc>
                        <a:spcBef>
                          <a:spcPts val="295"/>
                        </a:spcBef>
                        <a:buNone/>
                      </a:pPr>
                      <a:r>
                        <a:rPr lang="fr-FR" sz="1400" b="0" i="0" kern="1200">
                          <a:solidFill>
                            <a:schemeClr val="tx1"/>
                          </a:solidFill>
                          <a:effectLst/>
                          <a:latin typeface="Inter"/>
                          <a:ea typeface="+mn-ea"/>
                          <a:cs typeface="+mn-cs"/>
                        </a:rPr>
                        <a:t>51 453</a:t>
                      </a:r>
                    </a:p>
                  </a:txBody>
                  <a:tcPr marL="0" marR="0" marT="0" marB="0" anchor="ctr"/>
                </a:tc>
                <a:tc>
                  <a:txBody>
                    <a:bodyPr/>
                    <a:lstStyle/>
                    <a:p>
                      <a:pPr marR="53975" algn="r">
                        <a:lnSpc>
                          <a:spcPts val="1185"/>
                        </a:lnSpc>
                        <a:spcBef>
                          <a:spcPts val="295"/>
                        </a:spcBef>
                        <a:buNone/>
                      </a:pPr>
                      <a:r>
                        <a:rPr lang="fr-FR" sz="1400" b="0" i="0" kern="1200">
                          <a:solidFill>
                            <a:schemeClr val="tx1"/>
                          </a:solidFill>
                          <a:effectLst/>
                          <a:latin typeface="Inter"/>
                          <a:ea typeface="+mn-ea"/>
                          <a:cs typeface="+mn-cs"/>
                        </a:rPr>
                        <a:t>75 268</a:t>
                      </a:r>
                    </a:p>
                  </a:txBody>
                  <a:tcPr marL="0" marR="0" marT="0" marB="0" anchor="ctr"/>
                </a:tc>
                <a:tc>
                  <a:txBody>
                    <a:bodyPr/>
                    <a:lstStyle/>
                    <a:p>
                      <a:pPr marR="53975" algn="r">
                        <a:lnSpc>
                          <a:spcPts val="1185"/>
                        </a:lnSpc>
                        <a:spcBef>
                          <a:spcPts val="295"/>
                        </a:spcBef>
                        <a:buNone/>
                      </a:pPr>
                      <a:r>
                        <a:rPr lang="fr-FR" sz="1400" b="0" i="0" kern="1200">
                          <a:solidFill>
                            <a:schemeClr val="tx1"/>
                          </a:solidFill>
                          <a:effectLst/>
                          <a:latin typeface="Inter"/>
                          <a:ea typeface="+mn-ea"/>
                          <a:cs typeface="+mn-cs"/>
                        </a:rPr>
                        <a:t>112 624</a:t>
                      </a:r>
                    </a:p>
                  </a:txBody>
                  <a:tcPr marL="0" marR="0" marT="0" marB="0" anchor="ctr"/>
                </a:tc>
                <a:tc>
                  <a:txBody>
                    <a:bodyPr/>
                    <a:lstStyle/>
                    <a:p>
                      <a:pPr marR="53975" algn="r">
                        <a:lnSpc>
                          <a:spcPts val="1185"/>
                        </a:lnSpc>
                        <a:spcBef>
                          <a:spcPts val="295"/>
                        </a:spcBef>
                        <a:buNone/>
                      </a:pPr>
                      <a:r>
                        <a:rPr lang="fr-FR" sz="1400" b="0" i="0" kern="1200">
                          <a:solidFill>
                            <a:schemeClr val="tx1"/>
                          </a:solidFill>
                          <a:effectLst/>
                          <a:latin typeface="Inter"/>
                          <a:ea typeface="+mn-ea"/>
                          <a:cs typeface="+mn-cs"/>
                        </a:rPr>
                        <a:t>185 816</a:t>
                      </a:r>
                    </a:p>
                  </a:txBody>
                  <a:tcPr marL="0" marR="0" marT="0" marB="0" anchor="ctr"/>
                </a:tc>
                <a:extLst>
                  <a:ext uri="{0D108BD9-81ED-4DB2-BD59-A6C34878D82A}">
                    <a16:rowId xmlns:a16="http://schemas.microsoft.com/office/drawing/2014/main" val="2732960717"/>
                  </a:ext>
                </a:extLst>
              </a:tr>
              <a:tr h="370840">
                <a:tc>
                  <a:txBody>
                    <a:bodyPr/>
                    <a:lstStyle/>
                    <a:p>
                      <a:r>
                        <a:rPr lang="fr-FR" sz="1400" b="0" i="0" kern="1200" dirty="0">
                          <a:solidFill>
                            <a:schemeClr val="tx1"/>
                          </a:solidFill>
                          <a:effectLst/>
                          <a:latin typeface="Inter"/>
                          <a:ea typeface="+mn-ea"/>
                          <a:cs typeface="+mn-cs"/>
                        </a:rPr>
                        <a:t>Marge brute globale</a:t>
                      </a:r>
                    </a:p>
                  </a:txBody>
                  <a:tcPr anchor="ctr"/>
                </a:tc>
                <a:tc>
                  <a:txBody>
                    <a:bodyPr/>
                    <a:lstStyle/>
                    <a:p>
                      <a:pPr marR="53975" algn="r">
                        <a:lnSpc>
                          <a:spcPts val="1095"/>
                        </a:lnSpc>
                        <a:spcBef>
                          <a:spcPts val="295"/>
                        </a:spcBef>
                        <a:buNone/>
                      </a:pPr>
                      <a:r>
                        <a:rPr lang="fr-FR" sz="1400" b="0" i="0" kern="1200">
                          <a:solidFill>
                            <a:schemeClr val="tx1"/>
                          </a:solidFill>
                          <a:effectLst/>
                          <a:latin typeface="Inter"/>
                          <a:ea typeface="+mn-ea"/>
                          <a:cs typeface="+mn-cs"/>
                        </a:rPr>
                        <a:t>90,2 %</a:t>
                      </a:r>
                    </a:p>
                  </a:txBody>
                  <a:tcPr marL="0" marR="0" marT="0" marB="0" anchor="ctr"/>
                </a:tc>
                <a:tc>
                  <a:txBody>
                    <a:bodyPr/>
                    <a:lstStyle/>
                    <a:p>
                      <a:pPr marR="53975" algn="r">
                        <a:lnSpc>
                          <a:spcPts val="1095"/>
                        </a:lnSpc>
                        <a:spcBef>
                          <a:spcPts val="295"/>
                        </a:spcBef>
                        <a:buNone/>
                      </a:pPr>
                      <a:r>
                        <a:rPr lang="fr-FR" sz="1400" b="0" i="0" kern="1200">
                          <a:solidFill>
                            <a:schemeClr val="tx1"/>
                          </a:solidFill>
                          <a:effectLst/>
                          <a:latin typeface="Inter"/>
                          <a:ea typeface="+mn-ea"/>
                          <a:cs typeface="+mn-cs"/>
                        </a:rPr>
                        <a:t>92,1 %</a:t>
                      </a:r>
                    </a:p>
                  </a:txBody>
                  <a:tcPr marL="0" marR="0" marT="0" marB="0" anchor="ctr"/>
                </a:tc>
                <a:tc>
                  <a:txBody>
                    <a:bodyPr/>
                    <a:lstStyle/>
                    <a:p>
                      <a:pPr marR="53975" algn="r">
                        <a:lnSpc>
                          <a:spcPts val="1095"/>
                        </a:lnSpc>
                        <a:spcBef>
                          <a:spcPts val="295"/>
                        </a:spcBef>
                        <a:buNone/>
                      </a:pPr>
                      <a:r>
                        <a:rPr lang="fr-FR" sz="1400" b="0" i="0" kern="1200">
                          <a:solidFill>
                            <a:schemeClr val="tx1"/>
                          </a:solidFill>
                          <a:effectLst/>
                          <a:latin typeface="Inter"/>
                          <a:ea typeface="+mn-ea"/>
                          <a:cs typeface="+mn-cs"/>
                        </a:rPr>
                        <a:t>91,1 %</a:t>
                      </a:r>
                      <a:endParaRPr lang="fr-FR" sz="1400" b="0" i="0" kern="1200" dirty="0">
                        <a:solidFill>
                          <a:schemeClr val="tx1"/>
                        </a:solidFill>
                        <a:effectLst/>
                        <a:latin typeface="Inter"/>
                        <a:ea typeface="+mn-ea"/>
                        <a:cs typeface="+mn-cs"/>
                      </a:endParaRPr>
                    </a:p>
                  </a:txBody>
                  <a:tcPr marL="0" marR="0" marT="0" marB="0" anchor="ctr"/>
                </a:tc>
                <a:tc>
                  <a:txBody>
                    <a:bodyPr/>
                    <a:lstStyle/>
                    <a:p>
                      <a:pPr marR="53975" algn="r">
                        <a:lnSpc>
                          <a:spcPts val="1095"/>
                        </a:lnSpc>
                        <a:spcBef>
                          <a:spcPts val="295"/>
                        </a:spcBef>
                        <a:buNone/>
                      </a:pPr>
                      <a:r>
                        <a:rPr lang="fr-FR" sz="1400" b="0" i="0" kern="1200">
                          <a:solidFill>
                            <a:schemeClr val="tx1"/>
                          </a:solidFill>
                          <a:effectLst/>
                          <a:latin typeface="Inter"/>
                          <a:ea typeface="+mn-ea"/>
                          <a:cs typeface="+mn-cs"/>
                        </a:rPr>
                        <a:t>90,2 %</a:t>
                      </a:r>
                      <a:endParaRPr lang="fr-FR" sz="1400" b="0" i="0" kern="1200" dirty="0">
                        <a:solidFill>
                          <a:schemeClr val="tx1"/>
                        </a:solidFill>
                        <a:effectLst/>
                        <a:latin typeface="Inter"/>
                        <a:ea typeface="+mn-ea"/>
                        <a:cs typeface="+mn-cs"/>
                      </a:endParaRPr>
                    </a:p>
                  </a:txBody>
                  <a:tcPr marL="0" marR="0" marT="0" marB="0" anchor="ctr"/>
                </a:tc>
                <a:tc>
                  <a:txBody>
                    <a:bodyPr/>
                    <a:lstStyle/>
                    <a:p>
                      <a:pPr marR="53975" algn="r">
                        <a:lnSpc>
                          <a:spcPts val="1095"/>
                        </a:lnSpc>
                        <a:spcBef>
                          <a:spcPts val="295"/>
                        </a:spcBef>
                        <a:buNone/>
                      </a:pPr>
                      <a:r>
                        <a:rPr lang="fr-FR" sz="1400" b="0" i="0" kern="1200">
                          <a:solidFill>
                            <a:schemeClr val="tx1"/>
                          </a:solidFill>
                          <a:effectLst/>
                          <a:latin typeface="Inter"/>
                          <a:ea typeface="+mn-ea"/>
                          <a:cs typeface="+mn-cs"/>
                        </a:rPr>
                        <a:t>89,8 %</a:t>
                      </a:r>
                      <a:endParaRPr lang="fr-FR" sz="1400" b="0" i="0" kern="1200" dirty="0">
                        <a:solidFill>
                          <a:schemeClr val="tx1"/>
                        </a:solidFill>
                        <a:effectLst/>
                        <a:latin typeface="Inter"/>
                        <a:ea typeface="+mn-ea"/>
                        <a:cs typeface="+mn-cs"/>
                      </a:endParaRPr>
                    </a:p>
                  </a:txBody>
                  <a:tcPr marL="0" marR="0" marT="0" marB="0" anchor="ctr"/>
                </a:tc>
                <a:tc>
                  <a:txBody>
                    <a:bodyPr/>
                    <a:lstStyle/>
                    <a:p>
                      <a:pPr marR="53975" algn="r">
                        <a:lnSpc>
                          <a:spcPts val="1095"/>
                        </a:lnSpc>
                        <a:spcBef>
                          <a:spcPts val="295"/>
                        </a:spcBef>
                        <a:buNone/>
                      </a:pPr>
                      <a:r>
                        <a:rPr lang="fr-FR" sz="1400" b="0" i="0" kern="1200">
                          <a:solidFill>
                            <a:schemeClr val="tx1"/>
                          </a:solidFill>
                          <a:effectLst/>
                          <a:latin typeface="Inter"/>
                          <a:ea typeface="+mn-ea"/>
                          <a:cs typeface="+mn-cs"/>
                        </a:rPr>
                        <a:t>89,4 %</a:t>
                      </a:r>
                      <a:endParaRPr lang="fr-FR" sz="1400" b="0" i="0" kern="1200" dirty="0">
                        <a:solidFill>
                          <a:schemeClr val="tx1"/>
                        </a:solidFill>
                        <a:effectLst/>
                        <a:latin typeface="Inter"/>
                        <a:ea typeface="+mn-ea"/>
                        <a:cs typeface="+mn-cs"/>
                      </a:endParaRPr>
                    </a:p>
                  </a:txBody>
                  <a:tcPr marL="0" marR="0" marT="0" marB="0" anchor="ctr"/>
                </a:tc>
                <a:extLst>
                  <a:ext uri="{0D108BD9-81ED-4DB2-BD59-A6C34878D82A}">
                    <a16:rowId xmlns:a16="http://schemas.microsoft.com/office/drawing/2014/main" val="1229371284"/>
                  </a:ext>
                </a:extLst>
              </a:tr>
            </a:tbl>
          </a:graphicData>
        </a:graphic>
      </p:graphicFrame>
      <p:sp>
        <p:nvSpPr>
          <p:cNvPr id="17" name="CC_comPerspective">
            <a:extLst>
              <a:ext uri="{FF2B5EF4-FFF2-40B4-BE49-F238E27FC236}">
                <a16:creationId xmlns:a16="http://schemas.microsoft.com/office/drawing/2014/main" id="{124B33AC-F408-8605-31E5-AE11B7D8203A}"/>
              </a:ext>
            </a:extLst>
          </p:cNvPr>
          <p:cNvSpPr txBox="1"/>
          <p:nvPr/>
        </p:nvSpPr>
        <p:spPr>
          <a:xfrm>
            <a:off x="222250" y="1397675"/>
            <a:ext cx="11747500" cy="2031325"/>
          </a:xfrm>
          <a:prstGeom prst="rect">
            <a:avLst/>
          </a:prstGeom>
          <a:noFill/>
        </p:spPr>
        <p:txBody>
          <a:bodyPr wrap="square" rtlCol="0">
            <a:spAutoFit/>
          </a:bodyPr>
          <a:lstStyle/>
          <a:p>
            <a:r>
              <a:rPr lang="fr-FR"/>
              <a:t>A l’horizon 2025, Xerfi table sur une progression de 2 % à 3 % du chiffre d’affaires, soit une croissance ralentie par rapport à la période de sortie de crise sanitaire :</a:t>
            </a:r>
          </a:p>
          <a:p>
            <a:r>
              <a:rPr lang="fr-FR"/>
              <a:t> - Compte tenu d’un pouvoir d’achat toujours sous contrainte, les ménages limiteront leurs dépenses jugées non essentielles, comme les services de coiffure ;</a:t>
            </a:r>
          </a:p>
          <a:p>
            <a:r>
              <a:rPr lang="fr-FR"/>
              <a:t> - Selon nos prévisions, les prix pratiqués par les coiffeurs progresseront de 2% en 2025 ;</a:t>
            </a:r>
          </a:p>
          <a:p>
            <a:r>
              <a:rPr lang="fr-FR"/>
              <a:t> - La profession restera prudente en matière de revalorisation tarifaire pour ne pas pénaliser trop durement sa clientèle.</a:t>
            </a:r>
            <a:endParaRPr lang="fr-F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C875251-FDC9-E39E-9AFD-F4AC076EBED8}"/>
              </a:ext>
            </a:extLst>
          </p:cNvPr>
          <p:cNvSpPr/>
          <p:nvPr/>
        </p:nvSpPr>
        <p:spPr>
          <a:xfrm>
            <a:off x="661492" y="604800"/>
            <a:ext cx="6709469" cy="516732"/>
          </a:xfrm>
          <a:prstGeom prst="rect">
            <a:avLst/>
          </a:prstGeom>
          <a:noFill/>
          <a:ln/>
        </p:spPr>
        <p:txBody>
          <a:bodyPr wrap="none" lIns="0" tIns="0" rIns="0" bIns="0" rtlCol="0" anchor="t"/>
          <a:lstStyle/>
          <a:p>
            <a:pPr>
              <a:lnSpc>
                <a:spcPts val="4042"/>
              </a:lnSpc>
            </a:pPr>
            <a:r>
              <a:rPr lang="fr-FR" sz="3250" b="1" noProof="0" dirty="0">
                <a:solidFill>
                  <a:srgbClr val="000000"/>
                </a:solidFill>
                <a:latin typeface="League Spartan Bold" pitchFamily="34" charset="0"/>
                <a:ea typeface="League Spartan Bold" pitchFamily="34" charset="-122"/>
                <a:cs typeface="League Spartan Bold" pitchFamily="34" charset="-120"/>
              </a:rPr>
              <a:t>Chiffres clés de l’exercice</a:t>
            </a:r>
            <a:endParaRPr lang="fr-FR" sz="3250" noProof="0" dirty="0"/>
          </a:p>
        </p:txBody>
      </p:sp>
      <p:graphicFrame>
        <p:nvGraphicFramePr>
          <p:cNvPr id="4" name="Graphique_ChiffresCles">
            <a:extLst>
              <a:ext uri="{FF2B5EF4-FFF2-40B4-BE49-F238E27FC236}">
                <a16:creationId xmlns:a16="http://schemas.microsoft.com/office/drawing/2014/main" id="{AE9AD2BA-363D-EE2F-9A0E-956B70E004F0}"/>
              </a:ext>
            </a:extLst>
          </p:cNvPr>
          <p:cNvGraphicFramePr/>
          <p:nvPr>
            <p:extLst>
              <p:ext uri="{D42A27DB-BD31-4B8C-83A1-F6EECF244321}">
                <p14:modId xmlns:p14="http://schemas.microsoft.com/office/powerpoint/2010/main" val="2406545317"/>
              </p:ext>
            </p:extLst>
          </p:nvPr>
        </p:nvGraphicFramePr>
        <p:xfrm>
          <a:off x="835571" y="1382449"/>
          <a:ext cx="10520858" cy="486833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7936776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a:extLst>
              <a:ext uri="{FF2B5EF4-FFF2-40B4-BE49-F238E27FC236}">
                <a16:creationId xmlns:a16="http://schemas.microsoft.com/office/drawing/2014/main" id="{96A8B6B1-4443-C2B7-B331-C09F9B3E5B0A}"/>
              </a:ext>
            </a:extLst>
          </p:cNvPr>
          <p:cNvGraphicFramePr>
            <a:graphicFrameLocks noGrp="1"/>
          </p:cNvGraphicFramePr>
          <p:nvPr>
            <p:extLst>
              <p:ext uri="{D42A27DB-BD31-4B8C-83A1-F6EECF244321}">
                <p14:modId xmlns:p14="http://schemas.microsoft.com/office/powerpoint/2010/main" val="2161618722"/>
              </p:ext>
            </p:extLst>
          </p:nvPr>
        </p:nvGraphicFramePr>
        <p:xfrm>
          <a:off x="1219200" y="1765300"/>
          <a:ext cx="9113989" cy="3062890"/>
        </p:xfrm>
        <a:graphic>
          <a:graphicData uri="http://schemas.openxmlformats.org/drawingml/2006/table">
            <a:tbl>
              <a:tblPr>
                <a:tableStyleId>{5C22544A-7EE6-4342-B048-85BDC9FD1C3A}</a:tableStyleId>
              </a:tblPr>
              <a:tblGrid>
                <a:gridCol w="1742437">
                  <a:extLst>
                    <a:ext uri="{9D8B030D-6E8A-4147-A177-3AD203B41FA5}">
                      <a16:colId xmlns:a16="http://schemas.microsoft.com/office/drawing/2014/main" val="4032881861"/>
                    </a:ext>
                  </a:extLst>
                </a:gridCol>
                <a:gridCol w="1228592">
                  <a:extLst>
                    <a:ext uri="{9D8B030D-6E8A-4147-A177-3AD203B41FA5}">
                      <a16:colId xmlns:a16="http://schemas.microsoft.com/office/drawing/2014/main" val="1134997360"/>
                    </a:ext>
                  </a:extLst>
                </a:gridCol>
                <a:gridCol w="1228592">
                  <a:extLst>
                    <a:ext uri="{9D8B030D-6E8A-4147-A177-3AD203B41FA5}">
                      <a16:colId xmlns:a16="http://schemas.microsoft.com/office/drawing/2014/main" val="1241728969"/>
                    </a:ext>
                  </a:extLst>
                </a:gridCol>
                <a:gridCol w="1228592">
                  <a:extLst>
                    <a:ext uri="{9D8B030D-6E8A-4147-A177-3AD203B41FA5}">
                      <a16:colId xmlns:a16="http://schemas.microsoft.com/office/drawing/2014/main" val="2122769602"/>
                    </a:ext>
                  </a:extLst>
                </a:gridCol>
                <a:gridCol w="1228592">
                  <a:extLst>
                    <a:ext uri="{9D8B030D-6E8A-4147-A177-3AD203B41FA5}">
                      <a16:colId xmlns:a16="http://schemas.microsoft.com/office/drawing/2014/main" val="117688596"/>
                    </a:ext>
                  </a:extLst>
                </a:gridCol>
                <a:gridCol w="1228592">
                  <a:extLst>
                    <a:ext uri="{9D8B030D-6E8A-4147-A177-3AD203B41FA5}">
                      <a16:colId xmlns:a16="http://schemas.microsoft.com/office/drawing/2014/main" val="1984784545"/>
                    </a:ext>
                  </a:extLst>
                </a:gridCol>
                <a:gridCol w="1228592">
                  <a:extLst>
                    <a:ext uri="{9D8B030D-6E8A-4147-A177-3AD203B41FA5}">
                      <a16:colId xmlns:a16="http://schemas.microsoft.com/office/drawing/2014/main" val="743252401"/>
                    </a:ext>
                  </a:extLst>
                </a:gridCol>
              </a:tblGrid>
              <a:tr h="426354">
                <a:tc rowSpan="2">
                  <a:txBody>
                    <a:bodyPr/>
                    <a:lstStyle/>
                    <a:p>
                      <a:pPr marL="180340" algn="ctr">
                        <a:lnSpc>
                          <a:spcPts val="1030"/>
                        </a:lnSpc>
                        <a:spcBef>
                          <a:spcPts val="295"/>
                        </a:spcBef>
                        <a:buNone/>
                      </a:pPr>
                      <a:r>
                        <a:rPr lang="fr-FR" sz="1800" b="1" kern="1200" dirty="0">
                          <a:solidFill>
                            <a:schemeClr val="bg1"/>
                          </a:solidFill>
                          <a:latin typeface="Open Sans" pitchFamily="34" charset="0"/>
                          <a:ea typeface="Open Sans" pitchFamily="34" charset="-122"/>
                          <a:cs typeface="Open Sans" pitchFamily="34" charset="-120"/>
                        </a:rPr>
                        <a:t> </a:t>
                      </a:r>
                    </a:p>
                  </a:txBody>
                  <a:tcPr marL="0" marR="0" marT="0" marB="0" anchor="ctr">
                    <a:solidFill>
                      <a:schemeClr val="accent1"/>
                    </a:solidFill>
                  </a:tcPr>
                </a:tc>
                <a:tc rowSpan="2">
                  <a:txBody>
                    <a:bodyPr/>
                    <a:lstStyle/>
                    <a:p>
                      <a:pPr marR="104140" algn="ctr">
                        <a:lnSpc>
                          <a:spcPts val="1030"/>
                        </a:lnSpc>
                        <a:spcBef>
                          <a:spcPts val="295"/>
                        </a:spcBef>
                        <a:buNone/>
                      </a:pPr>
                      <a:r>
                        <a:rPr lang="fr-FR" sz="1800" b="1" kern="1200" dirty="0">
                          <a:solidFill>
                            <a:schemeClr val="bg1"/>
                          </a:solidFill>
                          <a:latin typeface="Open Sans" pitchFamily="34" charset="0"/>
                          <a:ea typeface="Open Sans" pitchFamily="34" charset="-122"/>
                          <a:cs typeface="Open Sans" pitchFamily="34" charset="-120"/>
                        </a:rPr>
                        <a:t>N</a:t>
                      </a:r>
                    </a:p>
                  </a:txBody>
                  <a:tcPr marL="0" marR="0" marT="0" marB="0" anchor="ctr">
                    <a:solidFill>
                      <a:schemeClr val="accent1"/>
                    </a:solidFill>
                  </a:tcPr>
                </a:tc>
                <a:tc rowSpan="2">
                  <a:txBody>
                    <a:bodyPr/>
                    <a:lstStyle/>
                    <a:p>
                      <a:pPr marL="12065" marR="118110" algn="ctr">
                        <a:lnSpc>
                          <a:spcPts val="1030"/>
                        </a:lnSpc>
                        <a:spcBef>
                          <a:spcPts val="295"/>
                        </a:spcBef>
                        <a:buNone/>
                      </a:pPr>
                      <a:r>
                        <a:rPr lang="fr-FR" sz="1800" b="1" kern="1200" dirty="0">
                          <a:solidFill>
                            <a:schemeClr val="bg1"/>
                          </a:solidFill>
                          <a:latin typeface="Open Sans" pitchFamily="34" charset="0"/>
                          <a:ea typeface="Open Sans" pitchFamily="34" charset="-122"/>
                          <a:cs typeface="Open Sans" pitchFamily="34" charset="-120"/>
                        </a:rPr>
                        <a:t>%</a:t>
                      </a:r>
                    </a:p>
                  </a:txBody>
                  <a:tcPr marL="0" marR="0" marT="0" marB="0" anchor="ctr">
                    <a:solidFill>
                      <a:schemeClr val="accent1"/>
                    </a:solidFill>
                  </a:tcPr>
                </a:tc>
                <a:tc rowSpan="2">
                  <a:txBody>
                    <a:bodyPr/>
                    <a:lstStyle/>
                    <a:p>
                      <a:pPr marL="54610" marR="131445" algn="ctr">
                        <a:lnSpc>
                          <a:spcPts val="1030"/>
                        </a:lnSpc>
                        <a:spcBef>
                          <a:spcPts val="295"/>
                        </a:spcBef>
                        <a:buNone/>
                      </a:pPr>
                      <a:r>
                        <a:rPr lang="fr-FR" sz="1800" b="1" kern="1200" dirty="0">
                          <a:solidFill>
                            <a:schemeClr val="bg1"/>
                          </a:solidFill>
                          <a:latin typeface="Open Sans" pitchFamily="34" charset="0"/>
                          <a:ea typeface="Open Sans" pitchFamily="34" charset="-122"/>
                          <a:cs typeface="Open Sans" pitchFamily="34" charset="-120"/>
                        </a:rPr>
                        <a:t>N-1</a:t>
                      </a:r>
                    </a:p>
                  </a:txBody>
                  <a:tcPr marL="0" marR="0" marT="0" marB="0" anchor="ctr">
                    <a:solidFill>
                      <a:schemeClr val="accent1"/>
                    </a:solidFill>
                  </a:tcPr>
                </a:tc>
                <a:tc rowSpan="2">
                  <a:txBody>
                    <a:bodyPr/>
                    <a:lstStyle/>
                    <a:p>
                      <a:pPr marL="41275" marR="55245" algn="ctr">
                        <a:lnSpc>
                          <a:spcPts val="1030"/>
                        </a:lnSpc>
                        <a:spcBef>
                          <a:spcPts val="295"/>
                        </a:spcBef>
                        <a:buNone/>
                      </a:pPr>
                      <a:r>
                        <a:rPr lang="fr-FR" sz="1800" b="1" kern="1200" dirty="0">
                          <a:solidFill>
                            <a:schemeClr val="bg1"/>
                          </a:solidFill>
                          <a:latin typeface="Open Sans" pitchFamily="34" charset="0"/>
                          <a:ea typeface="Open Sans" pitchFamily="34" charset="-122"/>
                          <a:cs typeface="Open Sans" pitchFamily="34" charset="-120"/>
                        </a:rPr>
                        <a:t>%</a:t>
                      </a:r>
                    </a:p>
                  </a:txBody>
                  <a:tcPr marL="0" marR="0" marT="0" marB="0" anchor="ctr">
                    <a:solidFill>
                      <a:schemeClr val="accent1"/>
                    </a:solidFill>
                  </a:tcPr>
                </a:tc>
                <a:tc gridSpan="2">
                  <a:txBody>
                    <a:bodyPr/>
                    <a:lstStyle/>
                    <a:p>
                      <a:pPr marL="13335" marR="91440" algn="ctr">
                        <a:lnSpc>
                          <a:spcPts val="1030"/>
                        </a:lnSpc>
                        <a:spcBef>
                          <a:spcPts val="295"/>
                        </a:spcBef>
                        <a:buNone/>
                      </a:pPr>
                      <a:r>
                        <a:rPr lang="fr-FR" sz="1800" b="1" kern="1200" dirty="0">
                          <a:solidFill>
                            <a:schemeClr val="bg1"/>
                          </a:solidFill>
                          <a:latin typeface="Open Sans" pitchFamily="34" charset="0"/>
                          <a:ea typeface="Open Sans" pitchFamily="34" charset="-122"/>
                          <a:cs typeface="Open Sans" pitchFamily="34" charset="-120"/>
                        </a:rPr>
                        <a:t>Variation</a:t>
                      </a:r>
                    </a:p>
                  </a:txBody>
                  <a:tcPr marL="0" marR="0" marT="0" marB="0" anchor="ctr">
                    <a:solidFill>
                      <a:schemeClr val="accent1"/>
                    </a:solidFill>
                  </a:tcPr>
                </a:tc>
                <a:tc hMerge="1">
                  <a:txBody>
                    <a:bodyPr/>
                    <a:lstStyle/>
                    <a:p>
                      <a:endParaRPr lang="fr-FR"/>
                    </a:p>
                  </a:txBody>
                  <a:tcPr/>
                </a:tc>
                <a:extLst>
                  <a:ext uri="{0D108BD9-81ED-4DB2-BD59-A6C34878D82A}">
                    <a16:rowId xmlns:a16="http://schemas.microsoft.com/office/drawing/2014/main" val="407136000"/>
                  </a:ext>
                </a:extLst>
              </a:tr>
              <a:tr h="426354">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marL="26670" marR="69215" algn="ctr">
                        <a:lnSpc>
                          <a:spcPts val="1030"/>
                        </a:lnSpc>
                        <a:spcBef>
                          <a:spcPts val="295"/>
                        </a:spcBef>
                        <a:buNone/>
                      </a:pPr>
                      <a:r>
                        <a:rPr lang="fr-FR" sz="1800" b="1" kern="1200" dirty="0">
                          <a:solidFill>
                            <a:schemeClr val="bg1"/>
                          </a:solidFill>
                          <a:latin typeface="Open Sans" pitchFamily="34" charset="0"/>
                          <a:ea typeface="Open Sans" pitchFamily="34" charset="-122"/>
                          <a:cs typeface="Open Sans" pitchFamily="34" charset="-120"/>
                        </a:rPr>
                        <a:t>Valeur</a:t>
                      </a:r>
                    </a:p>
                  </a:txBody>
                  <a:tcPr marL="0" marR="0" marT="0" marB="0" anchor="ctr">
                    <a:solidFill>
                      <a:schemeClr val="accent1"/>
                    </a:solidFill>
                  </a:tcPr>
                </a:tc>
                <a:tc>
                  <a:txBody>
                    <a:bodyPr/>
                    <a:lstStyle/>
                    <a:p>
                      <a:pPr marL="13335" marR="91440" algn="ctr">
                        <a:lnSpc>
                          <a:spcPts val="1030"/>
                        </a:lnSpc>
                        <a:spcBef>
                          <a:spcPts val="295"/>
                        </a:spcBef>
                        <a:buNone/>
                      </a:pPr>
                      <a:r>
                        <a:rPr lang="fr-FR" sz="1800" b="1" kern="1200" dirty="0">
                          <a:solidFill>
                            <a:schemeClr val="bg1"/>
                          </a:solidFill>
                          <a:latin typeface="Open Sans" pitchFamily="34" charset="0"/>
                          <a:ea typeface="Open Sans" pitchFamily="34" charset="-122"/>
                          <a:cs typeface="Open Sans" pitchFamily="34" charset="-120"/>
                        </a:rPr>
                        <a:t>%</a:t>
                      </a:r>
                    </a:p>
                  </a:txBody>
                  <a:tcPr marL="0" marR="0" marT="0" marB="0" anchor="ctr">
                    <a:solidFill>
                      <a:schemeClr val="accent1"/>
                    </a:solidFill>
                  </a:tcPr>
                </a:tc>
                <a:extLst>
                  <a:ext uri="{0D108BD9-81ED-4DB2-BD59-A6C34878D82A}">
                    <a16:rowId xmlns:a16="http://schemas.microsoft.com/office/drawing/2014/main" val="4196340589"/>
                  </a:ext>
                </a:extLst>
              </a:tr>
              <a:tr h="1105091">
                <a:tc>
                  <a:txBody>
                    <a:bodyPr/>
                    <a:lstStyle/>
                    <a:p>
                      <a:pPr marL="89535">
                        <a:lnSpc>
                          <a:spcPts val="1185"/>
                        </a:lnSpc>
                        <a:spcBef>
                          <a:spcPts val="295"/>
                        </a:spcBef>
                        <a:buNone/>
                      </a:pPr>
                      <a:r>
                        <a:rPr lang="fr-FR" sz="1400" b="0" i="0" kern="1200" dirty="0">
                          <a:solidFill>
                            <a:schemeClr val="tx1"/>
                          </a:solidFill>
                          <a:effectLst/>
                          <a:latin typeface="Inter"/>
                          <a:ea typeface="+mn-ea"/>
                          <a:cs typeface="+mn-cs"/>
                        </a:rPr>
                        <a:t>CA produit HT</a:t>
                      </a:r>
                    </a:p>
                  </a:txBody>
                  <a:tcPr marL="0" marR="0" marT="0" marB="0" anchor="ctr"/>
                </a:tc>
                <a:tc>
                  <a:txBody>
                    <a:bodyPr/>
                    <a:lstStyle/>
                    <a:p>
                      <a:pPr marR="104140" algn="r">
                        <a:lnSpc>
                          <a:spcPts val="1185"/>
                        </a:lnSpc>
                        <a:spcBef>
                          <a:spcPts val="295"/>
                        </a:spcBef>
                        <a:buNone/>
                      </a:pPr>
                      <a:r>
                        <a:rPr lang="fr-FR" sz="1400" b="0" i="0" kern="1200">
                          <a:solidFill>
                            <a:schemeClr val="tx1"/>
                          </a:solidFill>
                          <a:effectLst/>
                          <a:latin typeface="Inter"/>
                          <a:ea typeface="+mn-ea"/>
                          <a:cs typeface="+mn-cs"/>
                        </a:rPr>
                        <a:t>2 587 796</a:t>
                      </a:r>
                      <a:endParaRPr lang="fr-FR" sz="1400" b="0" i="0" kern="1200" dirty="0">
                        <a:solidFill>
                          <a:schemeClr val="tx1"/>
                        </a:solidFill>
                        <a:effectLst/>
                        <a:latin typeface="Inter"/>
                        <a:ea typeface="+mn-ea"/>
                        <a:cs typeface="+mn-cs"/>
                      </a:endParaRPr>
                    </a:p>
                  </a:txBody>
                  <a:tcPr marL="0" marR="0" marT="0" marB="0" anchor="ctr"/>
                </a:tc>
                <a:tc>
                  <a:txBody>
                    <a:bodyPr/>
                    <a:lstStyle/>
                    <a:p>
                      <a:pPr marL="12065" marR="118110" algn="r">
                        <a:lnSpc>
                          <a:spcPts val="1185"/>
                        </a:lnSpc>
                        <a:spcBef>
                          <a:spcPts val="295"/>
                        </a:spcBef>
                        <a:buNone/>
                      </a:pPr>
                      <a:r>
                        <a:rPr lang="fr-FR" sz="1400" b="0" i="0" kern="1200" dirty="0">
                          <a:solidFill>
                            <a:schemeClr val="tx1"/>
                          </a:solidFill>
                          <a:effectLst/>
                          <a:latin typeface="Inter"/>
                          <a:ea typeface="+mn-ea"/>
                          <a:cs typeface="+mn-cs"/>
                        </a:rPr>
                        <a:t>100.00</a:t>
                      </a:r>
                    </a:p>
                  </a:txBody>
                  <a:tcPr marL="0" marR="0" marT="0" marB="0" anchor="ctr"/>
                </a:tc>
                <a:tc>
                  <a:txBody>
                    <a:bodyPr/>
                    <a:lstStyle/>
                    <a:p>
                      <a:pPr marL="54610" marR="131445" algn="r">
                        <a:lnSpc>
                          <a:spcPts val="1185"/>
                        </a:lnSpc>
                        <a:spcBef>
                          <a:spcPts val="295"/>
                        </a:spcBef>
                        <a:buNone/>
                      </a:pPr>
                      <a:r>
                        <a:rPr lang="fr-FR" sz="1400" b="0" i="0" kern="1200">
                          <a:solidFill>
                            <a:schemeClr val="tx1"/>
                          </a:solidFill>
                          <a:effectLst/>
                          <a:latin typeface="Inter"/>
                          <a:ea typeface="+mn-ea"/>
                          <a:cs typeface="+mn-cs"/>
                        </a:rPr>
                        <a:t>2 264 626</a:t>
                      </a:r>
                      <a:endParaRPr lang="fr-FR" sz="1400" b="0" i="0" kern="1200" dirty="0">
                        <a:solidFill>
                          <a:schemeClr val="tx1"/>
                        </a:solidFill>
                        <a:effectLst/>
                        <a:latin typeface="Inter"/>
                        <a:ea typeface="+mn-ea"/>
                        <a:cs typeface="+mn-cs"/>
                      </a:endParaRPr>
                    </a:p>
                  </a:txBody>
                  <a:tcPr marL="0" marR="0" marT="0" marB="0" anchor="ctr"/>
                </a:tc>
                <a:tc>
                  <a:txBody>
                    <a:bodyPr/>
                    <a:lstStyle/>
                    <a:p>
                      <a:pPr marL="41275" marR="55245" algn="r">
                        <a:lnSpc>
                          <a:spcPts val="1185"/>
                        </a:lnSpc>
                        <a:spcBef>
                          <a:spcPts val="295"/>
                        </a:spcBef>
                        <a:buNone/>
                      </a:pPr>
                      <a:r>
                        <a:rPr lang="fr-FR" sz="1400" b="0" i="0" kern="1200">
                          <a:solidFill>
                            <a:schemeClr val="tx1"/>
                          </a:solidFill>
                          <a:effectLst/>
                          <a:latin typeface="Inter"/>
                          <a:ea typeface="+mn-ea"/>
                          <a:cs typeface="+mn-cs"/>
                        </a:rPr>
                        <a:t>100.00</a:t>
                      </a:r>
                    </a:p>
                  </a:txBody>
                  <a:tcPr marL="0" marR="0" marT="0" marB="0" anchor="ctr"/>
                </a:tc>
                <a:tc>
                  <a:txBody>
                    <a:bodyPr/>
                    <a:lstStyle/>
                    <a:p>
                      <a:pPr marL="26670" marR="69215" algn="r">
                        <a:lnSpc>
                          <a:spcPts val="1185"/>
                        </a:lnSpc>
                        <a:spcBef>
                          <a:spcPts val="295"/>
                        </a:spcBef>
                        <a:buNone/>
                      </a:pPr>
                      <a:r>
                        <a:rPr lang="fr-FR" sz="1400" b="0" i="0" kern="1200">
                          <a:solidFill>
                            <a:schemeClr val="tx1"/>
                          </a:solidFill>
                          <a:effectLst/>
                          <a:latin typeface="Inter"/>
                          <a:ea typeface="+mn-ea"/>
                          <a:cs typeface="+mn-cs"/>
                        </a:rPr>
                        <a:t>323 170</a:t>
                      </a:r>
                    </a:p>
                  </a:txBody>
                  <a:tcPr marL="0" marR="0" marT="0" marB="0" anchor="ctr"/>
                </a:tc>
                <a:tc>
                  <a:txBody>
                    <a:bodyPr/>
                    <a:lstStyle/>
                    <a:p>
                      <a:pPr marL="13335" marR="91440" algn="r">
                        <a:lnSpc>
                          <a:spcPts val="1185"/>
                        </a:lnSpc>
                        <a:spcBef>
                          <a:spcPts val="295"/>
                        </a:spcBef>
                        <a:buNone/>
                      </a:pPr>
                      <a:r>
                        <a:rPr lang="fr-FR" sz="1400" b="0" i="0" kern="1200">
                          <a:solidFill>
                            <a:schemeClr val="tx1"/>
                          </a:solidFill>
                          <a:effectLst/>
                          <a:latin typeface="Inter"/>
                          <a:ea typeface="+mn-ea"/>
                          <a:cs typeface="+mn-cs"/>
                        </a:rPr>
                        <a:t>14,27</a:t>
                      </a:r>
                      <a:endParaRPr lang="fr-FR" sz="1400" b="0" i="0" kern="1200" dirty="0">
                        <a:solidFill>
                          <a:schemeClr val="tx1"/>
                        </a:solidFill>
                        <a:effectLst/>
                        <a:latin typeface="Inter"/>
                        <a:ea typeface="+mn-ea"/>
                        <a:cs typeface="+mn-cs"/>
                      </a:endParaRPr>
                    </a:p>
                  </a:txBody>
                  <a:tcPr marL="0" marR="0" marT="0" marB="0" anchor="ctr"/>
                </a:tc>
                <a:extLst>
                  <a:ext uri="{0D108BD9-81ED-4DB2-BD59-A6C34878D82A}">
                    <a16:rowId xmlns:a16="http://schemas.microsoft.com/office/drawing/2014/main" val="1946587224"/>
                  </a:ext>
                </a:extLst>
              </a:tr>
              <a:tr h="1105091">
                <a:tc>
                  <a:txBody>
                    <a:bodyPr/>
                    <a:lstStyle/>
                    <a:p>
                      <a:pPr marL="89535">
                        <a:lnSpc>
                          <a:spcPts val="1095"/>
                        </a:lnSpc>
                        <a:spcBef>
                          <a:spcPts val="295"/>
                        </a:spcBef>
                        <a:buNone/>
                      </a:pPr>
                      <a:r>
                        <a:rPr lang="fr-FR" sz="1400" b="0" i="0" kern="1200" dirty="0">
                          <a:solidFill>
                            <a:schemeClr val="tx1"/>
                          </a:solidFill>
                          <a:effectLst/>
                          <a:latin typeface="Inter"/>
                          <a:ea typeface="+mn-ea"/>
                          <a:cs typeface="+mn-cs"/>
                        </a:rPr>
                        <a:t>Marge brute</a:t>
                      </a:r>
                    </a:p>
                  </a:txBody>
                  <a:tcPr marL="0" marR="0" marT="0" marB="0" anchor="ctr"/>
                </a:tc>
                <a:tc>
                  <a:txBody>
                    <a:bodyPr/>
                    <a:lstStyle/>
                    <a:p>
                      <a:pPr marR="104140" algn="r">
                        <a:lnSpc>
                          <a:spcPts val="1095"/>
                        </a:lnSpc>
                        <a:spcBef>
                          <a:spcPts val="295"/>
                        </a:spcBef>
                        <a:buNone/>
                      </a:pPr>
                      <a:r>
                        <a:rPr lang="fr-FR" sz="1400" b="0" i="0" kern="1200">
                          <a:solidFill>
                            <a:schemeClr val="tx1"/>
                          </a:solidFill>
                          <a:effectLst/>
                          <a:latin typeface="Inter"/>
                          <a:ea typeface="+mn-ea"/>
                          <a:cs typeface="+mn-cs"/>
                        </a:rPr>
                        <a:t>2 218 693</a:t>
                      </a:r>
                      <a:endParaRPr lang="fr-FR" sz="1400" b="0" i="0" kern="1200" dirty="0">
                        <a:solidFill>
                          <a:schemeClr val="tx1"/>
                        </a:solidFill>
                        <a:effectLst/>
                        <a:latin typeface="Inter"/>
                        <a:ea typeface="+mn-ea"/>
                        <a:cs typeface="+mn-cs"/>
                      </a:endParaRPr>
                    </a:p>
                  </a:txBody>
                  <a:tcPr marL="0" marR="0" marT="0" marB="0" anchor="ctr"/>
                </a:tc>
                <a:tc>
                  <a:txBody>
                    <a:bodyPr/>
                    <a:lstStyle/>
                    <a:p>
                      <a:pPr marL="12065" marR="118110" algn="r">
                        <a:lnSpc>
                          <a:spcPts val="1095"/>
                        </a:lnSpc>
                        <a:spcBef>
                          <a:spcPts val="295"/>
                        </a:spcBef>
                        <a:buNone/>
                      </a:pPr>
                      <a:r>
                        <a:rPr lang="fr-FR" sz="1400" b="0" i="0" kern="1200">
                          <a:solidFill>
                            <a:schemeClr val="tx1"/>
                          </a:solidFill>
                          <a:effectLst/>
                          <a:latin typeface="Inter"/>
                          <a:ea typeface="+mn-ea"/>
                          <a:cs typeface="+mn-cs"/>
                        </a:rPr>
                        <a:t>85,74</a:t>
                      </a:r>
                    </a:p>
                  </a:txBody>
                  <a:tcPr marL="0" marR="0" marT="0" marB="0" anchor="ctr"/>
                </a:tc>
                <a:tc>
                  <a:txBody>
                    <a:bodyPr/>
                    <a:lstStyle/>
                    <a:p>
                      <a:pPr marL="54610" marR="131445" algn="r">
                        <a:lnSpc>
                          <a:spcPts val="1095"/>
                        </a:lnSpc>
                        <a:spcBef>
                          <a:spcPts val="295"/>
                        </a:spcBef>
                        <a:buNone/>
                      </a:pPr>
                      <a:r>
                        <a:rPr lang="fr-FR" sz="1400" b="0" i="0" kern="1200">
                          <a:solidFill>
                            <a:schemeClr val="tx1"/>
                          </a:solidFill>
                          <a:effectLst/>
                          <a:latin typeface="Inter"/>
                          <a:ea typeface="+mn-ea"/>
                          <a:cs typeface="+mn-cs"/>
                        </a:rPr>
                        <a:t>1 931 961</a:t>
                      </a:r>
                      <a:endParaRPr lang="fr-FR" sz="1400" b="0" i="0" kern="1200" dirty="0">
                        <a:solidFill>
                          <a:schemeClr val="tx1"/>
                        </a:solidFill>
                        <a:effectLst/>
                        <a:latin typeface="Inter"/>
                        <a:ea typeface="+mn-ea"/>
                        <a:cs typeface="+mn-cs"/>
                      </a:endParaRPr>
                    </a:p>
                  </a:txBody>
                  <a:tcPr marL="0" marR="0" marT="0" marB="0" anchor="ctr"/>
                </a:tc>
                <a:tc>
                  <a:txBody>
                    <a:bodyPr/>
                    <a:lstStyle/>
                    <a:p>
                      <a:pPr marL="41275" marR="55245" algn="r">
                        <a:lnSpc>
                          <a:spcPts val="1095"/>
                        </a:lnSpc>
                        <a:spcBef>
                          <a:spcPts val="295"/>
                        </a:spcBef>
                        <a:buNone/>
                      </a:pPr>
                      <a:r>
                        <a:rPr lang="fr-FR" sz="1400" b="0" i="0" kern="1200">
                          <a:solidFill>
                            <a:schemeClr val="tx1"/>
                          </a:solidFill>
                          <a:effectLst/>
                          <a:latin typeface="Inter"/>
                          <a:ea typeface="+mn-ea"/>
                          <a:cs typeface="+mn-cs"/>
                        </a:rPr>
                        <a:t>85,31</a:t>
                      </a:r>
                      <a:endParaRPr lang="fr-FR" sz="1400" b="0" i="0" kern="1200" dirty="0">
                        <a:solidFill>
                          <a:schemeClr val="tx1"/>
                        </a:solidFill>
                        <a:effectLst/>
                        <a:latin typeface="Inter"/>
                        <a:ea typeface="+mn-ea"/>
                        <a:cs typeface="+mn-cs"/>
                      </a:endParaRPr>
                    </a:p>
                  </a:txBody>
                  <a:tcPr marL="0" marR="0" marT="0" marB="0" anchor="ctr"/>
                </a:tc>
                <a:tc>
                  <a:txBody>
                    <a:bodyPr/>
                    <a:lstStyle/>
                    <a:p>
                      <a:pPr marL="26670" marR="69215" algn="r">
                        <a:lnSpc>
                          <a:spcPts val="1095"/>
                        </a:lnSpc>
                        <a:spcBef>
                          <a:spcPts val="295"/>
                        </a:spcBef>
                        <a:buNone/>
                      </a:pPr>
                      <a:r>
                        <a:rPr lang="fr-FR" sz="1400" b="0" i="0" kern="1200">
                          <a:solidFill>
                            <a:schemeClr val="tx1"/>
                          </a:solidFill>
                          <a:effectLst/>
                          <a:latin typeface="Inter"/>
                          <a:ea typeface="+mn-ea"/>
                          <a:cs typeface="+mn-cs"/>
                        </a:rPr>
                        <a:t>286 732</a:t>
                      </a:r>
                      <a:endParaRPr lang="fr-FR" sz="1400" b="0" i="0" kern="1200" dirty="0">
                        <a:solidFill>
                          <a:schemeClr val="tx1"/>
                        </a:solidFill>
                        <a:effectLst/>
                        <a:latin typeface="Inter"/>
                        <a:ea typeface="+mn-ea"/>
                        <a:cs typeface="+mn-cs"/>
                      </a:endParaRPr>
                    </a:p>
                  </a:txBody>
                  <a:tcPr marL="0" marR="0" marT="0" marB="0" anchor="ctr"/>
                </a:tc>
                <a:tc>
                  <a:txBody>
                    <a:bodyPr/>
                    <a:lstStyle/>
                    <a:p>
                      <a:pPr marL="13335" marR="91440" algn="r">
                        <a:lnSpc>
                          <a:spcPts val="1095"/>
                        </a:lnSpc>
                        <a:spcBef>
                          <a:spcPts val="295"/>
                        </a:spcBef>
                        <a:buNone/>
                      </a:pPr>
                      <a:r>
                        <a:rPr lang="fr-FR" sz="1400" b="0" i="0" kern="1200">
                          <a:solidFill>
                            <a:schemeClr val="tx1"/>
                          </a:solidFill>
                          <a:effectLst/>
                          <a:latin typeface="Inter"/>
                          <a:ea typeface="+mn-ea"/>
                          <a:cs typeface="+mn-cs"/>
                        </a:rPr>
                        <a:t>14,84</a:t>
                      </a:r>
                      <a:endParaRPr lang="fr-FR" sz="1400" b="0" i="0" kern="1200" dirty="0">
                        <a:solidFill>
                          <a:schemeClr val="tx1"/>
                        </a:solidFill>
                        <a:effectLst/>
                        <a:latin typeface="Inter"/>
                        <a:ea typeface="+mn-ea"/>
                        <a:cs typeface="+mn-cs"/>
                      </a:endParaRPr>
                    </a:p>
                  </a:txBody>
                  <a:tcPr marL="0" marR="0" marT="0" marB="0" anchor="ctr"/>
                </a:tc>
                <a:extLst>
                  <a:ext uri="{0D108BD9-81ED-4DB2-BD59-A6C34878D82A}">
                    <a16:rowId xmlns:a16="http://schemas.microsoft.com/office/drawing/2014/main" val="604535561"/>
                  </a:ext>
                </a:extLst>
              </a:tr>
            </a:tbl>
          </a:graphicData>
        </a:graphic>
      </p:graphicFrame>
      <p:sp>
        <p:nvSpPr>
          <p:cNvPr id="4" name="Text 0">
            <a:extLst>
              <a:ext uri="{FF2B5EF4-FFF2-40B4-BE49-F238E27FC236}">
                <a16:creationId xmlns:a16="http://schemas.microsoft.com/office/drawing/2014/main" id="{2A9A015F-D2D5-041C-87CC-F7B69BAB837B}"/>
              </a:ext>
            </a:extLst>
          </p:cNvPr>
          <p:cNvSpPr/>
          <p:nvPr/>
        </p:nvSpPr>
        <p:spPr>
          <a:xfrm>
            <a:off x="661492" y="604800"/>
            <a:ext cx="5221883" cy="516732"/>
          </a:xfrm>
          <a:prstGeom prst="rect">
            <a:avLst/>
          </a:prstGeom>
          <a:noFill/>
          <a:ln/>
        </p:spPr>
        <p:txBody>
          <a:bodyPr wrap="none" lIns="0" tIns="0" rIns="0" bIns="0" rtlCol="0" anchor="t"/>
          <a:lstStyle/>
          <a:p>
            <a:pPr>
              <a:lnSpc>
                <a:spcPts val="4042"/>
              </a:lnSpc>
            </a:pPr>
            <a:r>
              <a:rPr lang="fr-FR" sz="3250" b="1" noProof="0" dirty="0">
                <a:solidFill>
                  <a:srgbClr val="000000"/>
                </a:solidFill>
                <a:latin typeface="League Spartan Bold" pitchFamily="34" charset="0"/>
                <a:ea typeface="League Spartan Bold" pitchFamily="34" charset="-122"/>
                <a:cs typeface="League Spartan Bold" pitchFamily="34" charset="-120"/>
              </a:rPr>
              <a:t>Activité globale</a:t>
            </a:r>
            <a:endParaRPr lang="fr-FR" sz="3250" noProof="0" dirty="0"/>
          </a:p>
        </p:txBody>
      </p:sp>
    </p:spTree>
    <p:extLst>
      <p:ext uri="{BB962C8B-B14F-4D97-AF65-F5344CB8AC3E}">
        <p14:creationId xmlns:p14="http://schemas.microsoft.com/office/powerpoint/2010/main" val="41149086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689D1-019D-00BD-B976-69240C65C25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65B001A-F177-5D72-BA2E-BE4B4C9965A0}"/>
              </a:ext>
            </a:extLst>
          </p:cNvPr>
          <p:cNvSpPr/>
          <p:nvPr/>
        </p:nvSpPr>
        <p:spPr>
          <a:xfrm>
            <a:off x="661492" y="604800"/>
            <a:ext cx="6709469" cy="516732"/>
          </a:xfrm>
          <a:prstGeom prst="rect">
            <a:avLst/>
          </a:prstGeom>
          <a:noFill/>
          <a:ln/>
        </p:spPr>
        <p:txBody>
          <a:bodyPr wrap="none" lIns="0" tIns="0" rIns="0" bIns="0" rtlCol="0" anchor="t"/>
          <a:lstStyle/>
          <a:p>
            <a:pPr>
              <a:lnSpc>
                <a:spcPts val="4042"/>
              </a:lnSpc>
            </a:pPr>
            <a:r>
              <a:rPr lang="fr-FR" sz="3250" b="1" noProof="0" dirty="0">
                <a:solidFill>
                  <a:srgbClr val="000000"/>
                </a:solidFill>
                <a:latin typeface="League Spartan Bold" pitchFamily="34" charset="0"/>
                <a:ea typeface="League Spartan Bold" pitchFamily="34" charset="-122"/>
                <a:cs typeface="League Spartan Bold" pitchFamily="34" charset="-120"/>
              </a:rPr>
              <a:t>Évolution des Charges Externes</a:t>
            </a:r>
            <a:endParaRPr lang="fr-FR" sz="3250" noProof="0" dirty="0"/>
          </a:p>
        </p:txBody>
      </p:sp>
      <p:graphicFrame>
        <p:nvGraphicFramePr>
          <p:cNvPr id="3" name="Tableau_ChargesExternes">
            <a:extLst>
              <a:ext uri="{FF2B5EF4-FFF2-40B4-BE49-F238E27FC236}">
                <a16:creationId xmlns:a16="http://schemas.microsoft.com/office/drawing/2014/main" id="{EC46026E-8354-11C7-3DFE-D5BF770D8741}"/>
              </a:ext>
            </a:extLst>
          </p:cNvPr>
          <p:cNvGraphicFramePr>
            <a:graphicFrameLocks noGrp="1"/>
          </p:cNvGraphicFramePr>
          <p:nvPr>
            <p:extLst>
              <p:ext uri="{D42A27DB-BD31-4B8C-83A1-F6EECF244321}">
                <p14:modId xmlns:p14="http://schemas.microsoft.com/office/powerpoint/2010/main" val="3763618691"/>
              </p:ext>
            </p:extLst>
          </p:nvPr>
        </p:nvGraphicFramePr>
        <p:xfrm>
          <a:off x="674188" y="1121532"/>
          <a:ext cx="10856320" cy="5180237"/>
        </p:xfrm>
        <a:graphic>
          <a:graphicData uri="http://schemas.openxmlformats.org/drawingml/2006/table">
            <a:tbl>
              <a:tblPr>
                <a:tableStyleId>{5C22544A-7EE6-4342-B048-85BDC9FD1C3A}</a:tableStyleId>
              </a:tblPr>
              <a:tblGrid>
                <a:gridCol w="2714080">
                  <a:extLst>
                    <a:ext uri="{9D8B030D-6E8A-4147-A177-3AD203B41FA5}">
                      <a16:colId xmlns:a16="http://schemas.microsoft.com/office/drawing/2014/main" val="4033353214"/>
                    </a:ext>
                  </a:extLst>
                </a:gridCol>
                <a:gridCol w="2035560">
                  <a:extLst>
                    <a:ext uri="{9D8B030D-6E8A-4147-A177-3AD203B41FA5}">
                      <a16:colId xmlns:a16="http://schemas.microsoft.com/office/drawing/2014/main" val="3082834031"/>
                    </a:ext>
                  </a:extLst>
                </a:gridCol>
                <a:gridCol w="2035560">
                  <a:extLst>
                    <a:ext uri="{9D8B030D-6E8A-4147-A177-3AD203B41FA5}">
                      <a16:colId xmlns:a16="http://schemas.microsoft.com/office/drawing/2014/main" val="2670717278"/>
                    </a:ext>
                  </a:extLst>
                </a:gridCol>
                <a:gridCol w="2035560">
                  <a:extLst>
                    <a:ext uri="{9D8B030D-6E8A-4147-A177-3AD203B41FA5}">
                      <a16:colId xmlns:a16="http://schemas.microsoft.com/office/drawing/2014/main" val="1058135327"/>
                    </a:ext>
                  </a:extLst>
                </a:gridCol>
                <a:gridCol w="2035560">
                  <a:extLst>
                    <a:ext uri="{9D8B030D-6E8A-4147-A177-3AD203B41FA5}">
                      <a16:colId xmlns:a16="http://schemas.microsoft.com/office/drawing/2014/main" val="2498570981"/>
                    </a:ext>
                  </a:extLst>
                </a:gridCol>
              </a:tblGrid>
              <a:tr h="341474">
                <a:tc rowSpan="2">
                  <a:txBody>
                    <a:bodyPr/>
                    <a:lstStyle/>
                    <a:p>
                      <a:pPr algn="ctr"/>
                      <a:r>
                        <a:rPr lang="fr-FR" sz="1800" b="1" noProof="0" dirty="0">
                          <a:solidFill>
                            <a:schemeClr val="bg1"/>
                          </a:solidFill>
                          <a:latin typeface="Open Sans" pitchFamily="34" charset="0"/>
                          <a:ea typeface="Open Sans" pitchFamily="34" charset="-122"/>
                          <a:cs typeface="Open Sans" pitchFamily="34" charset="-120"/>
                        </a:rPr>
                        <a:t>Libellé</a:t>
                      </a:r>
                      <a:endParaRPr lang="fr-FR" dirty="0">
                        <a:solidFill>
                          <a:schemeClr val="bg1"/>
                        </a:solidFill>
                      </a:endParaRPr>
                    </a:p>
                  </a:txBody>
                  <a:tcPr anchor="ctr">
                    <a:solidFill>
                      <a:schemeClr val="tx2"/>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noProof="0" dirty="0">
                          <a:solidFill>
                            <a:schemeClr val="bg1"/>
                          </a:solidFill>
                          <a:latin typeface="Open Sans" pitchFamily="34" charset="0"/>
                          <a:ea typeface="Open Sans" pitchFamily="34" charset="-122"/>
                          <a:cs typeface="Open Sans" pitchFamily="34" charset="-120"/>
                        </a:rPr>
                        <a:t>N</a:t>
                      </a:r>
                      <a:endParaRPr lang="fr-FR" sz="1800" noProof="0" dirty="0">
                        <a:solidFill>
                          <a:schemeClr val="bg1"/>
                        </a:solidFill>
                      </a:endParaRPr>
                    </a:p>
                  </a:txBody>
                  <a:tcPr anchor="ctr">
                    <a:solidFill>
                      <a:schemeClr val="tx2"/>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noProof="0" dirty="0">
                          <a:solidFill>
                            <a:schemeClr val="bg1"/>
                          </a:solidFill>
                          <a:latin typeface="Open Sans" pitchFamily="34" charset="0"/>
                          <a:ea typeface="Open Sans" pitchFamily="34" charset="-122"/>
                          <a:cs typeface="Open Sans" pitchFamily="34" charset="-120"/>
                        </a:rPr>
                        <a:t>N-1</a:t>
                      </a:r>
                      <a:endParaRPr lang="fr-FR" sz="1800" noProof="0" dirty="0">
                        <a:solidFill>
                          <a:schemeClr val="bg1"/>
                        </a:solidFill>
                      </a:endParaRPr>
                    </a:p>
                  </a:txBody>
                  <a:tcPr anchor="ctr">
                    <a:solidFill>
                      <a:schemeClr val="tx2"/>
                    </a:solid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noProof="0" dirty="0">
                          <a:solidFill>
                            <a:schemeClr val="bg1"/>
                          </a:solidFill>
                          <a:latin typeface="Open Sans" pitchFamily="34" charset="0"/>
                          <a:ea typeface="Open Sans" pitchFamily="34" charset="-122"/>
                          <a:cs typeface="Open Sans" pitchFamily="34" charset="-120"/>
                        </a:rPr>
                        <a:t>Variation</a:t>
                      </a:r>
                      <a:endParaRPr lang="fr-FR" sz="1800" noProof="0" dirty="0">
                        <a:solidFill>
                          <a:schemeClr val="bg1"/>
                        </a:solidFill>
                      </a:endParaRPr>
                    </a:p>
                  </a:txBody>
                  <a:tcPr anchor="ctr">
                    <a:solidFill>
                      <a:schemeClr val="tx2"/>
                    </a:solidFill>
                  </a:tcPr>
                </a:tc>
                <a:tc hMerge="1">
                  <a:txBody>
                    <a:bodyPr/>
                    <a:lstStyle/>
                    <a:p>
                      <a:endParaRPr lang="fr-FR"/>
                    </a:p>
                  </a:txBody>
                  <a:tcPr/>
                </a:tc>
                <a:extLst>
                  <a:ext uri="{0D108BD9-81ED-4DB2-BD59-A6C34878D82A}">
                    <a16:rowId xmlns:a16="http://schemas.microsoft.com/office/drawing/2014/main" val="1381430093"/>
                  </a:ext>
                </a:extLst>
              </a:tr>
              <a:tr h="341474">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kern="1200" noProof="0" dirty="0">
                          <a:solidFill>
                            <a:schemeClr val="bg1"/>
                          </a:solidFill>
                          <a:latin typeface="Open Sans" pitchFamily="34" charset="0"/>
                          <a:ea typeface="Open Sans" pitchFamily="34" charset="-122"/>
                          <a:cs typeface="Open Sans" pitchFamily="34" charset="-120"/>
                        </a:rPr>
                        <a:t>Valeur</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kern="1200" noProof="0" dirty="0">
                          <a:solidFill>
                            <a:schemeClr val="bg1"/>
                          </a:solidFill>
                          <a:latin typeface="Open Sans" pitchFamily="34" charset="0"/>
                          <a:ea typeface="Open Sans" pitchFamily="34" charset="-122"/>
                          <a:cs typeface="Open Sans" pitchFamily="34" charset="-120"/>
                        </a:rPr>
                        <a:t>%</a:t>
                      </a:r>
                    </a:p>
                  </a:txBody>
                  <a:tcPr anchor="ctr">
                    <a:solidFill>
                      <a:schemeClr val="tx2"/>
                    </a:solidFill>
                  </a:tcPr>
                </a:tc>
                <a:extLst>
                  <a:ext uri="{0D108BD9-81ED-4DB2-BD59-A6C34878D82A}">
                    <a16:rowId xmlns:a16="http://schemas.microsoft.com/office/drawing/2014/main" val="309671916"/>
                  </a:ext>
                </a:extLst>
              </a:tr>
              <a:tr h="342209">
                <a:tc>
                  <a:txBody>
                    <a:bodyPr/>
                    <a:lstStyle/>
                    <a:p>
                      <a:pPr marL="89535" marR="80645">
                        <a:lnSpc>
                          <a:spcPts val="1030"/>
                        </a:lnSpc>
                        <a:spcBef>
                          <a:spcPts val="295"/>
                        </a:spcBef>
                        <a:buNone/>
                      </a:pPr>
                      <a:r>
                        <a:rPr lang="fr-FR" sz="1400" b="0" i="0" kern="1200" dirty="0">
                          <a:solidFill>
                            <a:schemeClr val="tx1"/>
                          </a:solidFill>
                          <a:effectLst/>
                          <a:latin typeface="Inter"/>
                          <a:ea typeface="+mn-ea"/>
                          <a:cs typeface="+mn-cs"/>
                        </a:rPr>
                        <a:t>Fournitures consommables</a:t>
                      </a:r>
                    </a:p>
                  </a:txBody>
                  <a:tcPr marL="0" marR="0" marT="0" marB="0" anchor="ctr"/>
                </a:tc>
                <a:tc>
                  <a:txBody>
                    <a:bodyPr/>
                    <a:lstStyle/>
                    <a:p>
                      <a:pPr marL="92075" marR="88265" algn="r">
                        <a:lnSpc>
                          <a:spcPts val="1030"/>
                        </a:lnSpc>
                        <a:spcBef>
                          <a:spcPts val="295"/>
                        </a:spcBef>
                        <a:buNone/>
                      </a:pPr>
                      <a:r>
                        <a:rPr lang="fr-FR" sz="1400" b="0" i="0" kern="1200">
                          <a:solidFill>
                            <a:schemeClr val="tx1"/>
                          </a:solidFill>
                          <a:effectLst/>
                          <a:latin typeface="Inter"/>
                          <a:ea typeface="+mn-ea"/>
                          <a:cs typeface="+mn-cs"/>
                        </a:rPr>
                        <a:t>78 181</a:t>
                      </a:r>
                      <a:endParaRPr lang="fr-FR" sz="1400" b="0" i="0" kern="1200" dirty="0">
                        <a:solidFill>
                          <a:schemeClr val="tx1"/>
                        </a:solidFill>
                        <a:effectLst/>
                        <a:latin typeface="Inter"/>
                        <a:ea typeface="+mn-ea"/>
                        <a:cs typeface="+mn-cs"/>
                      </a:endParaRPr>
                    </a:p>
                  </a:txBody>
                  <a:tcPr marL="0" marR="0" marT="0" marB="0" anchor="ctr"/>
                </a:tc>
                <a:tc>
                  <a:txBody>
                    <a:bodyPr/>
                    <a:lstStyle/>
                    <a:p>
                      <a:pPr marL="92075" marR="128270" algn="r">
                        <a:lnSpc>
                          <a:spcPts val="1030"/>
                        </a:lnSpc>
                        <a:spcBef>
                          <a:spcPts val="295"/>
                        </a:spcBef>
                        <a:buNone/>
                      </a:pPr>
                      <a:r>
                        <a:rPr lang="fr-FR" sz="1400" b="0" i="0" kern="1200">
                          <a:solidFill>
                            <a:schemeClr val="tx1"/>
                          </a:solidFill>
                          <a:effectLst/>
                          <a:latin typeface="Inter"/>
                          <a:ea typeface="+mn-ea"/>
                          <a:cs typeface="+mn-cs"/>
                        </a:rPr>
                        <a:t>79 275</a:t>
                      </a:r>
                      <a:endParaRPr lang="fr-FR" sz="1400" b="0" i="0" kern="1200" dirty="0">
                        <a:solidFill>
                          <a:schemeClr val="tx1"/>
                        </a:solidFill>
                        <a:effectLst/>
                        <a:latin typeface="Inter"/>
                        <a:ea typeface="+mn-ea"/>
                        <a:cs typeface="+mn-cs"/>
                      </a:endParaRPr>
                    </a:p>
                  </a:txBody>
                  <a:tcPr marL="0" marR="0" marT="0" marB="0" anchor="ctr"/>
                </a:tc>
                <a:tc>
                  <a:txBody>
                    <a:bodyPr/>
                    <a:lstStyle/>
                    <a:p>
                      <a:pPr marL="44450" marR="86360" algn="r">
                        <a:lnSpc>
                          <a:spcPts val="1030"/>
                        </a:lnSpc>
                        <a:spcBef>
                          <a:spcPts val="295"/>
                        </a:spcBef>
                        <a:buNone/>
                      </a:pPr>
                      <a:r>
                        <a:rPr lang="fr-FR" sz="1400" b="0" i="0" kern="1200">
                          <a:solidFill>
                            <a:schemeClr val="tx1"/>
                          </a:solidFill>
                          <a:effectLst/>
                          <a:latin typeface="Inter"/>
                          <a:ea typeface="+mn-ea"/>
                          <a:cs typeface="+mn-cs"/>
                        </a:rPr>
                        <a:t>-1 094</a:t>
                      </a:r>
                      <a:endParaRPr lang="fr-FR" sz="1400" b="0" i="0" kern="1200" dirty="0">
                        <a:solidFill>
                          <a:schemeClr val="tx1"/>
                        </a:solidFill>
                        <a:effectLst/>
                        <a:latin typeface="Inter"/>
                        <a:ea typeface="+mn-ea"/>
                        <a:cs typeface="+mn-cs"/>
                      </a:endParaRPr>
                    </a:p>
                  </a:txBody>
                  <a:tcPr marL="0" marR="0" marT="0" marB="0" anchor="ctr"/>
                </a:tc>
                <a:tc>
                  <a:txBody>
                    <a:bodyPr/>
                    <a:lstStyle/>
                    <a:p>
                      <a:pPr marL="44450" marR="86360" algn="r">
                        <a:lnSpc>
                          <a:spcPts val="1030"/>
                        </a:lnSpc>
                        <a:spcBef>
                          <a:spcPts val="295"/>
                        </a:spcBef>
                        <a:buNone/>
                      </a:pPr>
                      <a:r>
                        <a:rPr lang="fr-FR" sz="1400" b="0" i="0" kern="1200">
                          <a:solidFill>
                            <a:schemeClr val="tx1"/>
                          </a:solidFill>
                          <a:effectLst/>
                          <a:latin typeface="Inter"/>
                          <a:ea typeface="+mn-ea"/>
                          <a:cs typeface="+mn-cs"/>
                        </a:rPr>
                        <a:t>-1,38</a:t>
                      </a:r>
                      <a:endParaRPr lang="fr-FR" sz="1400" b="0" i="0" kern="1200" dirty="0">
                        <a:solidFill>
                          <a:schemeClr val="tx1"/>
                        </a:solidFill>
                        <a:effectLst/>
                        <a:latin typeface="Inter"/>
                        <a:ea typeface="+mn-ea"/>
                        <a:cs typeface="+mn-cs"/>
                      </a:endParaRPr>
                    </a:p>
                  </a:txBody>
                  <a:tcPr marL="0" marR="0" marT="0" marB="0" anchor="ctr"/>
                </a:tc>
                <a:extLst>
                  <a:ext uri="{0D108BD9-81ED-4DB2-BD59-A6C34878D82A}">
                    <a16:rowId xmlns:a16="http://schemas.microsoft.com/office/drawing/2014/main" val="337595979"/>
                  </a:ext>
                </a:extLst>
              </a:tr>
              <a:tr h="342209">
                <a:tc>
                  <a:txBody>
                    <a:bodyPr/>
                    <a:lstStyle/>
                    <a:p>
                      <a:pPr marL="89535" marR="80645">
                        <a:lnSpc>
                          <a:spcPts val="1030"/>
                        </a:lnSpc>
                        <a:spcBef>
                          <a:spcPts val="295"/>
                        </a:spcBef>
                        <a:buNone/>
                      </a:pPr>
                      <a:r>
                        <a:rPr lang="fr-FR" sz="1400" b="0" i="0" kern="1200" dirty="0">
                          <a:solidFill>
                            <a:schemeClr val="tx1"/>
                          </a:solidFill>
                          <a:effectLst/>
                          <a:latin typeface="Inter"/>
                          <a:ea typeface="+mn-ea"/>
                          <a:cs typeface="+mn-cs"/>
                        </a:rPr>
                        <a:t>Sous-traitance</a:t>
                      </a:r>
                    </a:p>
                  </a:txBody>
                  <a:tcPr marL="0" marR="0" marT="0" marB="0" anchor="ctr"/>
                </a:tc>
                <a:tc>
                  <a:txBody>
                    <a:bodyPr/>
                    <a:lstStyle/>
                    <a:p>
                      <a:pPr marL="92075" marR="88265" algn="r">
                        <a:lnSpc>
                          <a:spcPts val="1030"/>
                        </a:lnSpc>
                        <a:spcBef>
                          <a:spcPts val="295"/>
                        </a:spcBef>
                        <a:buNone/>
                      </a:pPr>
                      <a:r>
                        <a:rPr lang="fr-FR" sz="1400" b="0" i="0" kern="1200">
                          <a:solidFill>
                            <a:schemeClr val="tx1"/>
                          </a:solidFill>
                          <a:effectLst/>
                          <a:latin typeface="Inter"/>
                          <a:ea typeface="+mn-ea"/>
                          <a:cs typeface="+mn-cs"/>
                        </a:rPr>
                        <a:t>1 971</a:t>
                      </a:r>
                      <a:endParaRPr lang="fr-FR" sz="1400" b="0" i="0" kern="1200" dirty="0">
                        <a:solidFill>
                          <a:schemeClr val="tx1"/>
                        </a:solidFill>
                        <a:effectLst/>
                        <a:latin typeface="Inter"/>
                        <a:ea typeface="+mn-ea"/>
                        <a:cs typeface="+mn-cs"/>
                      </a:endParaRPr>
                    </a:p>
                  </a:txBody>
                  <a:tcPr marL="0" marR="0" marT="0" marB="0" anchor="ctr"/>
                </a:tc>
                <a:tc>
                  <a:txBody>
                    <a:bodyPr/>
                    <a:lstStyle/>
                    <a:p>
                      <a:pPr marL="92075" marR="128270" algn="r">
                        <a:lnSpc>
                          <a:spcPts val="1030"/>
                        </a:lnSpc>
                        <a:spcBef>
                          <a:spcPts val="295"/>
                        </a:spcBef>
                        <a:buNone/>
                      </a:pPr>
                      <a:r>
                        <a:rPr lang="fr-FR" sz="1400" b="0" i="0" kern="1200">
                          <a:solidFill>
                            <a:schemeClr val="tx1"/>
                          </a:solidFill>
                          <a:effectLst/>
                          <a:latin typeface="Inter"/>
                          <a:ea typeface="+mn-ea"/>
                          <a:cs typeface="+mn-cs"/>
                        </a:rPr>
                        <a:t>0</a:t>
                      </a:r>
                      <a:endParaRPr lang="fr-FR" sz="1400" b="0" i="0" kern="1200" dirty="0">
                        <a:solidFill>
                          <a:schemeClr val="tx1"/>
                        </a:solidFill>
                        <a:effectLst/>
                        <a:latin typeface="Inter"/>
                        <a:ea typeface="+mn-ea"/>
                        <a:cs typeface="+mn-cs"/>
                      </a:endParaRPr>
                    </a:p>
                  </a:txBody>
                  <a:tcPr marL="0" marR="0" marT="0" marB="0" anchor="ctr"/>
                </a:tc>
                <a:tc>
                  <a:txBody>
                    <a:bodyPr/>
                    <a:lstStyle/>
                    <a:p>
                      <a:pPr marL="44450" marR="86360" algn="r">
                        <a:lnSpc>
                          <a:spcPts val="1030"/>
                        </a:lnSpc>
                        <a:spcBef>
                          <a:spcPts val="295"/>
                        </a:spcBef>
                        <a:buNone/>
                      </a:pPr>
                      <a:r>
                        <a:rPr lang="fr-FR" sz="1400" b="0" i="0" kern="1200">
                          <a:solidFill>
                            <a:schemeClr val="tx1"/>
                          </a:solidFill>
                          <a:effectLst/>
                          <a:latin typeface="Inter"/>
                          <a:ea typeface="+mn-ea"/>
                          <a:cs typeface="+mn-cs"/>
                        </a:rPr>
                        <a:t>1 971</a:t>
                      </a:r>
                      <a:endParaRPr lang="fr-FR" sz="1400" b="0" i="0" kern="1200" dirty="0">
                        <a:solidFill>
                          <a:schemeClr val="tx1"/>
                        </a:solidFill>
                        <a:effectLst/>
                        <a:latin typeface="Inter"/>
                        <a:ea typeface="+mn-ea"/>
                        <a:cs typeface="+mn-cs"/>
                      </a:endParaRPr>
                    </a:p>
                  </a:txBody>
                  <a:tcPr marL="0" marR="0" marT="0" marB="0" anchor="ctr"/>
                </a:tc>
                <a:tc>
                  <a:txBody>
                    <a:bodyPr/>
                    <a:lstStyle/>
                    <a:p>
                      <a:pPr marL="44450" marR="86360" algn="r">
                        <a:lnSpc>
                          <a:spcPts val="1030"/>
                        </a:lnSpc>
                        <a:spcBef>
                          <a:spcPts val="295"/>
                        </a:spcBef>
                        <a:buNone/>
                      </a:pPr>
                      <a:endParaRPr lang="fr-FR" sz="1400" b="0" i="0" kern="1200" dirty="0">
                        <a:solidFill>
                          <a:schemeClr val="tx1"/>
                        </a:solidFill>
                        <a:effectLst/>
                        <a:latin typeface="Inter"/>
                        <a:ea typeface="+mn-ea"/>
                        <a:cs typeface="+mn-cs"/>
                      </a:endParaRPr>
                    </a:p>
                  </a:txBody>
                  <a:tcPr marL="0" marR="0" marT="0" marB="0" anchor="ctr"/>
                </a:tc>
                <a:extLst>
                  <a:ext uri="{0D108BD9-81ED-4DB2-BD59-A6C34878D82A}">
                    <a16:rowId xmlns:a16="http://schemas.microsoft.com/office/drawing/2014/main" val="2626098313"/>
                  </a:ext>
                </a:extLst>
              </a:tr>
              <a:tr h="342209">
                <a:tc>
                  <a:txBody>
                    <a:bodyPr/>
                    <a:lstStyle/>
                    <a:p>
                      <a:pPr marL="89535" marR="80645">
                        <a:lnSpc>
                          <a:spcPts val="1030"/>
                        </a:lnSpc>
                        <a:spcBef>
                          <a:spcPts val="295"/>
                        </a:spcBef>
                        <a:buNone/>
                      </a:pPr>
                      <a:r>
                        <a:rPr lang="fr-FR" sz="1400" b="0" i="0" kern="1200" dirty="0">
                          <a:solidFill>
                            <a:schemeClr val="tx1"/>
                          </a:solidFill>
                          <a:effectLst/>
                          <a:latin typeface="Inter"/>
                          <a:ea typeface="+mn-ea"/>
                          <a:cs typeface="+mn-cs"/>
                        </a:rPr>
                        <a:t>Loyers de crédits-bails</a:t>
                      </a:r>
                    </a:p>
                  </a:txBody>
                  <a:tcPr marL="0" marR="0" marT="0" marB="0" anchor="ctr"/>
                </a:tc>
                <a:tc>
                  <a:txBody>
                    <a:bodyPr/>
                    <a:lstStyle/>
                    <a:p>
                      <a:pPr marL="92075" marR="88265" algn="r">
                        <a:lnSpc>
                          <a:spcPts val="1030"/>
                        </a:lnSpc>
                        <a:spcBef>
                          <a:spcPts val="295"/>
                        </a:spcBef>
                        <a:buNone/>
                      </a:pPr>
                      <a:r>
                        <a:rPr lang="fr-FR" sz="1400" b="0" i="0" kern="1200">
                          <a:solidFill>
                            <a:schemeClr val="tx1"/>
                          </a:solidFill>
                          <a:effectLst/>
                          <a:latin typeface="Inter"/>
                          <a:ea typeface="+mn-ea"/>
                          <a:cs typeface="+mn-cs"/>
                        </a:rPr>
                        <a:t>305</a:t>
                      </a:r>
                      <a:endParaRPr lang="fr-FR" sz="1400" b="0" i="0" kern="1200" dirty="0">
                        <a:solidFill>
                          <a:schemeClr val="tx1"/>
                        </a:solidFill>
                        <a:effectLst/>
                        <a:latin typeface="Inter"/>
                        <a:ea typeface="+mn-ea"/>
                        <a:cs typeface="+mn-cs"/>
                      </a:endParaRPr>
                    </a:p>
                  </a:txBody>
                  <a:tcPr marL="0" marR="0" marT="0" marB="0" anchor="ctr"/>
                </a:tc>
                <a:tc>
                  <a:txBody>
                    <a:bodyPr/>
                    <a:lstStyle/>
                    <a:p>
                      <a:pPr marL="92075" marR="128270" algn="r">
                        <a:lnSpc>
                          <a:spcPts val="1030"/>
                        </a:lnSpc>
                        <a:spcBef>
                          <a:spcPts val="295"/>
                        </a:spcBef>
                        <a:buNone/>
                      </a:pPr>
                      <a:r>
                        <a:rPr lang="fr-FR" sz="1400" b="0" i="0" kern="1200">
                          <a:solidFill>
                            <a:schemeClr val="tx1"/>
                          </a:solidFill>
                          <a:effectLst/>
                          <a:latin typeface="Inter"/>
                          <a:ea typeface="+mn-ea"/>
                          <a:cs typeface="+mn-cs"/>
                        </a:rPr>
                        <a:t>0</a:t>
                      </a:r>
                      <a:endParaRPr lang="fr-FR" sz="1400" b="0" i="0" kern="1200" dirty="0">
                        <a:solidFill>
                          <a:schemeClr val="tx1"/>
                        </a:solidFill>
                        <a:effectLst/>
                        <a:latin typeface="Inter"/>
                        <a:ea typeface="+mn-ea"/>
                        <a:cs typeface="+mn-cs"/>
                      </a:endParaRPr>
                    </a:p>
                  </a:txBody>
                  <a:tcPr marL="0" marR="0" marT="0" marB="0" anchor="ctr"/>
                </a:tc>
                <a:tc>
                  <a:txBody>
                    <a:bodyPr/>
                    <a:lstStyle/>
                    <a:p>
                      <a:pPr marL="44450" marR="86360" algn="r">
                        <a:lnSpc>
                          <a:spcPts val="1030"/>
                        </a:lnSpc>
                        <a:spcBef>
                          <a:spcPts val="295"/>
                        </a:spcBef>
                        <a:buNone/>
                      </a:pPr>
                      <a:r>
                        <a:rPr lang="fr-FR" sz="1400" b="0" i="0" kern="1200">
                          <a:solidFill>
                            <a:schemeClr val="tx1"/>
                          </a:solidFill>
                          <a:effectLst/>
                          <a:latin typeface="Inter"/>
                          <a:ea typeface="+mn-ea"/>
                          <a:cs typeface="+mn-cs"/>
                        </a:rPr>
                        <a:t>305</a:t>
                      </a:r>
                      <a:endParaRPr lang="fr-FR" sz="1400" b="0" i="0" kern="1200" dirty="0">
                        <a:solidFill>
                          <a:schemeClr val="tx1"/>
                        </a:solidFill>
                        <a:effectLst/>
                        <a:latin typeface="Inter"/>
                        <a:ea typeface="+mn-ea"/>
                        <a:cs typeface="+mn-cs"/>
                      </a:endParaRPr>
                    </a:p>
                  </a:txBody>
                  <a:tcPr marL="0" marR="0" marT="0" marB="0" anchor="ctr"/>
                </a:tc>
                <a:tc>
                  <a:txBody>
                    <a:bodyPr/>
                    <a:lstStyle/>
                    <a:p>
                      <a:pPr marL="44450" marR="86360" algn="r">
                        <a:lnSpc>
                          <a:spcPts val="1030"/>
                        </a:lnSpc>
                        <a:spcBef>
                          <a:spcPts val="295"/>
                        </a:spcBef>
                        <a:buNone/>
                      </a:pPr>
                      <a:endParaRPr lang="fr-FR" sz="1400" b="0" i="0" kern="1200" dirty="0">
                        <a:solidFill>
                          <a:schemeClr val="tx1"/>
                        </a:solidFill>
                        <a:effectLst/>
                        <a:latin typeface="Inter"/>
                        <a:ea typeface="+mn-ea"/>
                        <a:cs typeface="+mn-cs"/>
                      </a:endParaRPr>
                    </a:p>
                  </a:txBody>
                  <a:tcPr marL="0" marR="0" marT="0" marB="0" anchor="ctr"/>
                </a:tc>
                <a:extLst>
                  <a:ext uri="{0D108BD9-81ED-4DB2-BD59-A6C34878D82A}">
                    <a16:rowId xmlns:a16="http://schemas.microsoft.com/office/drawing/2014/main" val="1989439056"/>
                  </a:ext>
                </a:extLst>
              </a:tr>
              <a:tr h="342209">
                <a:tc>
                  <a:txBody>
                    <a:bodyPr/>
                    <a:lstStyle/>
                    <a:p>
                      <a:pPr marL="89535" marR="80645">
                        <a:lnSpc>
                          <a:spcPts val="1030"/>
                        </a:lnSpc>
                        <a:spcBef>
                          <a:spcPts val="295"/>
                        </a:spcBef>
                        <a:buNone/>
                      </a:pPr>
                      <a:r>
                        <a:rPr lang="fr-FR" sz="1400" b="0" i="0" kern="1200" dirty="0">
                          <a:solidFill>
                            <a:schemeClr val="tx1"/>
                          </a:solidFill>
                          <a:effectLst/>
                          <a:latin typeface="Inter"/>
                          <a:ea typeface="+mn-ea"/>
                          <a:cs typeface="+mn-cs"/>
                        </a:rPr>
                        <a:t>Locations, Charges locatives</a:t>
                      </a:r>
                    </a:p>
                  </a:txBody>
                  <a:tcPr marL="0" marR="0" marT="0" marB="0" anchor="ctr"/>
                </a:tc>
                <a:tc>
                  <a:txBody>
                    <a:bodyPr/>
                    <a:lstStyle/>
                    <a:p>
                      <a:pPr marL="92075" marR="88265" algn="r">
                        <a:lnSpc>
                          <a:spcPts val="1030"/>
                        </a:lnSpc>
                        <a:spcBef>
                          <a:spcPts val="295"/>
                        </a:spcBef>
                        <a:buNone/>
                      </a:pPr>
                      <a:r>
                        <a:rPr lang="fr-FR" sz="1400" b="0" i="0" kern="1200">
                          <a:solidFill>
                            <a:schemeClr val="tx1"/>
                          </a:solidFill>
                          <a:effectLst/>
                          <a:latin typeface="Inter"/>
                          <a:ea typeface="+mn-ea"/>
                          <a:cs typeface="+mn-cs"/>
                        </a:rPr>
                        <a:t>338 820</a:t>
                      </a:r>
                      <a:endParaRPr lang="fr-FR" sz="1400" b="0" i="0" kern="1200" dirty="0">
                        <a:solidFill>
                          <a:schemeClr val="tx1"/>
                        </a:solidFill>
                        <a:effectLst/>
                        <a:latin typeface="Inter"/>
                        <a:ea typeface="+mn-ea"/>
                        <a:cs typeface="+mn-cs"/>
                      </a:endParaRPr>
                    </a:p>
                  </a:txBody>
                  <a:tcPr marL="0" marR="0" marT="0" marB="0" anchor="ctr"/>
                </a:tc>
                <a:tc>
                  <a:txBody>
                    <a:bodyPr/>
                    <a:lstStyle/>
                    <a:p>
                      <a:pPr marL="92075" marR="128270" algn="r">
                        <a:lnSpc>
                          <a:spcPts val="1030"/>
                        </a:lnSpc>
                        <a:spcBef>
                          <a:spcPts val="295"/>
                        </a:spcBef>
                        <a:buNone/>
                      </a:pPr>
                      <a:r>
                        <a:rPr lang="fr-FR" sz="1400" b="0" i="0" kern="1200">
                          <a:solidFill>
                            <a:schemeClr val="tx1"/>
                          </a:solidFill>
                          <a:effectLst/>
                          <a:latin typeface="Inter"/>
                          <a:ea typeface="+mn-ea"/>
                          <a:cs typeface="+mn-cs"/>
                        </a:rPr>
                        <a:t>265 335</a:t>
                      </a:r>
                      <a:endParaRPr lang="fr-FR" sz="1400" b="0" i="0" kern="1200" dirty="0">
                        <a:solidFill>
                          <a:schemeClr val="tx1"/>
                        </a:solidFill>
                        <a:effectLst/>
                        <a:latin typeface="Inter"/>
                        <a:ea typeface="+mn-ea"/>
                        <a:cs typeface="+mn-cs"/>
                      </a:endParaRPr>
                    </a:p>
                  </a:txBody>
                  <a:tcPr marL="0" marR="0" marT="0" marB="0" anchor="ctr"/>
                </a:tc>
                <a:tc>
                  <a:txBody>
                    <a:bodyPr/>
                    <a:lstStyle/>
                    <a:p>
                      <a:pPr marL="44450" marR="86360" algn="r">
                        <a:lnSpc>
                          <a:spcPts val="1030"/>
                        </a:lnSpc>
                        <a:spcBef>
                          <a:spcPts val="295"/>
                        </a:spcBef>
                        <a:buNone/>
                      </a:pPr>
                      <a:r>
                        <a:rPr lang="fr-FR" sz="1400" b="0" i="0" kern="1200">
                          <a:solidFill>
                            <a:schemeClr val="tx1"/>
                          </a:solidFill>
                          <a:effectLst/>
                          <a:latin typeface="Inter"/>
                          <a:ea typeface="+mn-ea"/>
                          <a:cs typeface="+mn-cs"/>
                        </a:rPr>
                        <a:t>73 484</a:t>
                      </a:r>
                      <a:endParaRPr lang="fr-FR" sz="1400" b="0" i="0" kern="1200" dirty="0">
                        <a:solidFill>
                          <a:schemeClr val="tx1"/>
                        </a:solidFill>
                        <a:effectLst/>
                        <a:latin typeface="Inter"/>
                        <a:ea typeface="+mn-ea"/>
                        <a:cs typeface="+mn-cs"/>
                      </a:endParaRPr>
                    </a:p>
                  </a:txBody>
                  <a:tcPr marL="0" marR="0" marT="0" marB="0" anchor="ctr"/>
                </a:tc>
                <a:tc>
                  <a:txBody>
                    <a:bodyPr/>
                    <a:lstStyle/>
                    <a:p>
                      <a:pPr marL="44450" marR="86360" algn="r">
                        <a:lnSpc>
                          <a:spcPts val="1030"/>
                        </a:lnSpc>
                        <a:spcBef>
                          <a:spcPts val="295"/>
                        </a:spcBef>
                        <a:buNone/>
                      </a:pPr>
                      <a:r>
                        <a:rPr lang="fr-FR" sz="1400" b="0" i="0" kern="1200">
                          <a:solidFill>
                            <a:schemeClr val="tx1"/>
                          </a:solidFill>
                          <a:effectLst/>
                          <a:latin typeface="Inter"/>
                          <a:ea typeface="+mn-ea"/>
                          <a:cs typeface="+mn-cs"/>
                        </a:rPr>
                        <a:t>27,69</a:t>
                      </a:r>
                      <a:endParaRPr lang="fr-FR" sz="1400" b="0" i="0" kern="1200" dirty="0">
                        <a:solidFill>
                          <a:schemeClr val="tx1"/>
                        </a:solidFill>
                        <a:effectLst/>
                        <a:latin typeface="Inter"/>
                        <a:ea typeface="+mn-ea"/>
                        <a:cs typeface="+mn-cs"/>
                      </a:endParaRPr>
                    </a:p>
                  </a:txBody>
                  <a:tcPr marL="0" marR="0" marT="0" marB="0" anchor="ctr"/>
                </a:tc>
                <a:extLst>
                  <a:ext uri="{0D108BD9-81ED-4DB2-BD59-A6C34878D82A}">
                    <a16:rowId xmlns:a16="http://schemas.microsoft.com/office/drawing/2014/main" val="3612005163"/>
                  </a:ext>
                </a:extLst>
              </a:tr>
              <a:tr h="342209">
                <a:tc>
                  <a:txBody>
                    <a:bodyPr/>
                    <a:lstStyle/>
                    <a:p>
                      <a:pPr marL="89535" marR="80645">
                        <a:lnSpc>
                          <a:spcPts val="1030"/>
                        </a:lnSpc>
                        <a:spcBef>
                          <a:spcPts val="295"/>
                        </a:spcBef>
                        <a:buNone/>
                      </a:pPr>
                      <a:r>
                        <a:rPr lang="fr-FR" sz="1400" b="0" i="0" kern="1200" dirty="0">
                          <a:solidFill>
                            <a:schemeClr val="tx1"/>
                          </a:solidFill>
                          <a:effectLst/>
                          <a:latin typeface="Inter"/>
                          <a:ea typeface="+mn-ea"/>
                          <a:cs typeface="+mn-cs"/>
                        </a:rPr>
                        <a:t>Entretiens, Réparations</a:t>
                      </a:r>
                    </a:p>
                  </a:txBody>
                  <a:tcPr marL="0" marR="0" marT="0" marB="0" anchor="ctr"/>
                </a:tc>
                <a:tc>
                  <a:txBody>
                    <a:bodyPr/>
                    <a:lstStyle/>
                    <a:p>
                      <a:pPr marL="92075" marR="88265" algn="r">
                        <a:lnSpc>
                          <a:spcPts val="1030"/>
                        </a:lnSpc>
                        <a:spcBef>
                          <a:spcPts val="295"/>
                        </a:spcBef>
                        <a:buNone/>
                      </a:pPr>
                      <a:r>
                        <a:rPr lang="fr-FR" sz="1400" b="0" i="0" kern="1200">
                          <a:solidFill>
                            <a:schemeClr val="tx1"/>
                          </a:solidFill>
                          <a:effectLst/>
                          <a:latin typeface="Inter"/>
                          <a:ea typeface="+mn-ea"/>
                          <a:cs typeface="+mn-cs"/>
                        </a:rPr>
                        <a:t>52 368</a:t>
                      </a:r>
                      <a:endParaRPr lang="fr-FR" sz="1400" b="0" i="0" kern="1200" dirty="0">
                        <a:solidFill>
                          <a:schemeClr val="tx1"/>
                        </a:solidFill>
                        <a:effectLst/>
                        <a:latin typeface="Inter"/>
                        <a:ea typeface="+mn-ea"/>
                        <a:cs typeface="+mn-cs"/>
                      </a:endParaRPr>
                    </a:p>
                  </a:txBody>
                  <a:tcPr marL="0" marR="0" marT="0" marB="0" anchor="ctr"/>
                </a:tc>
                <a:tc>
                  <a:txBody>
                    <a:bodyPr/>
                    <a:lstStyle/>
                    <a:p>
                      <a:pPr marL="92075" marR="128270" algn="r">
                        <a:lnSpc>
                          <a:spcPts val="1030"/>
                        </a:lnSpc>
                        <a:spcBef>
                          <a:spcPts val="295"/>
                        </a:spcBef>
                        <a:buNone/>
                      </a:pPr>
                      <a:r>
                        <a:rPr lang="fr-FR" sz="1400" b="0" i="0" kern="1200">
                          <a:solidFill>
                            <a:schemeClr val="tx1"/>
                          </a:solidFill>
                          <a:effectLst/>
                          <a:latin typeface="Inter"/>
                          <a:ea typeface="+mn-ea"/>
                          <a:cs typeface="+mn-cs"/>
                        </a:rPr>
                        <a:t>36 584</a:t>
                      </a:r>
                      <a:endParaRPr lang="fr-FR" sz="1400" b="0" i="0" kern="1200" dirty="0">
                        <a:solidFill>
                          <a:schemeClr val="tx1"/>
                        </a:solidFill>
                        <a:effectLst/>
                        <a:latin typeface="Inter"/>
                        <a:ea typeface="+mn-ea"/>
                        <a:cs typeface="+mn-cs"/>
                      </a:endParaRPr>
                    </a:p>
                  </a:txBody>
                  <a:tcPr marL="0" marR="0" marT="0" marB="0" anchor="ctr"/>
                </a:tc>
                <a:tc>
                  <a:txBody>
                    <a:bodyPr/>
                    <a:lstStyle/>
                    <a:p>
                      <a:pPr marL="44450" marR="86360" algn="r">
                        <a:lnSpc>
                          <a:spcPts val="1030"/>
                        </a:lnSpc>
                        <a:spcBef>
                          <a:spcPts val="295"/>
                        </a:spcBef>
                        <a:buNone/>
                      </a:pPr>
                      <a:r>
                        <a:rPr lang="fr-FR" sz="1400" b="0" i="0" kern="1200">
                          <a:solidFill>
                            <a:schemeClr val="tx1"/>
                          </a:solidFill>
                          <a:effectLst/>
                          <a:latin typeface="Inter"/>
                          <a:ea typeface="+mn-ea"/>
                          <a:cs typeface="+mn-cs"/>
                        </a:rPr>
                        <a:t>15 784</a:t>
                      </a:r>
                      <a:endParaRPr lang="fr-FR" sz="1400" b="0" i="0" kern="1200" dirty="0">
                        <a:solidFill>
                          <a:schemeClr val="tx1"/>
                        </a:solidFill>
                        <a:effectLst/>
                        <a:latin typeface="Inter"/>
                        <a:ea typeface="+mn-ea"/>
                        <a:cs typeface="+mn-cs"/>
                      </a:endParaRPr>
                    </a:p>
                  </a:txBody>
                  <a:tcPr marL="0" marR="0" marT="0" marB="0" anchor="ctr"/>
                </a:tc>
                <a:tc>
                  <a:txBody>
                    <a:bodyPr/>
                    <a:lstStyle/>
                    <a:p>
                      <a:pPr marL="44450" marR="86360" algn="r">
                        <a:lnSpc>
                          <a:spcPts val="1030"/>
                        </a:lnSpc>
                        <a:spcBef>
                          <a:spcPts val="295"/>
                        </a:spcBef>
                        <a:buNone/>
                      </a:pPr>
                      <a:r>
                        <a:rPr lang="fr-FR" sz="1400" b="0" i="0" kern="1200">
                          <a:solidFill>
                            <a:schemeClr val="tx1"/>
                          </a:solidFill>
                          <a:effectLst/>
                          <a:latin typeface="Inter"/>
                          <a:ea typeface="+mn-ea"/>
                          <a:cs typeface="+mn-cs"/>
                        </a:rPr>
                        <a:t>43,15</a:t>
                      </a:r>
                      <a:endParaRPr lang="fr-FR" sz="1400" b="0" i="0" kern="1200" dirty="0">
                        <a:solidFill>
                          <a:schemeClr val="tx1"/>
                        </a:solidFill>
                        <a:effectLst/>
                        <a:latin typeface="Inter"/>
                        <a:ea typeface="+mn-ea"/>
                        <a:cs typeface="+mn-cs"/>
                      </a:endParaRPr>
                    </a:p>
                  </a:txBody>
                  <a:tcPr marL="0" marR="0" marT="0" marB="0" anchor="ctr"/>
                </a:tc>
                <a:extLst>
                  <a:ext uri="{0D108BD9-81ED-4DB2-BD59-A6C34878D82A}">
                    <a16:rowId xmlns:a16="http://schemas.microsoft.com/office/drawing/2014/main" val="1133370393"/>
                  </a:ext>
                </a:extLst>
              </a:tr>
              <a:tr h="342209">
                <a:tc>
                  <a:txBody>
                    <a:bodyPr/>
                    <a:lstStyle/>
                    <a:p>
                      <a:pPr marL="89535" marR="80645">
                        <a:lnSpc>
                          <a:spcPts val="1030"/>
                        </a:lnSpc>
                        <a:spcBef>
                          <a:spcPts val="295"/>
                        </a:spcBef>
                        <a:buNone/>
                      </a:pPr>
                      <a:r>
                        <a:rPr lang="fr-FR" sz="1400" b="0" i="0" kern="1200" dirty="0">
                          <a:solidFill>
                            <a:schemeClr val="tx1"/>
                          </a:solidFill>
                          <a:effectLst/>
                          <a:latin typeface="Inter"/>
                          <a:ea typeface="+mn-ea"/>
                          <a:cs typeface="+mn-cs"/>
                        </a:rPr>
                        <a:t>Primes d'assurance</a:t>
                      </a:r>
                    </a:p>
                  </a:txBody>
                  <a:tcPr marL="0" marR="0" marT="0" marB="0" anchor="ctr"/>
                </a:tc>
                <a:tc>
                  <a:txBody>
                    <a:bodyPr/>
                    <a:lstStyle/>
                    <a:p>
                      <a:pPr marL="92075" marR="88265" algn="r">
                        <a:lnSpc>
                          <a:spcPts val="1030"/>
                        </a:lnSpc>
                        <a:spcBef>
                          <a:spcPts val="295"/>
                        </a:spcBef>
                        <a:buNone/>
                      </a:pPr>
                      <a:r>
                        <a:rPr lang="fr-FR" sz="1400" b="0" i="0" kern="1200">
                          <a:solidFill>
                            <a:schemeClr val="tx1"/>
                          </a:solidFill>
                          <a:effectLst/>
                          <a:latin typeface="Inter"/>
                          <a:ea typeface="+mn-ea"/>
                          <a:cs typeface="+mn-cs"/>
                        </a:rPr>
                        <a:t>16 497</a:t>
                      </a:r>
                      <a:endParaRPr lang="fr-FR" sz="1400" b="0" i="0" kern="1200" dirty="0">
                        <a:solidFill>
                          <a:schemeClr val="tx1"/>
                        </a:solidFill>
                        <a:effectLst/>
                        <a:latin typeface="Inter"/>
                        <a:ea typeface="+mn-ea"/>
                        <a:cs typeface="+mn-cs"/>
                      </a:endParaRPr>
                    </a:p>
                  </a:txBody>
                  <a:tcPr marL="0" marR="0" marT="0" marB="0" anchor="ctr"/>
                </a:tc>
                <a:tc>
                  <a:txBody>
                    <a:bodyPr/>
                    <a:lstStyle/>
                    <a:p>
                      <a:pPr marL="92075" marR="128270" algn="r">
                        <a:lnSpc>
                          <a:spcPts val="1030"/>
                        </a:lnSpc>
                        <a:spcBef>
                          <a:spcPts val="295"/>
                        </a:spcBef>
                        <a:buNone/>
                      </a:pPr>
                      <a:r>
                        <a:rPr lang="fr-FR" sz="1400" b="0" i="0" kern="1200">
                          <a:solidFill>
                            <a:schemeClr val="tx1"/>
                          </a:solidFill>
                          <a:effectLst/>
                          <a:latin typeface="Inter"/>
                          <a:ea typeface="+mn-ea"/>
                          <a:cs typeface="+mn-cs"/>
                        </a:rPr>
                        <a:t>7 090</a:t>
                      </a:r>
                      <a:endParaRPr lang="fr-FR" sz="1400" b="0" i="0" kern="1200" dirty="0">
                        <a:solidFill>
                          <a:schemeClr val="tx1"/>
                        </a:solidFill>
                        <a:effectLst/>
                        <a:latin typeface="Inter"/>
                        <a:ea typeface="+mn-ea"/>
                        <a:cs typeface="+mn-cs"/>
                      </a:endParaRPr>
                    </a:p>
                  </a:txBody>
                  <a:tcPr marL="0" marR="0" marT="0" marB="0" anchor="ctr"/>
                </a:tc>
                <a:tc>
                  <a:txBody>
                    <a:bodyPr/>
                    <a:lstStyle/>
                    <a:p>
                      <a:pPr marL="44450" marR="86360" algn="r">
                        <a:lnSpc>
                          <a:spcPts val="1030"/>
                        </a:lnSpc>
                        <a:spcBef>
                          <a:spcPts val="295"/>
                        </a:spcBef>
                        <a:buNone/>
                      </a:pPr>
                      <a:r>
                        <a:rPr lang="fr-FR" sz="1400" b="0" i="0" kern="1200">
                          <a:solidFill>
                            <a:schemeClr val="tx1"/>
                          </a:solidFill>
                          <a:effectLst/>
                          <a:latin typeface="Inter"/>
                          <a:ea typeface="+mn-ea"/>
                          <a:cs typeface="+mn-cs"/>
                        </a:rPr>
                        <a:t>9 407</a:t>
                      </a:r>
                      <a:endParaRPr lang="fr-FR" sz="1400" b="0" i="0" kern="1200" dirty="0">
                        <a:solidFill>
                          <a:schemeClr val="tx1"/>
                        </a:solidFill>
                        <a:effectLst/>
                        <a:latin typeface="Inter"/>
                        <a:ea typeface="+mn-ea"/>
                        <a:cs typeface="+mn-cs"/>
                      </a:endParaRPr>
                    </a:p>
                  </a:txBody>
                  <a:tcPr marL="0" marR="0" marT="0" marB="0" anchor="ctr"/>
                </a:tc>
                <a:tc>
                  <a:txBody>
                    <a:bodyPr/>
                    <a:lstStyle/>
                    <a:p>
                      <a:pPr marL="44450" marR="86360" algn="r">
                        <a:lnSpc>
                          <a:spcPts val="1030"/>
                        </a:lnSpc>
                        <a:spcBef>
                          <a:spcPts val="295"/>
                        </a:spcBef>
                        <a:buNone/>
                      </a:pPr>
                      <a:r>
                        <a:rPr lang="fr-FR" sz="1400" b="0" i="0" kern="1200">
                          <a:solidFill>
                            <a:schemeClr val="tx1"/>
                          </a:solidFill>
                          <a:effectLst/>
                          <a:latin typeface="Inter"/>
                          <a:ea typeface="+mn-ea"/>
                          <a:cs typeface="+mn-cs"/>
                        </a:rPr>
                        <a:t>NS</a:t>
                      </a:r>
                      <a:endParaRPr lang="fr-FR" sz="1400" b="0" i="0" kern="1200" dirty="0">
                        <a:solidFill>
                          <a:schemeClr val="tx1"/>
                        </a:solidFill>
                        <a:effectLst/>
                        <a:latin typeface="Inter"/>
                        <a:ea typeface="+mn-ea"/>
                        <a:cs typeface="+mn-cs"/>
                      </a:endParaRPr>
                    </a:p>
                  </a:txBody>
                  <a:tcPr marL="0" marR="0" marT="0" marB="0" anchor="ctr"/>
                </a:tc>
                <a:extLst>
                  <a:ext uri="{0D108BD9-81ED-4DB2-BD59-A6C34878D82A}">
                    <a16:rowId xmlns:a16="http://schemas.microsoft.com/office/drawing/2014/main" val="3257870821"/>
                  </a:ext>
                </a:extLst>
              </a:tr>
              <a:tr h="342209">
                <a:tc>
                  <a:txBody>
                    <a:bodyPr/>
                    <a:lstStyle/>
                    <a:p>
                      <a:pPr marL="89535" marR="80645">
                        <a:lnSpc>
                          <a:spcPts val="1030"/>
                        </a:lnSpc>
                        <a:spcBef>
                          <a:spcPts val="295"/>
                        </a:spcBef>
                        <a:buNone/>
                      </a:pPr>
                      <a:r>
                        <a:rPr lang="fr-FR" sz="1400" b="0" i="0" kern="1200">
                          <a:solidFill>
                            <a:schemeClr val="tx1"/>
                          </a:solidFill>
                          <a:effectLst/>
                          <a:latin typeface="Inter"/>
                          <a:ea typeface="+mn-ea"/>
                          <a:cs typeface="+mn-cs"/>
                        </a:rPr>
                        <a:t>Personnel extérieur</a:t>
                      </a:r>
                    </a:p>
                  </a:txBody>
                  <a:tcPr marL="0" marR="0" marT="0" marB="0" anchor="ctr"/>
                </a:tc>
                <a:tc>
                  <a:txBody>
                    <a:bodyPr/>
                    <a:lstStyle/>
                    <a:p>
                      <a:pPr marL="92075" marR="88265" algn="r">
                        <a:lnSpc>
                          <a:spcPts val="1030"/>
                        </a:lnSpc>
                        <a:spcBef>
                          <a:spcPts val="295"/>
                        </a:spcBef>
                        <a:buNone/>
                      </a:pPr>
                      <a:r>
                        <a:rPr lang="fr-FR" sz="1400" b="0" i="0" kern="1200">
                          <a:solidFill>
                            <a:schemeClr val="tx1"/>
                          </a:solidFill>
                          <a:effectLst/>
                          <a:latin typeface="Inter"/>
                          <a:ea typeface="+mn-ea"/>
                          <a:cs typeface="+mn-cs"/>
                        </a:rPr>
                        <a:t>17 314</a:t>
                      </a:r>
                      <a:endParaRPr lang="fr-FR" sz="1400" b="0" i="0" kern="1200" dirty="0">
                        <a:solidFill>
                          <a:schemeClr val="tx1"/>
                        </a:solidFill>
                        <a:effectLst/>
                        <a:latin typeface="Inter"/>
                        <a:ea typeface="+mn-ea"/>
                        <a:cs typeface="+mn-cs"/>
                      </a:endParaRPr>
                    </a:p>
                  </a:txBody>
                  <a:tcPr marL="0" marR="0" marT="0" marB="0" anchor="ctr"/>
                </a:tc>
                <a:tc>
                  <a:txBody>
                    <a:bodyPr/>
                    <a:lstStyle/>
                    <a:p>
                      <a:pPr marL="92075" marR="128270" algn="r">
                        <a:lnSpc>
                          <a:spcPts val="1030"/>
                        </a:lnSpc>
                        <a:spcBef>
                          <a:spcPts val="295"/>
                        </a:spcBef>
                        <a:buNone/>
                      </a:pPr>
                      <a:r>
                        <a:rPr lang="fr-FR" sz="1400" b="0" i="0" kern="1200">
                          <a:solidFill>
                            <a:schemeClr val="tx1"/>
                          </a:solidFill>
                          <a:effectLst/>
                          <a:latin typeface="Inter"/>
                          <a:ea typeface="+mn-ea"/>
                          <a:cs typeface="+mn-cs"/>
                        </a:rPr>
                        <a:t>17 047</a:t>
                      </a:r>
                      <a:endParaRPr lang="fr-FR" sz="1400" b="0" i="0" kern="1200" dirty="0">
                        <a:solidFill>
                          <a:schemeClr val="tx1"/>
                        </a:solidFill>
                        <a:effectLst/>
                        <a:latin typeface="Inter"/>
                        <a:ea typeface="+mn-ea"/>
                        <a:cs typeface="+mn-cs"/>
                      </a:endParaRPr>
                    </a:p>
                  </a:txBody>
                  <a:tcPr marL="0" marR="0" marT="0" marB="0" anchor="ctr"/>
                </a:tc>
                <a:tc>
                  <a:txBody>
                    <a:bodyPr/>
                    <a:lstStyle/>
                    <a:p>
                      <a:pPr marL="44450" marR="86360" algn="r">
                        <a:lnSpc>
                          <a:spcPts val="1030"/>
                        </a:lnSpc>
                        <a:spcBef>
                          <a:spcPts val="295"/>
                        </a:spcBef>
                        <a:buNone/>
                      </a:pPr>
                      <a:r>
                        <a:rPr lang="fr-FR" sz="1400" b="0" i="0" kern="1200">
                          <a:solidFill>
                            <a:schemeClr val="tx1"/>
                          </a:solidFill>
                          <a:effectLst/>
                          <a:latin typeface="Inter"/>
                          <a:ea typeface="+mn-ea"/>
                          <a:cs typeface="+mn-cs"/>
                        </a:rPr>
                        <a:t>266</a:t>
                      </a:r>
                      <a:endParaRPr lang="fr-FR" sz="1400" b="0" i="0" kern="1200" dirty="0">
                        <a:solidFill>
                          <a:schemeClr val="tx1"/>
                        </a:solidFill>
                        <a:effectLst/>
                        <a:latin typeface="Inter"/>
                        <a:ea typeface="+mn-ea"/>
                        <a:cs typeface="+mn-cs"/>
                      </a:endParaRPr>
                    </a:p>
                  </a:txBody>
                  <a:tcPr marL="0" marR="0" marT="0" marB="0" anchor="ctr"/>
                </a:tc>
                <a:tc>
                  <a:txBody>
                    <a:bodyPr/>
                    <a:lstStyle/>
                    <a:p>
                      <a:pPr marL="44450" marR="86360" algn="r">
                        <a:lnSpc>
                          <a:spcPts val="1030"/>
                        </a:lnSpc>
                        <a:spcBef>
                          <a:spcPts val="295"/>
                        </a:spcBef>
                        <a:buNone/>
                      </a:pPr>
                      <a:r>
                        <a:rPr lang="fr-FR" sz="1400" b="0" i="0" kern="1200">
                          <a:solidFill>
                            <a:schemeClr val="tx1"/>
                          </a:solidFill>
                          <a:effectLst/>
                          <a:latin typeface="Inter"/>
                          <a:ea typeface="+mn-ea"/>
                          <a:cs typeface="+mn-cs"/>
                        </a:rPr>
                        <a:t>1,56</a:t>
                      </a:r>
                      <a:endParaRPr lang="fr-FR" sz="1400" b="0" i="0" kern="1200" dirty="0">
                        <a:solidFill>
                          <a:schemeClr val="tx1"/>
                        </a:solidFill>
                        <a:effectLst/>
                        <a:latin typeface="Inter"/>
                        <a:ea typeface="+mn-ea"/>
                        <a:cs typeface="+mn-cs"/>
                      </a:endParaRPr>
                    </a:p>
                  </a:txBody>
                  <a:tcPr marL="0" marR="0" marT="0" marB="0" anchor="ctr"/>
                </a:tc>
                <a:extLst>
                  <a:ext uri="{0D108BD9-81ED-4DB2-BD59-A6C34878D82A}">
                    <a16:rowId xmlns:a16="http://schemas.microsoft.com/office/drawing/2014/main" val="1999118265"/>
                  </a:ext>
                </a:extLst>
              </a:tr>
              <a:tr h="342209">
                <a:tc>
                  <a:txBody>
                    <a:bodyPr/>
                    <a:lstStyle/>
                    <a:p>
                      <a:pPr marL="89535" marR="80645">
                        <a:lnSpc>
                          <a:spcPts val="1030"/>
                        </a:lnSpc>
                        <a:spcBef>
                          <a:spcPts val="295"/>
                        </a:spcBef>
                        <a:buNone/>
                      </a:pPr>
                      <a:r>
                        <a:rPr lang="fr-FR" sz="1400" b="0" i="0" kern="1200">
                          <a:solidFill>
                            <a:schemeClr val="tx1"/>
                          </a:solidFill>
                          <a:effectLst/>
                          <a:latin typeface="Inter"/>
                          <a:ea typeface="+mn-ea"/>
                          <a:cs typeface="+mn-cs"/>
                        </a:rPr>
                        <a:t>Intermédiaires et honoraires</a:t>
                      </a:r>
                    </a:p>
                  </a:txBody>
                  <a:tcPr marL="0" marR="0" marT="0" marB="0" anchor="ctr"/>
                </a:tc>
                <a:tc>
                  <a:txBody>
                    <a:bodyPr/>
                    <a:lstStyle/>
                    <a:p>
                      <a:pPr marL="92075" marR="88265" algn="r">
                        <a:lnSpc>
                          <a:spcPts val="1030"/>
                        </a:lnSpc>
                        <a:spcBef>
                          <a:spcPts val="295"/>
                        </a:spcBef>
                        <a:buNone/>
                      </a:pPr>
                      <a:r>
                        <a:rPr lang="fr-FR" sz="1400" b="0" i="0" kern="1200">
                          <a:solidFill>
                            <a:schemeClr val="tx1"/>
                          </a:solidFill>
                          <a:effectLst/>
                          <a:latin typeface="Inter"/>
                          <a:ea typeface="+mn-ea"/>
                          <a:cs typeface="+mn-cs"/>
                        </a:rPr>
                        <a:t>172 811</a:t>
                      </a:r>
                      <a:endParaRPr lang="fr-FR" sz="1400" b="0" i="0" kern="1200" dirty="0">
                        <a:solidFill>
                          <a:schemeClr val="tx1"/>
                        </a:solidFill>
                        <a:effectLst/>
                        <a:latin typeface="Inter"/>
                        <a:ea typeface="+mn-ea"/>
                        <a:cs typeface="+mn-cs"/>
                      </a:endParaRPr>
                    </a:p>
                  </a:txBody>
                  <a:tcPr marL="0" marR="0" marT="0" marB="0" anchor="ctr"/>
                </a:tc>
                <a:tc>
                  <a:txBody>
                    <a:bodyPr/>
                    <a:lstStyle/>
                    <a:p>
                      <a:pPr marL="92075" marR="128270" algn="r">
                        <a:lnSpc>
                          <a:spcPts val="1030"/>
                        </a:lnSpc>
                        <a:spcBef>
                          <a:spcPts val="295"/>
                        </a:spcBef>
                        <a:buNone/>
                      </a:pPr>
                      <a:r>
                        <a:rPr lang="fr-FR" sz="1400" b="0" i="0" kern="1200">
                          <a:solidFill>
                            <a:schemeClr val="tx1"/>
                          </a:solidFill>
                          <a:effectLst/>
                          <a:latin typeface="Inter"/>
                          <a:ea typeface="+mn-ea"/>
                          <a:cs typeface="+mn-cs"/>
                        </a:rPr>
                        <a:t>128 128</a:t>
                      </a:r>
                      <a:endParaRPr lang="fr-FR" sz="1400" b="0" i="0" kern="1200" dirty="0">
                        <a:solidFill>
                          <a:schemeClr val="tx1"/>
                        </a:solidFill>
                        <a:effectLst/>
                        <a:latin typeface="Inter"/>
                        <a:ea typeface="+mn-ea"/>
                        <a:cs typeface="+mn-cs"/>
                      </a:endParaRPr>
                    </a:p>
                  </a:txBody>
                  <a:tcPr marL="0" marR="0" marT="0" marB="0" anchor="ctr"/>
                </a:tc>
                <a:tc>
                  <a:txBody>
                    <a:bodyPr/>
                    <a:lstStyle/>
                    <a:p>
                      <a:pPr marL="44450" marR="86360" algn="r">
                        <a:lnSpc>
                          <a:spcPts val="1030"/>
                        </a:lnSpc>
                        <a:spcBef>
                          <a:spcPts val="295"/>
                        </a:spcBef>
                        <a:buNone/>
                      </a:pPr>
                      <a:r>
                        <a:rPr lang="fr-FR" sz="1400" b="0" i="0" kern="1200">
                          <a:solidFill>
                            <a:schemeClr val="tx1"/>
                          </a:solidFill>
                          <a:effectLst/>
                          <a:latin typeface="Inter"/>
                          <a:ea typeface="+mn-ea"/>
                          <a:cs typeface="+mn-cs"/>
                        </a:rPr>
                        <a:t>44 683</a:t>
                      </a:r>
                      <a:endParaRPr lang="fr-FR" sz="1400" b="0" i="0" kern="1200" dirty="0">
                        <a:solidFill>
                          <a:schemeClr val="tx1"/>
                        </a:solidFill>
                        <a:effectLst/>
                        <a:latin typeface="Inter"/>
                        <a:ea typeface="+mn-ea"/>
                        <a:cs typeface="+mn-cs"/>
                      </a:endParaRPr>
                    </a:p>
                  </a:txBody>
                  <a:tcPr marL="0" marR="0" marT="0" marB="0" anchor="ctr"/>
                </a:tc>
                <a:tc>
                  <a:txBody>
                    <a:bodyPr/>
                    <a:lstStyle/>
                    <a:p>
                      <a:pPr marL="44450" marR="86360" algn="r">
                        <a:lnSpc>
                          <a:spcPts val="1030"/>
                        </a:lnSpc>
                        <a:spcBef>
                          <a:spcPts val="295"/>
                        </a:spcBef>
                        <a:buNone/>
                      </a:pPr>
                      <a:r>
                        <a:rPr lang="fr-FR" sz="1400" b="0" i="0" kern="1200">
                          <a:solidFill>
                            <a:schemeClr val="tx1"/>
                          </a:solidFill>
                          <a:effectLst/>
                          <a:latin typeface="Inter"/>
                          <a:ea typeface="+mn-ea"/>
                          <a:cs typeface="+mn-cs"/>
                        </a:rPr>
                        <a:t>34,87</a:t>
                      </a:r>
                      <a:endParaRPr lang="fr-FR" sz="1400" b="0" i="0" kern="1200" dirty="0">
                        <a:solidFill>
                          <a:schemeClr val="tx1"/>
                        </a:solidFill>
                        <a:effectLst/>
                        <a:latin typeface="Inter"/>
                        <a:ea typeface="+mn-ea"/>
                        <a:cs typeface="+mn-cs"/>
                      </a:endParaRPr>
                    </a:p>
                  </a:txBody>
                  <a:tcPr marL="0" marR="0" marT="0" marB="0" anchor="ctr"/>
                </a:tc>
                <a:extLst>
                  <a:ext uri="{0D108BD9-81ED-4DB2-BD59-A6C34878D82A}">
                    <a16:rowId xmlns:a16="http://schemas.microsoft.com/office/drawing/2014/main" val="2773968795"/>
                  </a:ext>
                </a:extLst>
              </a:tr>
              <a:tr h="342209">
                <a:tc>
                  <a:txBody>
                    <a:bodyPr/>
                    <a:lstStyle/>
                    <a:p>
                      <a:pPr marL="89535" marR="80645">
                        <a:lnSpc>
                          <a:spcPts val="1030"/>
                        </a:lnSpc>
                        <a:spcBef>
                          <a:spcPts val="295"/>
                        </a:spcBef>
                        <a:buNone/>
                      </a:pPr>
                      <a:r>
                        <a:rPr lang="fr-FR" sz="1400" b="0" i="0" kern="1200" dirty="0">
                          <a:solidFill>
                            <a:schemeClr val="tx1"/>
                          </a:solidFill>
                          <a:effectLst/>
                          <a:latin typeface="Inter"/>
                          <a:ea typeface="+mn-ea"/>
                          <a:cs typeface="+mn-cs"/>
                        </a:rPr>
                        <a:t>Publicité</a:t>
                      </a:r>
                    </a:p>
                  </a:txBody>
                  <a:tcPr marL="0" marR="0" marT="0" marB="0" anchor="ctr"/>
                </a:tc>
                <a:tc>
                  <a:txBody>
                    <a:bodyPr/>
                    <a:lstStyle/>
                    <a:p>
                      <a:pPr marL="92075" marR="88265" algn="r">
                        <a:lnSpc>
                          <a:spcPts val="1030"/>
                        </a:lnSpc>
                        <a:spcBef>
                          <a:spcPts val="295"/>
                        </a:spcBef>
                        <a:buNone/>
                      </a:pPr>
                      <a:r>
                        <a:rPr lang="fr-FR" sz="1400" b="0" i="0" kern="1200">
                          <a:solidFill>
                            <a:schemeClr val="tx1"/>
                          </a:solidFill>
                          <a:effectLst/>
                          <a:latin typeface="Inter"/>
                          <a:ea typeface="+mn-ea"/>
                          <a:cs typeface="+mn-cs"/>
                        </a:rPr>
                        <a:t>43 196</a:t>
                      </a:r>
                      <a:endParaRPr lang="fr-FR" sz="1400" b="0" i="0" kern="1200" dirty="0">
                        <a:solidFill>
                          <a:schemeClr val="tx1"/>
                        </a:solidFill>
                        <a:effectLst/>
                        <a:latin typeface="Inter"/>
                        <a:ea typeface="+mn-ea"/>
                        <a:cs typeface="+mn-cs"/>
                      </a:endParaRPr>
                    </a:p>
                  </a:txBody>
                  <a:tcPr marL="0" marR="0" marT="0" marB="0" anchor="ctr"/>
                </a:tc>
                <a:tc>
                  <a:txBody>
                    <a:bodyPr/>
                    <a:lstStyle/>
                    <a:p>
                      <a:pPr marL="92075" marR="128270" algn="r">
                        <a:lnSpc>
                          <a:spcPts val="1030"/>
                        </a:lnSpc>
                        <a:spcBef>
                          <a:spcPts val="295"/>
                        </a:spcBef>
                        <a:buNone/>
                      </a:pPr>
                      <a:r>
                        <a:rPr lang="fr-FR" sz="1400" b="0" i="0" kern="1200">
                          <a:solidFill>
                            <a:schemeClr val="tx1"/>
                          </a:solidFill>
                          <a:effectLst/>
                          <a:latin typeface="Inter"/>
                          <a:ea typeface="+mn-ea"/>
                          <a:cs typeface="+mn-cs"/>
                        </a:rPr>
                        <a:t>37 267</a:t>
                      </a:r>
                      <a:endParaRPr lang="fr-FR" sz="1400" b="0" i="0" kern="1200" dirty="0">
                        <a:solidFill>
                          <a:schemeClr val="tx1"/>
                        </a:solidFill>
                        <a:effectLst/>
                        <a:latin typeface="Inter"/>
                        <a:ea typeface="+mn-ea"/>
                        <a:cs typeface="+mn-cs"/>
                      </a:endParaRPr>
                    </a:p>
                  </a:txBody>
                  <a:tcPr marL="0" marR="0" marT="0" marB="0" anchor="ctr"/>
                </a:tc>
                <a:tc>
                  <a:txBody>
                    <a:bodyPr/>
                    <a:lstStyle/>
                    <a:p>
                      <a:pPr marL="44450" marR="86360" algn="r">
                        <a:lnSpc>
                          <a:spcPts val="1030"/>
                        </a:lnSpc>
                        <a:spcBef>
                          <a:spcPts val="295"/>
                        </a:spcBef>
                        <a:buNone/>
                      </a:pPr>
                      <a:r>
                        <a:rPr lang="fr-FR" sz="1400" b="0" i="0" kern="1200">
                          <a:solidFill>
                            <a:schemeClr val="tx1"/>
                          </a:solidFill>
                          <a:effectLst/>
                          <a:latin typeface="Inter"/>
                          <a:ea typeface="+mn-ea"/>
                          <a:cs typeface="+mn-cs"/>
                        </a:rPr>
                        <a:t>5 929</a:t>
                      </a:r>
                      <a:endParaRPr lang="fr-FR" sz="1400" b="0" i="0" kern="1200" dirty="0">
                        <a:solidFill>
                          <a:schemeClr val="tx1"/>
                        </a:solidFill>
                        <a:effectLst/>
                        <a:latin typeface="Inter"/>
                        <a:ea typeface="+mn-ea"/>
                        <a:cs typeface="+mn-cs"/>
                      </a:endParaRPr>
                    </a:p>
                  </a:txBody>
                  <a:tcPr marL="0" marR="0" marT="0" marB="0" anchor="ctr"/>
                </a:tc>
                <a:tc>
                  <a:txBody>
                    <a:bodyPr/>
                    <a:lstStyle/>
                    <a:p>
                      <a:pPr marL="44450" marR="86360" algn="r">
                        <a:lnSpc>
                          <a:spcPts val="1030"/>
                        </a:lnSpc>
                        <a:spcBef>
                          <a:spcPts val="295"/>
                        </a:spcBef>
                        <a:buNone/>
                      </a:pPr>
                      <a:r>
                        <a:rPr lang="fr-FR" sz="1400" b="0" i="0" kern="1200">
                          <a:solidFill>
                            <a:schemeClr val="tx1"/>
                          </a:solidFill>
                          <a:effectLst/>
                          <a:latin typeface="Inter"/>
                          <a:ea typeface="+mn-ea"/>
                          <a:cs typeface="+mn-cs"/>
                        </a:rPr>
                        <a:t>15,91</a:t>
                      </a:r>
                      <a:endParaRPr lang="fr-FR" sz="1400" b="0" i="0" kern="1200" dirty="0">
                        <a:solidFill>
                          <a:schemeClr val="tx1"/>
                        </a:solidFill>
                        <a:effectLst/>
                        <a:latin typeface="Inter"/>
                        <a:ea typeface="+mn-ea"/>
                        <a:cs typeface="+mn-cs"/>
                      </a:endParaRPr>
                    </a:p>
                  </a:txBody>
                  <a:tcPr marL="0" marR="0" marT="0" marB="0" anchor="ctr"/>
                </a:tc>
                <a:extLst>
                  <a:ext uri="{0D108BD9-81ED-4DB2-BD59-A6C34878D82A}">
                    <a16:rowId xmlns:a16="http://schemas.microsoft.com/office/drawing/2014/main" val="3212845099"/>
                  </a:ext>
                </a:extLst>
              </a:tr>
              <a:tr h="342209">
                <a:tc>
                  <a:txBody>
                    <a:bodyPr/>
                    <a:lstStyle/>
                    <a:p>
                      <a:pPr marL="89535" marR="80645">
                        <a:lnSpc>
                          <a:spcPts val="1030"/>
                        </a:lnSpc>
                        <a:spcBef>
                          <a:spcPts val="295"/>
                        </a:spcBef>
                        <a:buNone/>
                      </a:pPr>
                      <a:r>
                        <a:rPr lang="fr-FR" sz="1400" b="0" i="0" kern="1200">
                          <a:solidFill>
                            <a:schemeClr val="tx1"/>
                          </a:solidFill>
                          <a:effectLst/>
                          <a:latin typeface="Inter"/>
                          <a:ea typeface="+mn-ea"/>
                          <a:cs typeface="+mn-cs"/>
                        </a:rPr>
                        <a:t>Déplacements, Réception</a:t>
                      </a:r>
                    </a:p>
                  </a:txBody>
                  <a:tcPr marL="0" marR="0" marT="0" marB="0" anchor="ctr"/>
                </a:tc>
                <a:tc>
                  <a:txBody>
                    <a:bodyPr/>
                    <a:lstStyle/>
                    <a:p>
                      <a:pPr marL="92075" marR="88265" algn="r">
                        <a:lnSpc>
                          <a:spcPts val="1030"/>
                        </a:lnSpc>
                        <a:spcBef>
                          <a:spcPts val="295"/>
                        </a:spcBef>
                        <a:buNone/>
                      </a:pPr>
                      <a:r>
                        <a:rPr lang="fr-FR" sz="1400" b="0" i="0" kern="1200">
                          <a:solidFill>
                            <a:schemeClr val="tx1"/>
                          </a:solidFill>
                          <a:effectLst/>
                          <a:latin typeface="Inter"/>
                          <a:ea typeface="+mn-ea"/>
                          <a:cs typeface="+mn-cs"/>
                        </a:rPr>
                        <a:t>50 645</a:t>
                      </a:r>
                      <a:endParaRPr lang="fr-FR" sz="1400" b="0" i="0" kern="1200" dirty="0">
                        <a:solidFill>
                          <a:schemeClr val="tx1"/>
                        </a:solidFill>
                        <a:effectLst/>
                        <a:latin typeface="Inter"/>
                        <a:ea typeface="+mn-ea"/>
                        <a:cs typeface="+mn-cs"/>
                      </a:endParaRPr>
                    </a:p>
                  </a:txBody>
                  <a:tcPr marL="0" marR="0" marT="0" marB="0" anchor="ctr"/>
                </a:tc>
                <a:tc>
                  <a:txBody>
                    <a:bodyPr/>
                    <a:lstStyle/>
                    <a:p>
                      <a:pPr marL="92075" marR="128270" algn="r">
                        <a:lnSpc>
                          <a:spcPts val="1030"/>
                        </a:lnSpc>
                        <a:spcBef>
                          <a:spcPts val="295"/>
                        </a:spcBef>
                        <a:buNone/>
                      </a:pPr>
                      <a:r>
                        <a:rPr lang="fr-FR" sz="1400" b="0" i="0" kern="1200">
                          <a:solidFill>
                            <a:schemeClr val="tx1"/>
                          </a:solidFill>
                          <a:effectLst/>
                          <a:latin typeface="Inter"/>
                          <a:ea typeface="+mn-ea"/>
                          <a:cs typeface="+mn-cs"/>
                        </a:rPr>
                        <a:t>24 221</a:t>
                      </a:r>
                      <a:endParaRPr lang="fr-FR" sz="1400" b="0" i="0" kern="1200" dirty="0">
                        <a:solidFill>
                          <a:schemeClr val="tx1"/>
                        </a:solidFill>
                        <a:effectLst/>
                        <a:latin typeface="Inter"/>
                        <a:ea typeface="+mn-ea"/>
                        <a:cs typeface="+mn-cs"/>
                      </a:endParaRPr>
                    </a:p>
                  </a:txBody>
                  <a:tcPr marL="0" marR="0" marT="0" marB="0" anchor="ctr"/>
                </a:tc>
                <a:tc>
                  <a:txBody>
                    <a:bodyPr/>
                    <a:lstStyle/>
                    <a:p>
                      <a:pPr marL="44450" marR="86360" algn="r">
                        <a:lnSpc>
                          <a:spcPts val="1030"/>
                        </a:lnSpc>
                        <a:spcBef>
                          <a:spcPts val="295"/>
                        </a:spcBef>
                        <a:buNone/>
                      </a:pPr>
                      <a:r>
                        <a:rPr lang="fr-FR" sz="1400" b="0" i="0" kern="1200">
                          <a:solidFill>
                            <a:schemeClr val="tx1"/>
                          </a:solidFill>
                          <a:effectLst/>
                          <a:latin typeface="Inter"/>
                          <a:ea typeface="+mn-ea"/>
                          <a:cs typeface="+mn-cs"/>
                        </a:rPr>
                        <a:t>26 424</a:t>
                      </a:r>
                      <a:endParaRPr lang="fr-FR" sz="1400" b="0" i="0" kern="1200" dirty="0">
                        <a:solidFill>
                          <a:schemeClr val="tx1"/>
                        </a:solidFill>
                        <a:effectLst/>
                        <a:latin typeface="Inter"/>
                        <a:ea typeface="+mn-ea"/>
                        <a:cs typeface="+mn-cs"/>
                      </a:endParaRPr>
                    </a:p>
                  </a:txBody>
                  <a:tcPr marL="0" marR="0" marT="0" marB="0" anchor="ctr"/>
                </a:tc>
                <a:tc>
                  <a:txBody>
                    <a:bodyPr/>
                    <a:lstStyle/>
                    <a:p>
                      <a:pPr marL="44450" marR="86360" algn="r">
                        <a:lnSpc>
                          <a:spcPts val="1030"/>
                        </a:lnSpc>
                        <a:spcBef>
                          <a:spcPts val="295"/>
                        </a:spcBef>
                        <a:buNone/>
                      </a:pPr>
                      <a:r>
                        <a:rPr lang="fr-FR" sz="1400" b="0" i="0" kern="1200">
                          <a:solidFill>
                            <a:schemeClr val="tx1"/>
                          </a:solidFill>
                          <a:effectLst/>
                          <a:latin typeface="Inter"/>
                          <a:ea typeface="+mn-ea"/>
                          <a:cs typeface="+mn-cs"/>
                        </a:rPr>
                        <a:t>NS</a:t>
                      </a:r>
                      <a:endParaRPr lang="fr-FR" sz="1400" b="0" i="0" kern="1200" dirty="0">
                        <a:solidFill>
                          <a:schemeClr val="tx1"/>
                        </a:solidFill>
                        <a:effectLst/>
                        <a:latin typeface="Inter"/>
                        <a:ea typeface="+mn-ea"/>
                        <a:cs typeface="+mn-cs"/>
                      </a:endParaRPr>
                    </a:p>
                  </a:txBody>
                  <a:tcPr marL="0" marR="0" marT="0" marB="0" anchor="ctr"/>
                </a:tc>
                <a:extLst>
                  <a:ext uri="{0D108BD9-81ED-4DB2-BD59-A6C34878D82A}">
                    <a16:rowId xmlns:a16="http://schemas.microsoft.com/office/drawing/2014/main" val="761368280"/>
                  </a:ext>
                </a:extLst>
              </a:tr>
              <a:tr h="342209">
                <a:tc>
                  <a:txBody>
                    <a:bodyPr/>
                    <a:lstStyle/>
                    <a:p>
                      <a:pPr marL="89535" marR="80645">
                        <a:lnSpc>
                          <a:spcPts val="1030"/>
                        </a:lnSpc>
                        <a:spcBef>
                          <a:spcPts val="295"/>
                        </a:spcBef>
                        <a:buNone/>
                      </a:pPr>
                      <a:r>
                        <a:rPr lang="fr-FR" sz="1400" b="0" i="0" kern="1200" dirty="0">
                          <a:solidFill>
                            <a:schemeClr val="tx1"/>
                          </a:solidFill>
                          <a:effectLst/>
                          <a:latin typeface="Inter"/>
                          <a:ea typeface="+mn-ea"/>
                          <a:cs typeface="+mn-cs"/>
                        </a:rPr>
                        <a:t>Frais postaux, Télécom.</a:t>
                      </a:r>
                    </a:p>
                  </a:txBody>
                  <a:tcPr marL="0" marR="0" marT="0" marB="0" anchor="ctr"/>
                </a:tc>
                <a:tc>
                  <a:txBody>
                    <a:bodyPr/>
                    <a:lstStyle/>
                    <a:p>
                      <a:pPr marL="92075" marR="88265" algn="r">
                        <a:lnSpc>
                          <a:spcPts val="1030"/>
                        </a:lnSpc>
                        <a:spcBef>
                          <a:spcPts val="295"/>
                        </a:spcBef>
                        <a:buNone/>
                      </a:pPr>
                      <a:r>
                        <a:rPr lang="fr-FR" sz="1400" b="0" i="0" kern="1200">
                          <a:solidFill>
                            <a:schemeClr val="tx1"/>
                          </a:solidFill>
                          <a:effectLst/>
                          <a:latin typeface="Inter"/>
                          <a:ea typeface="+mn-ea"/>
                          <a:cs typeface="+mn-cs"/>
                        </a:rPr>
                        <a:t>15 035</a:t>
                      </a:r>
                      <a:endParaRPr lang="fr-FR" sz="1400" b="0" i="0" kern="1200" dirty="0">
                        <a:solidFill>
                          <a:schemeClr val="tx1"/>
                        </a:solidFill>
                        <a:effectLst/>
                        <a:latin typeface="Inter"/>
                        <a:ea typeface="+mn-ea"/>
                        <a:cs typeface="+mn-cs"/>
                      </a:endParaRPr>
                    </a:p>
                  </a:txBody>
                  <a:tcPr marL="0" marR="0" marT="0" marB="0" anchor="ctr"/>
                </a:tc>
                <a:tc>
                  <a:txBody>
                    <a:bodyPr/>
                    <a:lstStyle/>
                    <a:p>
                      <a:pPr marL="92075" marR="128270" algn="r">
                        <a:lnSpc>
                          <a:spcPts val="1030"/>
                        </a:lnSpc>
                        <a:spcBef>
                          <a:spcPts val="295"/>
                        </a:spcBef>
                        <a:buNone/>
                      </a:pPr>
                      <a:r>
                        <a:rPr lang="fr-FR" sz="1400" b="0" i="0" kern="1200">
                          <a:solidFill>
                            <a:schemeClr val="tx1"/>
                          </a:solidFill>
                          <a:effectLst/>
                          <a:latin typeface="Inter"/>
                          <a:ea typeface="+mn-ea"/>
                          <a:cs typeface="+mn-cs"/>
                        </a:rPr>
                        <a:t>11 125</a:t>
                      </a:r>
                      <a:endParaRPr lang="fr-FR" sz="1400" b="0" i="0" kern="1200" dirty="0">
                        <a:solidFill>
                          <a:schemeClr val="tx1"/>
                        </a:solidFill>
                        <a:effectLst/>
                        <a:latin typeface="Inter"/>
                        <a:ea typeface="+mn-ea"/>
                        <a:cs typeface="+mn-cs"/>
                      </a:endParaRPr>
                    </a:p>
                  </a:txBody>
                  <a:tcPr marL="0" marR="0" marT="0" marB="0" anchor="ctr"/>
                </a:tc>
                <a:tc>
                  <a:txBody>
                    <a:bodyPr/>
                    <a:lstStyle/>
                    <a:p>
                      <a:pPr marL="44450" marR="86360" algn="r">
                        <a:lnSpc>
                          <a:spcPts val="1030"/>
                        </a:lnSpc>
                        <a:spcBef>
                          <a:spcPts val="295"/>
                        </a:spcBef>
                        <a:buNone/>
                      </a:pPr>
                      <a:r>
                        <a:rPr lang="fr-FR" sz="1400" b="0" i="0" kern="1200">
                          <a:solidFill>
                            <a:schemeClr val="tx1"/>
                          </a:solidFill>
                          <a:effectLst/>
                          <a:latin typeface="Inter"/>
                          <a:ea typeface="+mn-ea"/>
                          <a:cs typeface="+mn-cs"/>
                        </a:rPr>
                        <a:t>3 910</a:t>
                      </a:r>
                      <a:endParaRPr lang="fr-FR" sz="1400" b="0" i="0" kern="1200" dirty="0">
                        <a:solidFill>
                          <a:schemeClr val="tx1"/>
                        </a:solidFill>
                        <a:effectLst/>
                        <a:latin typeface="Inter"/>
                        <a:ea typeface="+mn-ea"/>
                        <a:cs typeface="+mn-cs"/>
                      </a:endParaRPr>
                    </a:p>
                  </a:txBody>
                  <a:tcPr marL="0" marR="0" marT="0" marB="0" anchor="ctr"/>
                </a:tc>
                <a:tc>
                  <a:txBody>
                    <a:bodyPr/>
                    <a:lstStyle/>
                    <a:p>
                      <a:pPr marL="44450" marR="86360" algn="r">
                        <a:lnSpc>
                          <a:spcPts val="1030"/>
                        </a:lnSpc>
                        <a:spcBef>
                          <a:spcPts val="295"/>
                        </a:spcBef>
                        <a:buNone/>
                      </a:pPr>
                      <a:r>
                        <a:rPr lang="fr-FR" sz="1400" b="0" i="0" kern="1200">
                          <a:solidFill>
                            <a:schemeClr val="tx1"/>
                          </a:solidFill>
                          <a:effectLst/>
                          <a:latin typeface="Inter"/>
                          <a:ea typeface="+mn-ea"/>
                          <a:cs typeface="+mn-cs"/>
                        </a:rPr>
                        <a:t>35,15</a:t>
                      </a:r>
                      <a:endParaRPr lang="fr-FR" sz="1400" b="0" i="0" kern="1200" dirty="0">
                        <a:solidFill>
                          <a:schemeClr val="tx1"/>
                        </a:solidFill>
                        <a:effectLst/>
                        <a:latin typeface="Inter"/>
                        <a:ea typeface="+mn-ea"/>
                        <a:cs typeface="+mn-cs"/>
                      </a:endParaRPr>
                    </a:p>
                  </a:txBody>
                  <a:tcPr marL="0" marR="0" marT="0" marB="0" anchor="ctr"/>
                </a:tc>
                <a:extLst>
                  <a:ext uri="{0D108BD9-81ED-4DB2-BD59-A6C34878D82A}">
                    <a16:rowId xmlns:a16="http://schemas.microsoft.com/office/drawing/2014/main" val="2655520523"/>
                  </a:ext>
                </a:extLst>
              </a:tr>
              <a:tr h="342209">
                <a:tc>
                  <a:txBody>
                    <a:bodyPr/>
                    <a:lstStyle/>
                    <a:p>
                      <a:pPr marL="89535" marR="80645">
                        <a:lnSpc>
                          <a:spcPts val="1030"/>
                        </a:lnSpc>
                        <a:spcBef>
                          <a:spcPts val="295"/>
                        </a:spcBef>
                        <a:buNone/>
                      </a:pPr>
                      <a:r>
                        <a:rPr lang="fr-FR" sz="1400" b="0" i="0" kern="1200" dirty="0">
                          <a:solidFill>
                            <a:schemeClr val="tx1"/>
                          </a:solidFill>
                          <a:effectLst/>
                          <a:latin typeface="Inter"/>
                          <a:ea typeface="+mn-ea"/>
                          <a:cs typeface="+mn-cs"/>
                        </a:rPr>
                        <a:t>Frais bancaires</a:t>
                      </a:r>
                    </a:p>
                  </a:txBody>
                  <a:tcPr marL="0" marR="0" marT="0" marB="0" anchor="ctr"/>
                </a:tc>
                <a:tc>
                  <a:txBody>
                    <a:bodyPr/>
                    <a:lstStyle/>
                    <a:p>
                      <a:pPr marL="92075" marR="88265" algn="r">
                        <a:lnSpc>
                          <a:spcPts val="1030"/>
                        </a:lnSpc>
                        <a:spcBef>
                          <a:spcPts val="295"/>
                        </a:spcBef>
                        <a:buNone/>
                      </a:pPr>
                      <a:r>
                        <a:rPr lang="fr-FR" sz="1400" b="0" i="0" kern="1200">
                          <a:solidFill>
                            <a:schemeClr val="tx1"/>
                          </a:solidFill>
                          <a:effectLst/>
                          <a:latin typeface="Inter"/>
                          <a:ea typeface="+mn-ea"/>
                          <a:cs typeface="+mn-cs"/>
                        </a:rPr>
                        <a:t>18 256</a:t>
                      </a:r>
                      <a:endParaRPr lang="fr-FR" sz="1400" b="0" i="0" kern="1200" dirty="0">
                        <a:solidFill>
                          <a:schemeClr val="tx1"/>
                        </a:solidFill>
                        <a:effectLst/>
                        <a:latin typeface="Inter"/>
                        <a:ea typeface="+mn-ea"/>
                        <a:cs typeface="+mn-cs"/>
                      </a:endParaRPr>
                    </a:p>
                  </a:txBody>
                  <a:tcPr marL="0" marR="0" marT="0" marB="0" anchor="ctr"/>
                </a:tc>
                <a:tc>
                  <a:txBody>
                    <a:bodyPr/>
                    <a:lstStyle/>
                    <a:p>
                      <a:pPr marL="92075" marR="128270" algn="r">
                        <a:lnSpc>
                          <a:spcPts val="1030"/>
                        </a:lnSpc>
                        <a:spcBef>
                          <a:spcPts val="295"/>
                        </a:spcBef>
                        <a:buNone/>
                      </a:pPr>
                      <a:r>
                        <a:rPr lang="fr-FR" sz="1400" b="0" i="0" kern="1200">
                          <a:solidFill>
                            <a:schemeClr val="tx1"/>
                          </a:solidFill>
                          <a:effectLst/>
                          <a:latin typeface="Inter"/>
                          <a:ea typeface="+mn-ea"/>
                          <a:cs typeface="+mn-cs"/>
                        </a:rPr>
                        <a:t>13 316</a:t>
                      </a:r>
                      <a:endParaRPr lang="fr-FR" sz="1400" b="0" i="0" kern="1200" dirty="0">
                        <a:solidFill>
                          <a:schemeClr val="tx1"/>
                        </a:solidFill>
                        <a:effectLst/>
                        <a:latin typeface="Inter"/>
                        <a:ea typeface="+mn-ea"/>
                        <a:cs typeface="+mn-cs"/>
                      </a:endParaRPr>
                    </a:p>
                  </a:txBody>
                  <a:tcPr marL="0" marR="0" marT="0" marB="0" anchor="ctr"/>
                </a:tc>
                <a:tc>
                  <a:txBody>
                    <a:bodyPr/>
                    <a:lstStyle/>
                    <a:p>
                      <a:pPr marL="44450" marR="86360" algn="r">
                        <a:lnSpc>
                          <a:spcPts val="1030"/>
                        </a:lnSpc>
                        <a:spcBef>
                          <a:spcPts val="295"/>
                        </a:spcBef>
                        <a:buNone/>
                      </a:pPr>
                      <a:r>
                        <a:rPr lang="fr-FR" sz="1400" b="0" i="0" kern="1200">
                          <a:solidFill>
                            <a:schemeClr val="tx1"/>
                          </a:solidFill>
                          <a:effectLst/>
                          <a:latin typeface="Inter"/>
                          <a:ea typeface="+mn-ea"/>
                          <a:cs typeface="+mn-cs"/>
                        </a:rPr>
                        <a:t>4 940</a:t>
                      </a:r>
                      <a:endParaRPr lang="fr-FR" sz="1400" b="0" i="0" kern="1200" dirty="0">
                        <a:solidFill>
                          <a:schemeClr val="tx1"/>
                        </a:solidFill>
                        <a:effectLst/>
                        <a:latin typeface="Inter"/>
                        <a:ea typeface="+mn-ea"/>
                        <a:cs typeface="+mn-cs"/>
                      </a:endParaRPr>
                    </a:p>
                  </a:txBody>
                  <a:tcPr marL="0" marR="0" marT="0" marB="0" anchor="ctr"/>
                </a:tc>
                <a:tc>
                  <a:txBody>
                    <a:bodyPr/>
                    <a:lstStyle/>
                    <a:p>
                      <a:pPr marL="44450" marR="86360" algn="r">
                        <a:lnSpc>
                          <a:spcPts val="1030"/>
                        </a:lnSpc>
                        <a:spcBef>
                          <a:spcPts val="295"/>
                        </a:spcBef>
                        <a:buNone/>
                      </a:pPr>
                      <a:r>
                        <a:rPr lang="fr-FR" sz="1400" b="0" i="0" kern="1200">
                          <a:solidFill>
                            <a:schemeClr val="tx1"/>
                          </a:solidFill>
                          <a:effectLst/>
                          <a:latin typeface="Inter"/>
                          <a:ea typeface="+mn-ea"/>
                          <a:cs typeface="+mn-cs"/>
                        </a:rPr>
                        <a:t>37,1</a:t>
                      </a:r>
                      <a:endParaRPr lang="fr-FR" sz="1400" b="0" i="0" kern="1200" dirty="0">
                        <a:solidFill>
                          <a:schemeClr val="tx1"/>
                        </a:solidFill>
                        <a:effectLst/>
                        <a:latin typeface="Inter"/>
                        <a:ea typeface="+mn-ea"/>
                        <a:cs typeface="+mn-cs"/>
                      </a:endParaRPr>
                    </a:p>
                  </a:txBody>
                  <a:tcPr marL="0" marR="0" marT="0" marB="0" anchor="ctr"/>
                </a:tc>
                <a:extLst>
                  <a:ext uri="{0D108BD9-81ED-4DB2-BD59-A6C34878D82A}">
                    <a16:rowId xmlns:a16="http://schemas.microsoft.com/office/drawing/2014/main" val="3344399043"/>
                  </a:ext>
                </a:extLst>
              </a:tr>
              <a:tr h="342209">
                <a:tc>
                  <a:txBody>
                    <a:bodyPr/>
                    <a:lstStyle/>
                    <a:p>
                      <a:pPr marL="89535" marR="80645">
                        <a:lnSpc>
                          <a:spcPts val="1030"/>
                        </a:lnSpc>
                        <a:spcBef>
                          <a:spcPts val="295"/>
                        </a:spcBef>
                        <a:buNone/>
                      </a:pPr>
                      <a:r>
                        <a:rPr lang="fr-FR" sz="1400" b="0" i="0" kern="1200" dirty="0">
                          <a:solidFill>
                            <a:schemeClr val="tx1"/>
                          </a:solidFill>
                          <a:effectLst/>
                          <a:latin typeface="Inter"/>
                          <a:ea typeface="+mn-ea"/>
                          <a:cs typeface="+mn-cs"/>
                        </a:rPr>
                        <a:t>Autres services extérieurs</a:t>
                      </a:r>
                    </a:p>
                  </a:txBody>
                  <a:tcPr marL="0" marR="0" marT="0" marB="0" anchor="ctr"/>
                </a:tc>
                <a:tc>
                  <a:txBody>
                    <a:bodyPr/>
                    <a:lstStyle/>
                    <a:p>
                      <a:pPr marL="92075" marR="88265" algn="r">
                        <a:lnSpc>
                          <a:spcPts val="1030"/>
                        </a:lnSpc>
                        <a:spcBef>
                          <a:spcPts val="295"/>
                        </a:spcBef>
                        <a:buNone/>
                      </a:pPr>
                      <a:r>
                        <a:rPr lang="fr-FR" sz="1400" b="0" i="0" kern="1200">
                          <a:solidFill>
                            <a:schemeClr val="tx1"/>
                          </a:solidFill>
                          <a:effectLst/>
                          <a:latin typeface="Inter"/>
                          <a:ea typeface="+mn-ea"/>
                          <a:cs typeface="+mn-cs"/>
                        </a:rPr>
                        <a:t>10 532</a:t>
                      </a:r>
                      <a:endParaRPr lang="fr-FR" sz="1400" b="0" i="0" kern="1200" dirty="0">
                        <a:solidFill>
                          <a:schemeClr val="tx1"/>
                        </a:solidFill>
                        <a:effectLst/>
                        <a:latin typeface="Inter"/>
                        <a:ea typeface="+mn-ea"/>
                        <a:cs typeface="+mn-cs"/>
                      </a:endParaRPr>
                    </a:p>
                  </a:txBody>
                  <a:tcPr marL="0" marR="0" marT="0" marB="0" anchor="ctr"/>
                </a:tc>
                <a:tc>
                  <a:txBody>
                    <a:bodyPr/>
                    <a:lstStyle/>
                    <a:p>
                      <a:pPr marL="92075" marR="128270" algn="r">
                        <a:lnSpc>
                          <a:spcPts val="1030"/>
                        </a:lnSpc>
                        <a:spcBef>
                          <a:spcPts val="295"/>
                        </a:spcBef>
                        <a:buNone/>
                      </a:pPr>
                      <a:r>
                        <a:rPr lang="fr-FR" sz="1400" b="0" i="0" kern="1200">
                          <a:solidFill>
                            <a:schemeClr val="tx1"/>
                          </a:solidFill>
                          <a:effectLst/>
                          <a:latin typeface="Inter"/>
                          <a:ea typeface="+mn-ea"/>
                          <a:cs typeface="+mn-cs"/>
                        </a:rPr>
                        <a:t>8 285</a:t>
                      </a:r>
                      <a:endParaRPr lang="fr-FR" sz="1400" b="0" i="0" kern="1200" dirty="0">
                        <a:solidFill>
                          <a:schemeClr val="tx1"/>
                        </a:solidFill>
                        <a:effectLst/>
                        <a:latin typeface="Inter"/>
                        <a:ea typeface="+mn-ea"/>
                        <a:cs typeface="+mn-cs"/>
                      </a:endParaRPr>
                    </a:p>
                  </a:txBody>
                  <a:tcPr marL="0" marR="0" marT="0" marB="0" anchor="ctr"/>
                </a:tc>
                <a:tc>
                  <a:txBody>
                    <a:bodyPr/>
                    <a:lstStyle/>
                    <a:p>
                      <a:pPr marL="44450" marR="86360" algn="r">
                        <a:lnSpc>
                          <a:spcPts val="1030"/>
                        </a:lnSpc>
                        <a:spcBef>
                          <a:spcPts val="295"/>
                        </a:spcBef>
                        <a:buNone/>
                      </a:pPr>
                      <a:r>
                        <a:rPr lang="fr-FR" sz="1400" b="0" i="0" kern="1200">
                          <a:solidFill>
                            <a:schemeClr val="tx1"/>
                          </a:solidFill>
                          <a:effectLst/>
                          <a:latin typeface="Inter"/>
                          <a:ea typeface="+mn-ea"/>
                          <a:cs typeface="+mn-cs"/>
                        </a:rPr>
                        <a:t>2 247</a:t>
                      </a:r>
                      <a:endParaRPr lang="fr-FR" sz="1400" b="0" i="0" kern="1200" dirty="0">
                        <a:solidFill>
                          <a:schemeClr val="tx1"/>
                        </a:solidFill>
                        <a:effectLst/>
                        <a:latin typeface="Inter"/>
                        <a:ea typeface="+mn-ea"/>
                        <a:cs typeface="+mn-cs"/>
                      </a:endParaRPr>
                    </a:p>
                  </a:txBody>
                  <a:tcPr marL="0" marR="0" marT="0" marB="0" anchor="ctr"/>
                </a:tc>
                <a:tc>
                  <a:txBody>
                    <a:bodyPr/>
                    <a:lstStyle/>
                    <a:p>
                      <a:pPr marL="44450" marR="86360" algn="r">
                        <a:lnSpc>
                          <a:spcPts val="1030"/>
                        </a:lnSpc>
                        <a:spcBef>
                          <a:spcPts val="295"/>
                        </a:spcBef>
                        <a:buNone/>
                      </a:pPr>
                      <a:r>
                        <a:rPr lang="fr-FR" sz="1400" b="0" i="0" kern="1200">
                          <a:solidFill>
                            <a:schemeClr val="tx1"/>
                          </a:solidFill>
                          <a:effectLst/>
                          <a:latin typeface="Inter"/>
                          <a:ea typeface="+mn-ea"/>
                          <a:cs typeface="+mn-cs"/>
                        </a:rPr>
                        <a:t>27,12</a:t>
                      </a:r>
                      <a:endParaRPr lang="fr-FR" sz="1400" b="0" i="0" kern="1200" dirty="0">
                        <a:solidFill>
                          <a:schemeClr val="tx1"/>
                        </a:solidFill>
                        <a:effectLst/>
                        <a:latin typeface="Inter"/>
                        <a:ea typeface="+mn-ea"/>
                        <a:cs typeface="+mn-cs"/>
                      </a:endParaRPr>
                    </a:p>
                  </a:txBody>
                  <a:tcPr marL="0" marR="0" marT="0" marB="0" anchor="ctr"/>
                </a:tc>
                <a:extLst>
                  <a:ext uri="{0D108BD9-81ED-4DB2-BD59-A6C34878D82A}">
                    <a16:rowId xmlns:a16="http://schemas.microsoft.com/office/drawing/2014/main" val="1245854560"/>
                  </a:ext>
                </a:extLst>
              </a:tr>
            </a:tbl>
          </a:graphicData>
        </a:graphic>
      </p:graphicFrame>
      <p:pic>
        <p:nvPicPr>
          <p:cNvPr id="22" name="icone_Commentaire9" descr="Bulle de discussion avec un remplissage uni" hidden="1">
            <a:extLst>
              <a:ext uri="{FF2B5EF4-FFF2-40B4-BE49-F238E27FC236}">
                <a16:creationId xmlns:a16="http://schemas.microsoft.com/office/drawing/2014/main" id="{580E2856-ABF8-5950-CB17-3A2D8AD8214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534668" y="5824018"/>
            <a:ext cx="468000" cy="477751"/>
          </a:xfrm>
          <a:prstGeom prst="rect">
            <a:avLst/>
          </a:prstGeom>
        </p:spPr>
      </p:pic>
      <p:pic>
        <p:nvPicPr>
          <p:cNvPr id="21" name="icone_Commentaire8" descr="Bulle de discussion avec un remplissage uni" hidden="1">
            <a:extLst>
              <a:ext uri="{FF2B5EF4-FFF2-40B4-BE49-F238E27FC236}">
                <a16:creationId xmlns:a16="http://schemas.microsoft.com/office/drawing/2014/main" id="{F24ECBF1-BC68-C7CD-2254-D4E10974179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534668" y="5337544"/>
            <a:ext cx="468000" cy="477751"/>
          </a:xfrm>
          <a:prstGeom prst="rect">
            <a:avLst/>
          </a:prstGeom>
        </p:spPr>
      </p:pic>
      <p:pic>
        <p:nvPicPr>
          <p:cNvPr id="20" name="icone_Commentaire7" descr="Bulle de discussion avec un remplissage uni" hidden="1">
            <a:extLst>
              <a:ext uri="{FF2B5EF4-FFF2-40B4-BE49-F238E27FC236}">
                <a16:creationId xmlns:a16="http://schemas.microsoft.com/office/drawing/2014/main" id="{2787E0DE-31A5-E2D8-F201-3D3CF259BB8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534668" y="4829535"/>
            <a:ext cx="468000" cy="477751"/>
          </a:xfrm>
          <a:prstGeom prst="rect">
            <a:avLst/>
          </a:prstGeom>
        </p:spPr>
      </p:pic>
      <p:pic>
        <p:nvPicPr>
          <p:cNvPr id="19" name="icone_Commentaire6" descr="Bulle de discussion avec un remplissage uni" hidden="1">
            <a:extLst>
              <a:ext uri="{FF2B5EF4-FFF2-40B4-BE49-F238E27FC236}">
                <a16:creationId xmlns:a16="http://schemas.microsoft.com/office/drawing/2014/main" id="{0F6C515E-7CD7-9758-0755-4C1D748C377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534668" y="4321051"/>
            <a:ext cx="468000" cy="477751"/>
          </a:xfrm>
          <a:prstGeom prst="rect">
            <a:avLst/>
          </a:prstGeom>
        </p:spPr>
      </p:pic>
      <p:pic>
        <p:nvPicPr>
          <p:cNvPr id="18" name="icone_Commentaire5" descr="Bulle de discussion avec un remplissage uni" hidden="1">
            <a:extLst>
              <a:ext uri="{FF2B5EF4-FFF2-40B4-BE49-F238E27FC236}">
                <a16:creationId xmlns:a16="http://schemas.microsoft.com/office/drawing/2014/main" id="{64D70763-A429-7315-F216-F225314DED1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528318" y="3812567"/>
            <a:ext cx="468000" cy="477751"/>
          </a:xfrm>
          <a:prstGeom prst="rect">
            <a:avLst/>
          </a:prstGeom>
        </p:spPr>
      </p:pic>
      <p:pic>
        <p:nvPicPr>
          <p:cNvPr id="17" name="icone_Commentaire4" descr="Bulle de discussion avec un remplissage uni" hidden="1">
            <a:extLst>
              <a:ext uri="{FF2B5EF4-FFF2-40B4-BE49-F238E27FC236}">
                <a16:creationId xmlns:a16="http://schemas.microsoft.com/office/drawing/2014/main" id="{E17E423A-B302-5BE9-029B-3EDFB6F47B5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541018" y="3326568"/>
            <a:ext cx="468000" cy="477751"/>
          </a:xfrm>
          <a:prstGeom prst="rect">
            <a:avLst/>
          </a:prstGeom>
        </p:spPr>
      </p:pic>
      <p:pic>
        <p:nvPicPr>
          <p:cNvPr id="16" name="icone_Commentaire3" descr="Bulle de discussion avec un remplissage uni" hidden="1">
            <a:extLst>
              <a:ext uri="{FF2B5EF4-FFF2-40B4-BE49-F238E27FC236}">
                <a16:creationId xmlns:a16="http://schemas.microsoft.com/office/drawing/2014/main" id="{F82BA2CD-8596-442A-D199-048EFC34460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528318" y="2810906"/>
            <a:ext cx="468000" cy="477751"/>
          </a:xfrm>
          <a:prstGeom prst="rect">
            <a:avLst/>
          </a:prstGeom>
        </p:spPr>
      </p:pic>
      <p:pic>
        <p:nvPicPr>
          <p:cNvPr id="15" name="icone_Commentaire2" descr="Bulle de discussion avec un remplissage uni" hidden="1">
            <a:extLst>
              <a:ext uri="{FF2B5EF4-FFF2-40B4-BE49-F238E27FC236}">
                <a16:creationId xmlns:a16="http://schemas.microsoft.com/office/drawing/2014/main" id="{78CC99DC-BA2C-9E24-6D85-F89CEECF3C8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535763" y="2286996"/>
            <a:ext cx="468000" cy="477751"/>
          </a:xfrm>
          <a:prstGeom prst="rect">
            <a:avLst/>
          </a:prstGeom>
        </p:spPr>
      </p:pic>
      <p:pic>
        <p:nvPicPr>
          <p:cNvPr id="5" name="icone_Commentaire1" descr="Bulle de discussion avec un remplissage uni" hidden="1">
            <a:extLst>
              <a:ext uri="{FF2B5EF4-FFF2-40B4-BE49-F238E27FC236}">
                <a16:creationId xmlns:a16="http://schemas.microsoft.com/office/drawing/2014/main" id="{D751044E-ADFF-A12F-079A-A31655715F6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530508" y="1809245"/>
            <a:ext cx="468000" cy="477751"/>
          </a:xfrm>
          <a:prstGeom prst="rect">
            <a:avLst/>
          </a:prstGeom>
        </p:spPr>
      </p:pic>
      <p:sp>
        <p:nvSpPr>
          <p:cNvPr id="4" name="BUB_EC_4" descr="Commentaire : Locations, Charges locatives">
            <a:hlinkClick r:id="" action="ppaction://noaction"/>
            <a:extLst>
              <a:ext uri="{FF2B5EF4-FFF2-40B4-BE49-F238E27FC236}">
                <a16:creationId xmlns:a16="http://schemas.microsoft.com/office/drawing/2014/main" id="{041AAC5F-8A32-82FD-55D4-1E907F1E7519}"/>
              </a:ext>
            </a:extLst>
          </p:cNvPr>
          <p:cNvSpPr>
            <a:spLocks noChangeAspect="1"/>
          </p:cNvSpPr>
          <p:nvPr/>
        </p:nvSpPr>
        <p:spPr>
          <a:xfrm>
            <a:off x="11632109" y="4026611"/>
            <a:ext cx="228600" cy="291409"/>
          </a:xfrm>
          <a:prstGeom prst="roundRect">
            <a:avLst/>
          </a:prstGeom>
          <a:solidFill>
            <a:srgbClr val="00809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lang="fr-FR" sz="1100">
                <a:solidFill>
                  <a:srgbClr val="FFFFFF"/>
                </a:solidFill>
              </a:rPr>
              <a:t>??</a:t>
            </a:r>
          </a:p>
        </p:txBody>
      </p:sp>
    </p:spTree>
    <p:extLst>
      <p:ext uri="{BB962C8B-B14F-4D97-AF65-F5344CB8AC3E}">
        <p14:creationId xmlns:p14="http://schemas.microsoft.com/office/powerpoint/2010/main" val="4753066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Graphique_ChargesPersonnel">
            <a:extLst>
              <a:ext uri="{FF2B5EF4-FFF2-40B4-BE49-F238E27FC236}">
                <a16:creationId xmlns:a16="http://schemas.microsoft.com/office/drawing/2014/main" id="{3531E7BB-4633-5536-6606-AC442C9FFEA0}"/>
              </a:ext>
            </a:extLst>
          </p:cNvPr>
          <p:cNvGraphicFramePr/>
          <p:nvPr>
            <p:extLst>
              <p:ext uri="{D42A27DB-BD31-4B8C-83A1-F6EECF244321}">
                <p14:modId xmlns:p14="http://schemas.microsoft.com/office/powerpoint/2010/main" val="569592280"/>
              </p:ext>
            </p:extLst>
          </p:nvPr>
        </p:nvGraphicFramePr>
        <p:xfrm>
          <a:off x="450850" y="1879600"/>
          <a:ext cx="3365500" cy="3318933"/>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0">
            <a:extLst>
              <a:ext uri="{FF2B5EF4-FFF2-40B4-BE49-F238E27FC236}">
                <a16:creationId xmlns:a16="http://schemas.microsoft.com/office/drawing/2014/main" id="{E707649A-3BC2-F4AE-6C39-9ADA368E2FEE}"/>
              </a:ext>
            </a:extLst>
          </p:cNvPr>
          <p:cNvSpPr/>
          <p:nvPr/>
        </p:nvSpPr>
        <p:spPr>
          <a:xfrm>
            <a:off x="661492" y="604800"/>
            <a:ext cx="6709469" cy="516732"/>
          </a:xfrm>
          <a:prstGeom prst="rect">
            <a:avLst/>
          </a:prstGeom>
          <a:noFill/>
          <a:ln/>
        </p:spPr>
        <p:txBody>
          <a:bodyPr wrap="none" lIns="0" tIns="0" rIns="0" bIns="0" rtlCol="0" anchor="t"/>
          <a:lstStyle/>
          <a:p>
            <a:pPr>
              <a:lnSpc>
                <a:spcPts val="4042"/>
              </a:lnSpc>
            </a:pPr>
            <a:r>
              <a:rPr lang="fr-FR" sz="3250" b="1" noProof="0" dirty="0">
                <a:solidFill>
                  <a:srgbClr val="000000"/>
                </a:solidFill>
                <a:latin typeface="League Spartan Bold" pitchFamily="34" charset="0"/>
                <a:ea typeface="League Spartan Bold" pitchFamily="34" charset="-122"/>
                <a:cs typeface="League Spartan Bold" pitchFamily="34" charset="-120"/>
              </a:rPr>
              <a:t>Charges de personnel</a:t>
            </a:r>
          </a:p>
        </p:txBody>
      </p:sp>
      <p:graphicFrame>
        <p:nvGraphicFramePr>
          <p:cNvPr id="10" name="Graphique_Variation">
            <a:extLst>
              <a:ext uri="{FF2B5EF4-FFF2-40B4-BE49-F238E27FC236}">
                <a16:creationId xmlns:a16="http://schemas.microsoft.com/office/drawing/2014/main" id="{5967ED26-3096-E547-C7D2-111742EF6FDD}"/>
              </a:ext>
            </a:extLst>
          </p:cNvPr>
          <p:cNvGraphicFramePr/>
          <p:nvPr>
            <p:extLst>
              <p:ext uri="{D42A27DB-BD31-4B8C-83A1-F6EECF244321}">
                <p14:modId xmlns:p14="http://schemas.microsoft.com/office/powerpoint/2010/main" val="1420647741"/>
              </p:ext>
            </p:extLst>
          </p:nvPr>
        </p:nvGraphicFramePr>
        <p:xfrm>
          <a:off x="7880349" y="933450"/>
          <a:ext cx="3365500" cy="3318933"/>
        </p:xfrm>
        <a:graphic>
          <a:graphicData uri="http://schemas.openxmlformats.org/drawingml/2006/chart">
            <c:chart xmlns:c="http://schemas.openxmlformats.org/drawingml/2006/chart" xmlns:r="http://schemas.openxmlformats.org/officeDocument/2006/relationships" r:id="rId4"/>
          </a:graphicData>
        </a:graphic>
      </p:graphicFrame>
      <p:sp>
        <p:nvSpPr>
          <p:cNvPr id="11" name="ZoneTexte 10">
            <a:extLst>
              <a:ext uri="{FF2B5EF4-FFF2-40B4-BE49-F238E27FC236}">
                <a16:creationId xmlns:a16="http://schemas.microsoft.com/office/drawing/2014/main" id="{8BBB460F-0E7A-178C-D92C-D0CC89E5D29F}"/>
              </a:ext>
            </a:extLst>
          </p:cNvPr>
          <p:cNvSpPr txBox="1"/>
          <p:nvPr/>
        </p:nvSpPr>
        <p:spPr>
          <a:xfrm>
            <a:off x="1867212" y="5059376"/>
            <a:ext cx="416781" cy="276999"/>
          </a:xfrm>
          <a:prstGeom prst="rect">
            <a:avLst/>
          </a:prstGeom>
          <a:noFill/>
        </p:spPr>
        <p:txBody>
          <a:bodyPr wrap="none" rtlCol="0">
            <a:spAutoFit/>
          </a:bodyPr>
          <a:lstStyle/>
          <a:p>
            <a:r>
              <a:rPr lang="fr-FR" sz="1200" dirty="0">
                <a:solidFill>
                  <a:schemeClr val="accent4"/>
                </a:solidFill>
              </a:rPr>
              <a:t>N-1</a:t>
            </a:r>
          </a:p>
        </p:txBody>
      </p:sp>
      <p:sp>
        <p:nvSpPr>
          <p:cNvPr id="12" name="ZoneTexte 11">
            <a:extLst>
              <a:ext uri="{FF2B5EF4-FFF2-40B4-BE49-F238E27FC236}">
                <a16:creationId xmlns:a16="http://schemas.microsoft.com/office/drawing/2014/main" id="{CA372A1C-A64F-DA97-822E-F2986505F997}"/>
              </a:ext>
            </a:extLst>
          </p:cNvPr>
          <p:cNvSpPr txBox="1"/>
          <p:nvPr/>
        </p:nvSpPr>
        <p:spPr>
          <a:xfrm>
            <a:off x="2711450" y="5059375"/>
            <a:ext cx="293670" cy="276999"/>
          </a:xfrm>
          <a:prstGeom prst="rect">
            <a:avLst/>
          </a:prstGeom>
          <a:noFill/>
        </p:spPr>
        <p:txBody>
          <a:bodyPr wrap="none" rtlCol="0">
            <a:spAutoFit/>
          </a:bodyPr>
          <a:lstStyle/>
          <a:p>
            <a:r>
              <a:rPr lang="fr-FR" sz="1200" dirty="0">
                <a:solidFill>
                  <a:schemeClr val="accent4"/>
                </a:solidFill>
              </a:rPr>
              <a:t>N</a:t>
            </a:r>
          </a:p>
        </p:txBody>
      </p:sp>
      <p:graphicFrame>
        <p:nvGraphicFramePr>
          <p:cNvPr id="24" name="Tableau_Horaires">
            <a:extLst>
              <a:ext uri="{FF2B5EF4-FFF2-40B4-BE49-F238E27FC236}">
                <a16:creationId xmlns:a16="http://schemas.microsoft.com/office/drawing/2014/main" id="{0AE45AC4-276C-5F8C-36A4-065789ED6EE9}"/>
              </a:ext>
            </a:extLst>
          </p:cNvPr>
          <p:cNvGraphicFramePr>
            <a:graphicFrameLocks noGrp="1"/>
          </p:cNvGraphicFramePr>
          <p:nvPr>
            <p:extLst>
              <p:ext uri="{D42A27DB-BD31-4B8C-83A1-F6EECF244321}">
                <p14:modId xmlns:p14="http://schemas.microsoft.com/office/powerpoint/2010/main" val="1706739333"/>
              </p:ext>
            </p:extLst>
          </p:nvPr>
        </p:nvGraphicFramePr>
        <p:xfrm>
          <a:off x="3816350" y="5005916"/>
          <a:ext cx="8127999" cy="1112520"/>
        </p:xfrm>
        <a:graphic>
          <a:graphicData uri="http://schemas.openxmlformats.org/drawingml/2006/table">
            <a:tbl>
              <a:tblPr firstRow="1" firstCol="1" bandRow="1">
                <a:tableStyleId>{5C22544A-7EE6-4342-B048-85BDC9FD1C3A}</a:tableStyleId>
              </a:tblPr>
              <a:tblGrid>
                <a:gridCol w="2709333">
                  <a:extLst>
                    <a:ext uri="{9D8B030D-6E8A-4147-A177-3AD203B41FA5}">
                      <a16:colId xmlns:a16="http://schemas.microsoft.com/office/drawing/2014/main" val="3057701541"/>
                    </a:ext>
                  </a:extLst>
                </a:gridCol>
                <a:gridCol w="2709333">
                  <a:extLst>
                    <a:ext uri="{9D8B030D-6E8A-4147-A177-3AD203B41FA5}">
                      <a16:colId xmlns:a16="http://schemas.microsoft.com/office/drawing/2014/main" val="638277518"/>
                    </a:ext>
                  </a:extLst>
                </a:gridCol>
                <a:gridCol w="2709333">
                  <a:extLst>
                    <a:ext uri="{9D8B030D-6E8A-4147-A177-3AD203B41FA5}">
                      <a16:colId xmlns:a16="http://schemas.microsoft.com/office/drawing/2014/main" val="3135881498"/>
                    </a:ext>
                  </a:extLst>
                </a:gridCol>
              </a:tblGrid>
              <a:tr h="370840">
                <a:tc>
                  <a:txBody>
                    <a:bodyPr/>
                    <a:lstStyle/>
                    <a:p>
                      <a:endParaRPr lang="fr-FR" dirty="0"/>
                    </a:p>
                  </a:txBody>
                  <a:tcPr>
                    <a:noFill/>
                  </a:tcPr>
                </a:tc>
                <a:tc>
                  <a:txBody>
                    <a:bodyPr/>
                    <a:lstStyle/>
                    <a:p>
                      <a:pPr algn="ctr"/>
                      <a:r>
                        <a:rPr lang="fr-FR" sz="1400" b="0" i="0" kern="1200" dirty="0">
                          <a:solidFill>
                            <a:srgbClr val="FFFFFF"/>
                          </a:solidFill>
                          <a:effectLst/>
                          <a:latin typeface="Inter"/>
                          <a:ea typeface="+mn-ea"/>
                          <a:cs typeface="+mn-cs"/>
                        </a:rPr>
                        <a:t>N</a:t>
                      </a:r>
                    </a:p>
                  </a:txBody>
                  <a:tcPr/>
                </a:tc>
                <a:tc>
                  <a:txBody>
                    <a:bodyPr/>
                    <a:lstStyle/>
                    <a:p>
                      <a:pPr algn="ctr"/>
                      <a:r>
                        <a:rPr lang="fr-FR" sz="1400" b="0" i="0" kern="1200" dirty="0">
                          <a:solidFill>
                            <a:srgbClr val="FFFFFF"/>
                          </a:solidFill>
                          <a:effectLst/>
                          <a:latin typeface="Inter"/>
                          <a:ea typeface="+mn-ea"/>
                          <a:cs typeface="+mn-cs"/>
                        </a:rPr>
                        <a:t>N-1</a:t>
                      </a:r>
                    </a:p>
                  </a:txBody>
                  <a:tcPr/>
                </a:tc>
                <a:extLst>
                  <a:ext uri="{0D108BD9-81ED-4DB2-BD59-A6C34878D82A}">
                    <a16:rowId xmlns:a16="http://schemas.microsoft.com/office/drawing/2014/main" val="2176739000"/>
                  </a:ext>
                </a:extLst>
              </a:tr>
              <a:tr h="370840">
                <a:tc>
                  <a:txBody>
                    <a:bodyPr/>
                    <a:lstStyle/>
                    <a:p>
                      <a:pPr marL="0" algn="ctr" defTabSz="914400" rtl="0" eaLnBrk="1" latinLnBrk="0" hangingPunct="1"/>
                      <a:r>
                        <a:rPr lang="fr-FR" sz="1400" b="0" i="0" kern="1200" dirty="0">
                          <a:solidFill>
                            <a:srgbClr val="FFFFFF"/>
                          </a:solidFill>
                          <a:effectLst/>
                          <a:latin typeface="Inter"/>
                          <a:ea typeface="+mn-ea"/>
                          <a:cs typeface="+mn-cs"/>
                        </a:rPr>
                        <a:t>Nombres d’heures rémunérées</a:t>
                      </a:r>
                    </a:p>
                  </a:txBody>
                  <a:tcPr/>
                </a:tc>
                <a:tc>
                  <a:txBody>
                    <a:bodyPr/>
                    <a:lstStyle/>
                    <a:p>
                      <a:pPr marL="0" algn="r" defTabSz="914400" rtl="0" eaLnBrk="1" latinLnBrk="0" hangingPunct="1">
                        <a:buNone/>
                      </a:pPr>
                      <a:r>
                        <a:rPr lang="fr-FR" sz="1400" b="0" i="0" kern="1200" dirty="0">
                          <a:solidFill>
                            <a:schemeClr val="tx1"/>
                          </a:solidFill>
                          <a:effectLst/>
                          <a:latin typeface="Inter"/>
                          <a:ea typeface="+mn-ea"/>
                          <a:cs typeface="+mn-cs"/>
                        </a:rPr>
                        <a:t>0</a:t>
                      </a:r>
                    </a:p>
                  </a:txBody>
                  <a:tcPr anchor="ctr"/>
                </a:tc>
                <a:tc>
                  <a:txBody>
                    <a:bodyPr/>
                    <a:lstStyle/>
                    <a:p>
                      <a:pPr marL="0" algn="r" defTabSz="914400" rtl="0" eaLnBrk="1" latinLnBrk="0" hangingPunct="1">
                        <a:buNone/>
                      </a:pPr>
                      <a:r>
                        <a:rPr lang="fr-FR" sz="1400" b="0" i="0" kern="1200" dirty="0">
                          <a:solidFill>
                            <a:schemeClr val="tx1"/>
                          </a:solidFill>
                          <a:effectLst/>
                          <a:latin typeface="Inter"/>
                          <a:ea typeface="+mn-ea"/>
                          <a:cs typeface="+mn-cs"/>
                        </a:rPr>
                        <a:t>0</a:t>
                      </a:r>
                    </a:p>
                  </a:txBody>
                  <a:tcPr anchor="ctr"/>
                </a:tc>
                <a:extLst>
                  <a:ext uri="{0D108BD9-81ED-4DB2-BD59-A6C34878D82A}">
                    <a16:rowId xmlns:a16="http://schemas.microsoft.com/office/drawing/2014/main" val="752422849"/>
                  </a:ext>
                </a:extLst>
              </a:tr>
              <a:tr h="370840">
                <a:tc>
                  <a:txBody>
                    <a:bodyPr/>
                    <a:lstStyle/>
                    <a:p>
                      <a:pPr marL="0" algn="ctr" defTabSz="914400" rtl="0" eaLnBrk="1" latinLnBrk="0" hangingPunct="1"/>
                      <a:r>
                        <a:rPr lang="fr-FR" sz="1400" b="0" i="0" kern="1200" dirty="0">
                          <a:solidFill>
                            <a:srgbClr val="FFFFFF"/>
                          </a:solidFill>
                          <a:effectLst/>
                          <a:latin typeface="Inter"/>
                          <a:ea typeface="+mn-ea"/>
                          <a:cs typeface="+mn-cs"/>
                        </a:rPr>
                        <a:t>Coût de revient horaire</a:t>
                      </a:r>
                    </a:p>
                  </a:txBody>
                  <a:tcPr/>
                </a:tc>
                <a:tc>
                  <a:txBody>
                    <a:bodyPr/>
                    <a:lstStyle/>
                    <a:p>
                      <a:pPr marL="0" algn="r" defTabSz="914400" rtl="0" eaLnBrk="1" latinLnBrk="0" hangingPunct="1">
                        <a:buNone/>
                      </a:pPr>
                      <a:r>
                        <a:rPr lang="fr-FR" sz="1400" b="0" i="0" kern="1200" dirty="0">
                          <a:solidFill>
                            <a:schemeClr val="tx1"/>
                          </a:solidFill>
                          <a:effectLst/>
                          <a:latin typeface="Inter"/>
                          <a:ea typeface="+mn-ea"/>
                          <a:cs typeface="+mn-cs"/>
                        </a:rPr>
                        <a:t>0</a:t>
                      </a:r>
                    </a:p>
                  </a:txBody>
                  <a:tcPr anchor="ctr"/>
                </a:tc>
                <a:tc>
                  <a:txBody>
                    <a:bodyPr/>
                    <a:lstStyle/>
                    <a:p>
                      <a:pPr marL="0" algn="r" defTabSz="914400" rtl="0" eaLnBrk="1" latinLnBrk="0" hangingPunct="1">
                        <a:buNone/>
                      </a:pPr>
                      <a:r>
                        <a:rPr lang="fr-FR" sz="1400" b="0" i="0" kern="1200" dirty="0">
                          <a:solidFill>
                            <a:schemeClr val="tx1"/>
                          </a:solidFill>
                          <a:effectLst/>
                          <a:latin typeface="Inter"/>
                          <a:ea typeface="+mn-ea"/>
                          <a:cs typeface="+mn-cs"/>
                        </a:rPr>
                        <a:t>0</a:t>
                      </a:r>
                    </a:p>
                  </a:txBody>
                  <a:tcPr anchor="ctr"/>
                </a:tc>
                <a:extLst>
                  <a:ext uri="{0D108BD9-81ED-4DB2-BD59-A6C34878D82A}">
                    <a16:rowId xmlns:a16="http://schemas.microsoft.com/office/drawing/2014/main" val="3737287386"/>
                  </a:ext>
                </a:extLst>
              </a:tr>
            </a:tbl>
          </a:graphicData>
        </a:graphic>
      </p:graphicFrame>
      <p:pic>
        <p:nvPicPr>
          <p:cNvPr id="37" name="Graphique 36" descr="Utilisateurs avec un remplissage uni">
            <a:extLst>
              <a:ext uri="{FF2B5EF4-FFF2-40B4-BE49-F238E27FC236}">
                <a16:creationId xmlns:a16="http://schemas.microsoft.com/office/drawing/2014/main" id="{328B5D2A-2135-C2C0-DA15-E29BD7100BF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162549" y="1585161"/>
            <a:ext cx="1371601" cy="1371601"/>
          </a:xfrm>
          <a:prstGeom prst="rect">
            <a:avLst/>
          </a:prstGeom>
        </p:spPr>
      </p:pic>
      <p:sp>
        <p:nvSpPr>
          <p:cNvPr id="38" name="ZoneTexte_Variation">
            <a:extLst>
              <a:ext uri="{FF2B5EF4-FFF2-40B4-BE49-F238E27FC236}">
                <a16:creationId xmlns:a16="http://schemas.microsoft.com/office/drawing/2014/main" id="{4A04BEA7-E2B4-C1FD-E409-A458F1E22B93}"/>
              </a:ext>
            </a:extLst>
          </p:cNvPr>
          <p:cNvSpPr txBox="1"/>
          <p:nvPr/>
        </p:nvSpPr>
        <p:spPr>
          <a:xfrm>
            <a:off x="4744265" y="2892735"/>
            <a:ext cx="2208169" cy="1200329"/>
          </a:xfrm>
          <a:prstGeom prst="rect">
            <a:avLst/>
          </a:prstGeom>
          <a:noFill/>
        </p:spPr>
        <p:txBody>
          <a:bodyPr wrap="none" rtlCol="0">
            <a:spAutoFit/>
          </a:bodyPr>
          <a:lstStyle/>
          <a:p>
            <a:pPr algn="ctr"/>
            <a:r>
              <a:rPr lang="fr-FR"/>
              <a:t>Variation de 26,36% </a:t>
            </a:r>
          </a:p>
          <a:p>
            <a:pPr algn="ctr"/>
            <a:r>
              <a:rPr lang="fr-FR"/>
              <a:t>des charges de</a:t>
            </a:r>
          </a:p>
          <a:p>
            <a:pPr algn="ctr"/>
            <a:r>
              <a:rPr lang="fr-FR"/>
              <a:t>personnel entre les</a:t>
            </a:r>
          </a:p>
          <a:p>
            <a:pPr algn="ctr"/>
            <a:r>
              <a:rPr lang="fr-FR"/>
              <a:t>exercices N et N-1</a:t>
            </a:r>
            <a:endParaRPr lang="fr-FR" dirty="0"/>
          </a:p>
        </p:txBody>
      </p:sp>
    </p:spTree>
    <p:extLst>
      <p:ext uri="{BB962C8B-B14F-4D97-AF65-F5344CB8AC3E}">
        <p14:creationId xmlns:p14="http://schemas.microsoft.com/office/powerpoint/2010/main" val="28106843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7FAD363B-E454-1F5E-194F-EC299BB21FF3}"/>
              </a:ext>
            </a:extLst>
          </p:cNvPr>
          <p:cNvSpPr/>
          <p:nvPr/>
        </p:nvSpPr>
        <p:spPr>
          <a:xfrm>
            <a:off x="661492" y="604800"/>
            <a:ext cx="6709469" cy="516732"/>
          </a:xfrm>
          <a:prstGeom prst="rect">
            <a:avLst/>
          </a:prstGeom>
          <a:noFill/>
          <a:ln/>
        </p:spPr>
        <p:txBody>
          <a:bodyPr wrap="none" lIns="0" tIns="0" rIns="0" bIns="0" rtlCol="0" anchor="t"/>
          <a:lstStyle/>
          <a:p>
            <a:pPr>
              <a:lnSpc>
                <a:spcPts val="4042"/>
              </a:lnSpc>
            </a:pPr>
            <a:r>
              <a:rPr lang="fr-FR" sz="3250" b="1" noProof="0" dirty="0">
                <a:solidFill>
                  <a:srgbClr val="000000"/>
                </a:solidFill>
                <a:latin typeface="League Spartan Bold" pitchFamily="34" charset="0"/>
                <a:ea typeface="League Spartan Bold" pitchFamily="34" charset="-122"/>
                <a:cs typeface="League Spartan Bold" pitchFamily="34" charset="-120"/>
              </a:rPr>
              <a:t>Cotisations sociales</a:t>
            </a:r>
          </a:p>
        </p:txBody>
      </p:sp>
    </p:spTree>
    <p:extLst>
      <p:ext uri="{BB962C8B-B14F-4D97-AF65-F5344CB8AC3E}">
        <p14:creationId xmlns:p14="http://schemas.microsoft.com/office/powerpoint/2010/main" val="1444311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DF883124-56A6-23D3-631B-571C474340F1}"/>
              </a:ext>
            </a:extLst>
          </p:cNvPr>
          <p:cNvSpPr/>
          <p:nvPr/>
        </p:nvSpPr>
        <p:spPr>
          <a:xfrm>
            <a:off x="661492" y="604800"/>
            <a:ext cx="6709469" cy="516732"/>
          </a:xfrm>
          <a:prstGeom prst="rect">
            <a:avLst/>
          </a:prstGeom>
          <a:noFill/>
          <a:ln/>
        </p:spPr>
        <p:txBody>
          <a:bodyPr wrap="none" lIns="0" tIns="0" rIns="0" bIns="0" rtlCol="0" anchor="t"/>
          <a:lstStyle/>
          <a:p>
            <a:pPr>
              <a:lnSpc>
                <a:spcPts val="4042"/>
              </a:lnSpc>
            </a:pPr>
            <a:r>
              <a:rPr lang="fr-FR" sz="3250" b="1" noProof="0" dirty="0">
                <a:solidFill>
                  <a:srgbClr val="000000"/>
                </a:solidFill>
                <a:latin typeface="League Spartan Bold" pitchFamily="34" charset="0"/>
                <a:ea typeface="League Spartan Bold" pitchFamily="34" charset="-122"/>
                <a:cs typeface="League Spartan Bold" pitchFamily="34" charset="-120"/>
              </a:rPr>
              <a:t>Investissements</a:t>
            </a:r>
          </a:p>
        </p:txBody>
      </p:sp>
      <p:graphicFrame>
        <p:nvGraphicFramePr>
          <p:cNvPr id="2" name="Tableau 1">
            <a:extLst>
              <a:ext uri="{FF2B5EF4-FFF2-40B4-BE49-F238E27FC236}">
                <a16:creationId xmlns:a16="http://schemas.microsoft.com/office/drawing/2014/main" id="{807EC9F9-512D-77C7-F310-363B4F413B44}"/>
              </a:ext>
            </a:extLst>
          </p:cNvPr>
          <p:cNvGraphicFramePr>
            <a:graphicFrameLocks noGrp="1"/>
          </p:cNvGraphicFramePr>
          <p:nvPr>
            <p:extLst>
              <p:ext uri="{D42A27DB-BD31-4B8C-83A1-F6EECF244321}">
                <p14:modId xmlns:p14="http://schemas.microsoft.com/office/powerpoint/2010/main" val="2200795946"/>
              </p:ext>
            </p:extLst>
          </p:nvPr>
        </p:nvGraphicFramePr>
        <p:xfrm>
          <a:off x="2112962" y="2647950"/>
          <a:ext cx="7966075" cy="2165350"/>
        </p:xfrm>
        <a:graphic>
          <a:graphicData uri="http://schemas.openxmlformats.org/drawingml/2006/table">
            <a:tbl>
              <a:tblPr firstRow="1">
                <a:tableStyleId>{5C22544A-7EE6-4342-B048-85BDC9FD1C3A}</a:tableStyleId>
              </a:tblPr>
              <a:tblGrid>
                <a:gridCol w="4099979">
                  <a:extLst>
                    <a:ext uri="{9D8B030D-6E8A-4147-A177-3AD203B41FA5}">
                      <a16:colId xmlns:a16="http://schemas.microsoft.com/office/drawing/2014/main" val="3195833313"/>
                    </a:ext>
                  </a:extLst>
                </a:gridCol>
                <a:gridCol w="1288423">
                  <a:extLst>
                    <a:ext uri="{9D8B030D-6E8A-4147-A177-3AD203B41FA5}">
                      <a16:colId xmlns:a16="http://schemas.microsoft.com/office/drawing/2014/main" val="288513631"/>
                    </a:ext>
                  </a:extLst>
                </a:gridCol>
                <a:gridCol w="1288423">
                  <a:extLst>
                    <a:ext uri="{9D8B030D-6E8A-4147-A177-3AD203B41FA5}">
                      <a16:colId xmlns:a16="http://schemas.microsoft.com/office/drawing/2014/main" val="4200282568"/>
                    </a:ext>
                  </a:extLst>
                </a:gridCol>
                <a:gridCol w="1289250">
                  <a:extLst>
                    <a:ext uri="{9D8B030D-6E8A-4147-A177-3AD203B41FA5}">
                      <a16:colId xmlns:a16="http://schemas.microsoft.com/office/drawing/2014/main" val="1125327120"/>
                    </a:ext>
                  </a:extLst>
                </a:gridCol>
              </a:tblGrid>
              <a:tr h="803803">
                <a:tc>
                  <a:txBody>
                    <a:bodyPr/>
                    <a:lstStyle/>
                    <a:p>
                      <a:pPr marL="93345" marR="85090">
                        <a:lnSpc>
                          <a:spcPts val="1030"/>
                        </a:lnSpc>
                        <a:spcBef>
                          <a:spcPts val="295"/>
                        </a:spcBef>
                        <a:buNone/>
                      </a:pPr>
                      <a:r>
                        <a:rPr lang="fr-FR" sz="1800" b="1" kern="1200" dirty="0">
                          <a:solidFill>
                            <a:schemeClr val="bg1"/>
                          </a:solidFill>
                          <a:latin typeface="Open Sans" pitchFamily="34" charset="0"/>
                          <a:ea typeface="Open Sans" pitchFamily="34" charset="-122"/>
                          <a:cs typeface="Open Sans" pitchFamily="34" charset="-120"/>
                        </a:rPr>
                        <a:t> </a:t>
                      </a:r>
                    </a:p>
                  </a:txBody>
                  <a:tcPr marL="0" marR="0" marT="0" marB="0" anchor="ctr"/>
                </a:tc>
                <a:tc>
                  <a:txBody>
                    <a:bodyPr/>
                    <a:lstStyle/>
                    <a:p>
                      <a:pPr marL="95250" marR="83185" algn="ctr">
                        <a:lnSpc>
                          <a:spcPts val="1030"/>
                        </a:lnSpc>
                        <a:spcBef>
                          <a:spcPts val="295"/>
                        </a:spcBef>
                        <a:buNone/>
                      </a:pPr>
                      <a:r>
                        <a:rPr lang="fr-FR" sz="1800" b="1" kern="1200" dirty="0">
                          <a:solidFill>
                            <a:schemeClr val="bg1"/>
                          </a:solidFill>
                          <a:latin typeface="Open Sans" pitchFamily="34" charset="0"/>
                          <a:ea typeface="Open Sans" pitchFamily="34" charset="-122"/>
                          <a:cs typeface="Open Sans" pitchFamily="34" charset="-120"/>
                        </a:rPr>
                        <a:t>N</a:t>
                      </a:r>
                    </a:p>
                  </a:txBody>
                  <a:tcPr marL="0" marR="0" marT="0" marB="0" anchor="ctr"/>
                </a:tc>
                <a:tc>
                  <a:txBody>
                    <a:bodyPr/>
                    <a:lstStyle/>
                    <a:p>
                      <a:pPr marL="96520" marR="81280" algn="ctr">
                        <a:lnSpc>
                          <a:spcPts val="1030"/>
                        </a:lnSpc>
                        <a:spcBef>
                          <a:spcPts val="295"/>
                        </a:spcBef>
                        <a:buNone/>
                      </a:pPr>
                      <a:r>
                        <a:rPr lang="fr-FR" sz="1800" b="1" kern="1200" dirty="0">
                          <a:solidFill>
                            <a:schemeClr val="bg1"/>
                          </a:solidFill>
                          <a:latin typeface="Open Sans" pitchFamily="34" charset="0"/>
                          <a:ea typeface="Open Sans" pitchFamily="34" charset="-122"/>
                          <a:cs typeface="Open Sans" pitchFamily="34" charset="-120"/>
                        </a:rPr>
                        <a:t>N+1</a:t>
                      </a:r>
                    </a:p>
                  </a:txBody>
                  <a:tcPr marL="0" marR="0" marT="0" marB="0" anchor="ctr"/>
                </a:tc>
                <a:tc>
                  <a:txBody>
                    <a:bodyPr/>
                    <a:lstStyle/>
                    <a:p>
                      <a:pPr marL="8890" marR="86360" algn="ctr">
                        <a:lnSpc>
                          <a:spcPts val="1030"/>
                        </a:lnSpc>
                        <a:spcBef>
                          <a:spcPts val="295"/>
                        </a:spcBef>
                        <a:buNone/>
                      </a:pPr>
                      <a:r>
                        <a:rPr lang="fr-FR" sz="1800" b="1" kern="1200" dirty="0">
                          <a:solidFill>
                            <a:schemeClr val="bg1"/>
                          </a:solidFill>
                          <a:latin typeface="Open Sans" pitchFamily="34" charset="0"/>
                          <a:ea typeface="Open Sans" pitchFamily="34" charset="-122"/>
                          <a:cs typeface="Open Sans" pitchFamily="34" charset="-120"/>
                        </a:rPr>
                        <a:t>N+2</a:t>
                      </a:r>
                    </a:p>
                  </a:txBody>
                  <a:tcPr marL="0" marR="0" marT="0" marB="0" anchor="ctr"/>
                </a:tc>
                <a:extLst>
                  <a:ext uri="{0D108BD9-81ED-4DB2-BD59-A6C34878D82A}">
                    <a16:rowId xmlns:a16="http://schemas.microsoft.com/office/drawing/2014/main" val="1274004821"/>
                  </a:ext>
                </a:extLst>
              </a:tr>
              <a:tr h="1361547">
                <a:tc>
                  <a:txBody>
                    <a:bodyPr/>
                    <a:lstStyle/>
                    <a:p>
                      <a:pPr marL="93345" marR="85090">
                        <a:lnSpc>
                          <a:spcPct val="91000"/>
                        </a:lnSpc>
                        <a:spcBef>
                          <a:spcPts val="295"/>
                        </a:spcBef>
                        <a:buNone/>
                      </a:pPr>
                      <a:r>
                        <a:rPr lang="fr-FR" sz="1400" b="0" i="0" kern="1200" dirty="0">
                          <a:solidFill>
                            <a:schemeClr val="tx1"/>
                          </a:solidFill>
                          <a:effectLst/>
                          <a:latin typeface="Inter"/>
                          <a:ea typeface="+mn-ea"/>
                          <a:cs typeface="+mn-cs"/>
                        </a:rPr>
                        <a:t>Prévisions d'amortissements (avec investissements actuels)</a:t>
                      </a:r>
                    </a:p>
                  </a:txBody>
                  <a:tcPr marL="0" marR="0" marT="0" marB="0" anchor="ctr"/>
                </a:tc>
                <a:tc>
                  <a:txBody>
                    <a:bodyPr/>
                    <a:lstStyle/>
                    <a:p>
                      <a:pPr marL="95250" marR="83185" algn="r">
                        <a:buNone/>
                      </a:pPr>
                      <a:r>
                        <a:rPr lang="fr-FR" sz="1400" b="0" i="0" kern="1200">
                          <a:solidFill>
                            <a:schemeClr val="tx1"/>
                          </a:solidFill>
                          <a:effectLst/>
                          <a:latin typeface="Inter"/>
                          <a:ea typeface="+mn-ea"/>
                          <a:cs typeface="+mn-cs"/>
                        </a:rPr>
                        <a:t>2 646</a:t>
                      </a:r>
                      <a:endParaRPr lang="fr-FR" sz="1400" b="0" i="0" kern="1200" dirty="0">
                        <a:solidFill>
                          <a:schemeClr val="tx1"/>
                        </a:solidFill>
                        <a:effectLst/>
                        <a:latin typeface="Inter"/>
                        <a:ea typeface="+mn-ea"/>
                        <a:cs typeface="+mn-cs"/>
                      </a:endParaRPr>
                    </a:p>
                  </a:txBody>
                  <a:tcPr marL="0" marR="0" marT="0" marB="0" anchor="ctr"/>
                </a:tc>
                <a:tc>
                  <a:txBody>
                    <a:bodyPr/>
                    <a:lstStyle/>
                    <a:p>
                      <a:pPr marL="96520" marR="81280" algn="r">
                        <a:lnSpc>
                          <a:spcPts val="1030"/>
                        </a:lnSpc>
                        <a:spcBef>
                          <a:spcPts val="295"/>
                        </a:spcBef>
                        <a:buNone/>
                      </a:pPr>
                      <a:r>
                        <a:rPr lang="fr-FR" sz="1400" b="0" i="0" kern="1200">
                          <a:solidFill>
                            <a:schemeClr val="tx1"/>
                          </a:solidFill>
                          <a:effectLst/>
                          <a:latin typeface="Inter"/>
                          <a:ea typeface="+mn-ea"/>
                          <a:cs typeface="+mn-cs"/>
                        </a:rPr>
                        <a:t>349</a:t>
                      </a:r>
                      <a:endParaRPr lang="fr-FR" sz="1400" b="0" i="0" kern="1200" dirty="0">
                        <a:solidFill>
                          <a:schemeClr val="tx1"/>
                        </a:solidFill>
                        <a:effectLst/>
                        <a:latin typeface="Inter"/>
                        <a:ea typeface="+mn-ea"/>
                        <a:cs typeface="+mn-cs"/>
                      </a:endParaRPr>
                    </a:p>
                  </a:txBody>
                  <a:tcPr marL="0" marR="0" marT="0" marB="0" anchor="ctr"/>
                </a:tc>
                <a:tc>
                  <a:txBody>
                    <a:bodyPr/>
                    <a:lstStyle/>
                    <a:p>
                      <a:pPr marL="8890" marR="86360" algn="r">
                        <a:lnSpc>
                          <a:spcPts val="1030"/>
                        </a:lnSpc>
                        <a:spcBef>
                          <a:spcPts val="295"/>
                        </a:spcBef>
                        <a:buNone/>
                      </a:pPr>
                      <a:r>
                        <a:rPr lang="fr-FR" sz="1400" b="0" i="0" kern="1200">
                          <a:solidFill>
                            <a:schemeClr val="tx1"/>
                          </a:solidFill>
                          <a:effectLst/>
                          <a:latin typeface="Inter"/>
                          <a:ea typeface="+mn-ea"/>
                          <a:cs typeface="+mn-cs"/>
                        </a:rPr>
                        <a:t>274</a:t>
                      </a:r>
                      <a:endParaRPr lang="fr-FR" sz="1400" b="0" i="0" kern="1200" dirty="0">
                        <a:solidFill>
                          <a:schemeClr val="tx1"/>
                        </a:solidFill>
                        <a:effectLst/>
                        <a:latin typeface="Inter"/>
                        <a:ea typeface="+mn-ea"/>
                        <a:cs typeface="+mn-cs"/>
                      </a:endParaRPr>
                    </a:p>
                  </a:txBody>
                  <a:tcPr marL="0" marR="0" marT="0" marB="0" anchor="ctr"/>
                </a:tc>
                <a:extLst>
                  <a:ext uri="{0D108BD9-81ED-4DB2-BD59-A6C34878D82A}">
                    <a16:rowId xmlns:a16="http://schemas.microsoft.com/office/drawing/2014/main" val="3028680961"/>
                  </a:ext>
                </a:extLst>
              </a:tr>
            </a:tbl>
          </a:graphicData>
        </a:graphic>
      </p:graphicFrame>
    </p:spTree>
    <p:extLst>
      <p:ext uri="{BB962C8B-B14F-4D97-AF65-F5344CB8AC3E}">
        <p14:creationId xmlns:p14="http://schemas.microsoft.com/office/powerpoint/2010/main" val="39383446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661492" y="2082998"/>
            <a:ext cx="5351859" cy="1329432"/>
          </a:xfrm>
          <a:prstGeom prst="roundRect">
            <a:avLst>
              <a:gd name="adj" fmla="val 5225"/>
            </a:avLst>
          </a:prstGeom>
          <a:solidFill>
            <a:srgbClr val="DDEBEE"/>
          </a:solidFill>
          <a:ln w="7620">
            <a:solidFill>
              <a:srgbClr val="C3D1D4"/>
            </a:solidFill>
            <a:prstDash val="solid"/>
          </a:ln>
        </p:spPr>
        <p:txBody>
          <a:bodyPr/>
          <a:lstStyle/>
          <a:p>
            <a:endParaRPr lang="fr-FR" sz="1500"/>
          </a:p>
        </p:txBody>
      </p:sp>
      <p:sp>
        <p:nvSpPr>
          <p:cNvPr id="4" name="Text 2"/>
          <p:cNvSpPr/>
          <p:nvPr/>
        </p:nvSpPr>
        <p:spPr>
          <a:xfrm>
            <a:off x="833140" y="2254647"/>
            <a:ext cx="2120503" cy="258465"/>
          </a:xfrm>
          <a:prstGeom prst="rect">
            <a:avLst/>
          </a:prstGeom>
          <a:noFill/>
          <a:ln/>
        </p:spPr>
        <p:txBody>
          <a:bodyPr wrap="none" lIns="0" tIns="0" rIns="0" bIns="0" rtlCol="0" anchor="t"/>
          <a:lstStyle/>
          <a:p>
            <a:pPr>
              <a:lnSpc>
                <a:spcPts val="2000"/>
              </a:lnSpc>
            </a:pPr>
            <a:r>
              <a:rPr lang="en-US" sz="1625" b="1" dirty="0">
                <a:solidFill>
                  <a:srgbClr val="47413C"/>
                </a:solidFill>
                <a:latin typeface="League Spartan Bold" pitchFamily="34" charset="0"/>
                <a:ea typeface="League Spartan Bold" pitchFamily="34" charset="-122"/>
                <a:cs typeface="League Spartan Bold" pitchFamily="34" charset="-120"/>
              </a:rPr>
              <a:t>Impôt Sociétés Total</a:t>
            </a:r>
            <a:endParaRPr lang="en-US" sz="1625" dirty="0"/>
          </a:p>
        </p:txBody>
      </p:sp>
      <p:sp>
        <p:nvSpPr>
          <p:cNvPr id="5" name="ZoneTexte_Tot"/>
          <p:cNvSpPr/>
          <p:nvPr/>
        </p:nvSpPr>
        <p:spPr>
          <a:xfrm>
            <a:off x="833140" y="2612331"/>
            <a:ext cx="5008563" cy="264617"/>
          </a:xfrm>
          <a:prstGeom prst="rect">
            <a:avLst/>
          </a:prstGeom>
          <a:noFill/>
          <a:ln/>
        </p:spPr>
        <p:txBody>
          <a:bodyPr wrap="none" lIns="0" tIns="0" rIns="0" bIns="0" rtlCol="0" anchor="t"/>
          <a:lstStyle/>
          <a:p>
            <a:pPr>
              <a:lnSpc>
                <a:spcPts val="2083"/>
              </a:lnSpc>
            </a:pPr>
            <a:r>
              <a:rPr lang="fr-FR" sz="1292" b="1">
                <a:solidFill>
                  <a:srgbClr val="47413C"/>
                </a:solidFill>
                <a:latin typeface="Open Sans" pitchFamily="34" charset="0"/>
                <a:ea typeface="Open Sans" pitchFamily="34" charset="-122"/>
                <a:cs typeface="Open Sans" pitchFamily="34" charset="-120"/>
              </a:rPr>
              <a:t>0 EUR</a:t>
            </a:r>
            <a:endParaRPr lang="en-US" sz="1292" dirty="0"/>
          </a:p>
        </p:txBody>
      </p:sp>
      <p:sp>
        <p:nvSpPr>
          <p:cNvPr id="6" name="Text 4"/>
          <p:cNvSpPr/>
          <p:nvPr/>
        </p:nvSpPr>
        <p:spPr>
          <a:xfrm>
            <a:off x="833140" y="2976166"/>
            <a:ext cx="5008563" cy="264617"/>
          </a:xfrm>
          <a:prstGeom prst="rect">
            <a:avLst/>
          </a:prstGeom>
          <a:noFill/>
          <a:ln/>
        </p:spPr>
        <p:txBody>
          <a:bodyPr wrap="none" lIns="0" tIns="0" rIns="0" bIns="0" rtlCol="0" anchor="t"/>
          <a:lstStyle/>
          <a:p>
            <a:pPr>
              <a:lnSpc>
                <a:spcPts val="2083"/>
              </a:lnSpc>
            </a:pPr>
            <a:r>
              <a:rPr lang="en-US" sz="1292" dirty="0">
                <a:solidFill>
                  <a:srgbClr val="47413C"/>
                </a:solidFill>
                <a:latin typeface="Open Sans" pitchFamily="34" charset="0"/>
                <a:ea typeface="Open Sans" pitchFamily="34" charset="-122"/>
                <a:cs typeface="Open Sans" pitchFamily="34" charset="-120"/>
              </a:rPr>
              <a:t>Déficit constaté</a:t>
            </a:r>
            <a:endParaRPr lang="en-US" sz="1292" dirty="0"/>
          </a:p>
        </p:txBody>
      </p:sp>
      <p:sp>
        <p:nvSpPr>
          <p:cNvPr id="7" name="Shape 5"/>
          <p:cNvSpPr/>
          <p:nvPr/>
        </p:nvSpPr>
        <p:spPr>
          <a:xfrm>
            <a:off x="6178650" y="2082998"/>
            <a:ext cx="5351859" cy="1329432"/>
          </a:xfrm>
          <a:prstGeom prst="roundRect">
            <a:avLst>
              <a:gd name="adj" fmla="val 5225"/>
            </a:avLst>
          </a:prstGeom>
          <a:solidFill>
            <a:srgbClr val="DDEBEE"/>
          </a:solidFill>
          <a:ln w="7620">
            <a:solidFill>
              <a:srgbClr val="C3D1D4"/>
            </a:solidFill>
            <a:prstDash val="solid"/>
          </a:ln>
        </p:spPr>
        <p:txBody>
          <a:bodyPr/>
          <a:lstStyle/>
          <a:p>
            <a:endParaRPr lang="fr-FR" sz="1500"/>
          </a:p>
        </p:txBody>
      </p:sp>
      <p:sp>
        <p:nvSpPr>
          <p:cNvPr id="8" name="Text 6"/>
          <p:cNvSpPr/>
          <p:nvPr/>
        </p:nvSpPr>
        <p:spPr>
          <a:xfrm>
            <a:off x="6350298" y="2254647"/>
            <a:ext cx="2067421" cy="258465"/>
          </a:xfrm>
          <a:prstGeom prst="rect">
            <a:avLst/>
          </a:prstGeom>
          <a:noFill/>
          <a:ln/>
        </p:spPr>
        <p:txBody>
          <a:bodyPr wrap="none" lIns="0" tIns="0" rIns="0" bIns="0" rtlCol="0" anchor="t"/>
          <a:lstStyle/>
          <a:p>
            <a:pPr>
              <a:lnSpc>
                <a:spcPts val="2000"/>
              </a:lnSpc>
            </a:pPr>
            <a:r>
              <a:rPr lang="en-US" sz="1625" b="1" dirty="0">
                <a:solidFill>
                  <a:srgbClr val="47413C"/>
                </a:solidFill>
                <a:latin typeface="League Spartan Bold" pitchFamily="34" charset="0"/>
                <a:ea typeface="League Spartan Bold" pitchFamily="34" charset="-122"/>
                <a:cs typeface="League Spartan Bold" pitchFamily="34" charset="-120"/>
              </a:rPr>
              <a:t>Crédits d'Impôts</a:t>
            </a:r>
            <a:endParaRPr lang="en-US" sz="1625" dirty="0"/>
          </a:p>
        </p:txBody>
      </p:sp>
      <p:sp>
        <p:nvSpPr>
          <p:cNvPr id="9" name="ZoneTexte_Credit"/>
          <p:cNvSpPr/>
          <p:nvPr/>
        </p:nvSpPr>
        <p:spPr>
          <a:xfrm>
            <a:off x="6350298" y="2612331"/>
            <a:ext cx="5008563" cy="264617"/>
          </a:xfrm>
          <a:prstGeom prst="rect">
            <a:avLst/>
          </a:prstGeom>
          <a:noFill/>
          <a:ln/>
        </p:spPr>
        <p:txBody>
          <a:bodyPr wrap="none" lIns="0" tIns="0" rIns="0" bIns="0" rtlCol="0" anchor="t"/>
          <a:lstStyle/>
          <a:p>
            <a:pPr>
              <a:lnSpc>
                <a:spcPts val="2083"/>
              </a:lnSpc>
            </a:pPr>
            <a:r>
              <a:rPr lang="fr-FR" sz="1292" b="1">
                <a:solidFill>
                  <a:srgbClr val="47413C"/>
                </a:solidFill>
                <a:latin typeface="Open Sans" pitchFamily="34" charset="0"/>
                <a:ea typeface="Open Sans" pitchFamily="34" charset="-122"/>
                <a:cs typeface="Open Sans" pitchFamily="34" charset="-120"/>
              </a:rPr>
              <a:t>0 EUR</a:t>
            </a:r>
            <a:endParaRPr lang="en-US" sz="1292" dirty="0"/>
          </a:p>
        </p:txBody>
      </p:sp>
      <p:sp>
        <p:nvSpPr>
          <p:cNvPr id="10" name="Shape 8"/>
          <p:cNvSpPr/>
          <p:nvPr/>
        </p:nvSpPr>
        <p:spPr>
          <a:xfrm>
            <a:off x="661492" y="3577729"/>
            <a:ext cx="5351859" cy="1329432"/>
          </a:xfrm>
          <a:prstGeom prst="roundRect">
            <a:avLst>
              <a:gd name="adj" fmla="val 5225"/>
            </a:avLst>
          </a:prstGeom>
          <a:solidFill>
            <a:srgbClr val="DDEBEE"/>
          </a:solidFill>
          <a:ln w="7620">
            <a:solidFill>
              <a:srgbClr val="C3D1D4"/>
            </a:solidFill>
            <a:prstDash val="solid"/>
          </a:ln>
        </p:spPr>
        <p:txBody>
          <a:bodyPr/>
          <a:lstStyle/>
          <a:p>
            <a:endParaRPr lang="fr-FR" sz="1500"/>
          </a:p>
        </p:txBody>
      </p:sp>
      <p:sp>
        <p:nvSpPr>
          <p:cNvPr id="11" name="Text 9"/>
          <p:cNvSpPr/>
          <p:nvPr/>
        </p:nvSpPr>
        <p:spPr>
          <a:xfrm>
            <a:off x="833140" y="3749378"/>
            <a:ext cx="2067421" cy="258465"/>
          </a:xfrm>
          <a:prstGeom prst="rect">
            <a:avLst/>
          </a:prstGeom>
          <a:noFill/>
          <a:ln/>
        </p:spPr>
        <p:txBody>
          <a:bodyPr wrap="none" lIns="0" tIns="0" rIns="0" bIns="0" rtlCol="0" anchor="t"/>
          <a:lstStyle/>
          <a:p>
            <a:pPr>
              <a:lnSpc>
                <a:spcPts val="2000"/>
              </a:lnSpc>
            </a:pPr>
            <a:r>
              <a:rPr lang="en-US" sz="1625" b="1" dirty="0">
                <a:solidFill>
                  <a:srgbClr val="47413C"/>
                </a:solidFill>
                <a:latin typeface="League Spartan Bold" pitchFamily="34" charset="0"/>
                <a:ea typeface="League Spartan Bold" pitchFamily="34" charset="-122"/>
                <a:cs typeface="League Spartan Bold" pitchFamily="34" charset="-120"/>
              </a:rPr>
              <a:t>Acomptes Versés</a:t>
            </a:r>
            <a:endParaRPr lang="en-US" sz="1625" dirty="0"/>
          </a:p>
        </p:txBody>
      </p:sp>
      <p:sp>
        <p:nvSpPr>
          <p:cNvPr id="12" name="ZoneTexte_Acomptes"/>
          <p:cNvSpPr/>
          <p:nvPr/>
        </p:nvSpPr>
        <p:spPr>
          <a:xfrm>
            <a:off x="833140" y="4107061"/>
            <a:ext cx="5008563" cy="264617"/>
          </a:xfrm>
          <a:prstGeom prst="rect">
            <a:avLst/>
          </a:prstGeom>
          <a:noFill/>
          <a:ln/>
        </p:spPr>
        <p:txBody>
          <a:bodyPr wrap="none" lIns="0" tIns="0" rIns="0" bIns="0" rtlCol="0" anchor="t"/>
          <a:lstStyle/>
          <a:p>
            <a:pPr>
              <a:lnSpc>
                <a:spcPts val="2083"/>
              </a:lnSpc>
            </a:pPr>
            <a:r>
              <a:rPr lang="fr-FR" sz="1292" b="1">
                <a:solidFill>
                  <a:srgbClr val="47413C"/>
                </a:solidFill>
                <a:latin typeface="Open Sans" pitchFamily="34" charset="0"/>
                <a:ea typeface="Open Sans" pitchFamily="34" charset="-122"/>
                <a:cs typeface="Open Sans" pitchFamily="34" charset="-120"/>
              </a:rPr>
              <a:t>16 611 EUR</a:t>
            </a:r>
            <a:endParaRPr lang="en-US" sz="1292" dirty="0"/>
          </a:p>
        </p:txBody>
      </p:sp>
      <p:sp>
        <p:nvSpPr>
          <p:cNvPr id="14" name="Shape 12"/>
          <p:cNvSpPr/>
          <p:nvPr/>
        </p:nvSpPr>
        <p:spPr>
          <a:xfrm>
            <a:off x="6178650" y="3577729"/>
            <a:ext cx="5351859" cy="1329432"/>
          </a:xfrm>
          <a:prstGeom prst="roundRect">
            <a:avLst>
              <a:gd name="adj" fmla="val 5225"/>
            </a:avLst>
          </a:prstGeom>
          <a:solidFill>
            <a:srgbClr val="DDEBEE"/>
          </a:solidFill>
          <a:ln w="7620">
            <a:solidFill>
              <a:srgbClr val="C3D1D4"/>
            </a:solidFill>
            <a:prstDash val="solid"/>
          </a:ln>
        </p:spPr>
        <p:txBody>
          <a:bodyPr/>
          <a:lstStyle/>
          <a:p>
            <a:endParaRPr lang="fr-FR" sz="1500"/>
          </a:p>
        </p:txBody>
      </p:sp>
      <p:sp>
        <p:nvSpPr>
          <p:cNvPr id="15" name="Text 13"/>
          <p:cNvSpPr/>
          <p:nvPr/>
        </p:nvSpPr>
        <p:spPr>
          <a:xfrm>
            <a:off x="6350298" y="3749378"/>
            <a:ext cx="1441933" cy="249427"/>
          </a:xfrm>
          <a:prstGeom prst="rect">
            <a:avLst/>
          </a:prstGeom>
          <a:noFill/>
          <a:ln/>
        </p:spPr>
        <p:txBody>
          <a:bodyPr wrap="none" lIns="0" tIns="0" rIns="0" bIns="0" rtlCol="0" anchor="t">
            <a:spAutoFit/>
          </a:bodyPr>
          <a:lstStyle/>
          <a:p>
            <a:pPr>
              <a:lnSpc>
                <a:spcPts val="2000"/>
              </a:lnSpc>
            </a:pPr>
            <a:r>
              <a:rPr lang="en-US" sz="1625" b="1">
                <a:solidFill>
                  <a:srgbClr val="47413C"/>
                </a:solidFill>
                <a:latin typeface="League Spartan Bold" pitchFamily="34" charset="0"/>
                <a:ea typeface="League Spartan Bold" pitchFamily="34" charset="-122"/>
              </a:rPr>
              <a:t>Montant à payer</a:t>
            </a:r>
            <a:endParaRPr lang="en-US" sz="1625" dirty="0"/>
          </a:p>
        </p:txBody>
      </p:sp>
      <p:sp>
        <p:nvSpPr>
          <p:cNvPr id="16" name="ZoneTexte_Montant"/>
          <p:cNvSpPr/>
          <p:nvPr/>
        </p:nvSpPr>
        <p:spPr>
          <a:xfrm>
            <a:off x="6350298" y="4107061"/>
            <a:ext cx="5008563" cy="264617"/>
          </a:xfrm>
          <a:prstGeom prst="rect">
            <a:avLst/>
          </a:prstGeom>
          <a:noFill/>
          <a:ln/>
        </p:spPr>
        <p:txBody>
          <a:bodyPr wrap="none" lIns="0" tIns="0" rIns="0" bIns="0" rtlCol="0" anchor="t"/>
          <a:lstStyle/>
          <a:p>
            <a:pPr>
              <a:lnSpc>
                <a:spcPts val="2083"/>
              </a:lnSpc>
            </a:pPr>
            <a:r>
              <a:rPr lang="fr-FR" sz="1292" b="1">
                <a:solidFill>
                  <a:srgbClr val="47413C"/>
                </a:solidFill>
                <a:latin typeface="Open Sans" pitchFamily="34" charset="0"/>
                <a:ea typeface="Open Sans" pitchFamily="34" charset="-122"/>
                <a:cs typeface="Open Sans" pitchFamily="34" charset="-120"/>
              </a:rPr>
              <a:t>-16 611 EUR</a:t>
            </a:r>
            <a:endParaRPr lang="en-US" sz="1292" dirty="0"/>
          </a:p>
        </p:txBody>
      </p:sp>
      <p:sp>
        <p:nvSpPr>
          <p:cNvPr id="17" name="Text 15"/>
          <p:cNvSpPr/>
          <p:nvPr/>
        </p:nvSpPr>
        <p:spPr>
          <a:xfrm>
            <a:off x="6350298" y="4470896"/>
            <a:ext cx="5008563" cy="264617"/>
          </a:xfrm>
          <a:prstGeom prst="rect">
            <a:avLst/>
          </a:prstGeom>
          <a:noFill/>
          <a:ln/>
        </p:spPr>
        <p:txBody>
          <a:bodyPr wrap="none" lIns="0" tIns="0" rIns="0" bIns="0" rtlCol="0" anchor="t"/>
          <a:lstStyle/>
          <a:p>
            <a:pPr>
              <a:lnSpc>
                <a:spcPts val="2083"/>
              </a:lnSpc>
            </a:pPr>
            <a:r>
              <a:rPr lang="en-US" sz="1292" dirty="0">
                <a:solidFill>
                  <a:srgbClr val="47413C"/>
                </a:solidFill>
                <a:latin typeface="Open Sans" pitchFamily="34" charset="0"/>
                <a:ea typeface="Open Sans" pitchFamily="34" charset="-122"/>
                <a:cs typeface="Open Sans" pitchFamily="34" charset="-120"/>
              </a:rPr>
              <a:t>Créance fiscale</a:t>
            </a:r>
            <a:endParaRPr lang="en-US" sz="1292" dirty="0"/>
          </a:p>
        </p:txBody>
      </p:sp>
      <p:sp>
        <p:nvSpPr>
          <p:cNvPr id="18" name="ZoneTexte_PhraseAcomptes"/>
          <p:cNvSpPr/>
          <p:nvPr/>
        </p:nvSpPr>
        <p:spPr>
          <a:xfrm>
            <a:off x="661492" y="5093196"/>
            <a:ext cx="10869018" cy="529233"/>
          </a:xfrm>
          <a:prstGeom prst="rect">
            <a:avLst/>
          </a:prstGeom>
          <a:noFill/>
          <a:ln/>
        </p:spPr>
        <p:txBody>
          <a:bodyPr wrap="square" lIns="0" tIns="0" rIns="0" bIns="0" rtlCol="0" anchor="t"/>
          <a:lstStyle/>
          <a:p>
            <a:pPr>
              <a:lnSpc>
                <a:spcPts val="2083"/>
              </a:lnSpc>
            </a:pPr>
            <a:r>
              <a:rPr lang="fr-FR" sz="1292">
                <a:solidFill>
                  <a:srgbClr val="47413C"/>
                </a:solidFill>
                <a:latin typeface="Open Sans" pitchFamily="34" charset="0"/>
                <a:ea typeface="Open Sans" pitchFamily="34" charset="-122"/>
                <a:cs typeface="Open Sans" pitchFamily="34" charset="-120"/>
              </a:rPr>
              <a:t>Compte tenu du déficit constaté, aucun acompte d'impôt sur les sociétés n'est exigible au titre de l'exercice à venir.</a:t>
            </a:r>
            <a:endParaRPr lang="en-US" sz="1292" dirty="0"/>
          </a:p>
        </p:txBody>
      </p:sp>
      <p:sp>
        <p:nvSpPr>
          <p:cNvPr id="20" name="Text 0">
            <a:extLst>
              <a:ext uri="{FF2B5EF4-FFF2-40B4-BE49-F238E27FC236}">
                <a16:creationId xmlns:a16="http://schemas.microsoft.com/office/drawing/2014/main" id="{A449ED43-EF1C-1B47-FD9F-4B9C0D0D3BFF}"/>
              </a:ext>
            </a:extLst>
          </p:cNvPr>
          <p:cNvSpPr/>
          <p:nvPr/>
        </p:nvSpPr>
        <p:spPr>
          <a:xfrm>
            <a:off x="661492" y="604800"/>
            <a:ext cx="6929933" cy="516732"/>
          </a:xfrm>
          <a:prstGeom prst="rect">
            <a:avLst/>
          </a:prstGeom>
          <a:noFill/>
          <a:ln/>
        </p:spPr>
        <p:txBody>
          <a:bodyPr wrap="none" lIns="0" tIns="0" rIns="0" bIns="0" rtlCol="0" anchor="t"/>
          <a:lstStyle/>
          <a:p>
            <a:pPr>
              <a:lnSpc>
                <a:spcPts val="4042"/>
              </a:lnSpc>
            </a:pPr>
            <a:r>
              <a:rPr lang="en-US" sz="3250" b="1" dirty="0" err="1">
                <a:solidFill>
                  <a:srgbClr val="000000"/>
                </a:solidFill>
                <a:latin typeface="League Spartan Bold" pitchFamily="34" charset="0"/>
                <a:ea typeface="League Spartan Bold" pitchFamily="34" charset="-122"/>
                <a:cs typeface="League Spartan Bold" pitchFamily="34" charset="-120"/>
              </a:rPr>
              <a:t>Impôt</a:t>
            </a:r>
            <a:r>
              <a:rPr lang="en-US" sz="3250" b="1" dirty="0">
                <a:solidFill>
                  <a:srgbClr val="000000"/>
                </a:solidFill>
                <a:latin typeface="League Spartan Bold" pitchFamily="34" charset="0"/>
                <a:ea typeface="League Spartan Bold" pitchFamily="34" charset="-122"/>
                <a:cs typeface="League Spartan Bold" pitchFamily="34" charset="-120"/>
              </a:rPr>
              <a:t> sur les Sociétés</a:t>
            </a:r>
            <a:endParaRPr lang="en-US" sz="3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43C25E9D-0E17-F9BA-159A-EB34E1C88909}"/>
              </a:ext>
            </a:extLst>
          </p:cNvPr>
          <p:cNvSpPr/>
          <p:nvPr/>
        </p:nvSpPr>
        <p:spPr>
          <a:xfrm>
            <a:off x="661492" y="604800"/>
            <a:ext cx="6929933" cy="516732"/>
          </a:xfrm>
          <a:prstGeom prst="rect">
            <a:avLst/>
          </a:prstGeom>
          <a:noFill/>
          <a:ln/>
        </p:spPr>
        <p:txBody>
          <a:bodyPr wrap="none" lIns="0" tIns="0" rIns="0" bIns="0" rtlCol="0" anchor="t"/>
          <a:lstStyle/>
          <a:p>
            <a:pPr>
              <a:lnSpc>
                <a:spcPts val="4042"/>
              </a:lnSpc>
            </a:pPr>
            <a:r>
              <a:rPr lang="en-US" sz="3250" b="1" dirty="0" err="1">
                <a:solidFill>
                  <a:srgbClr val="000000"/>
                </a:solidFill>
                <a:latin typeface="League Spartan Bold" pitchFamily="34" charset="0"/>
                <a:ea typeface="League Spartan Bold" pitchFamily="34" charset="-122"/>
                <a:cs typeface="League Spartan Bold" pitchFamily="34" charset="-120"/>
              </a:rPr>
              <a:t>Acompte</a:t>
            </a:r>
            <a:r>
              <a:rPr lang="en-US" sz="3250" b="1" dirty="0">
                <a:solidFill>
                  <a:srgbClr val="000000"/>
                </a:solidFill>
                <a:latin typeface="League Spartan Bold" pitchFamily="34" charset="0"/>
                <a:ea typeface="League Spartan Bold" pitchFamily="34" charset="-122"/>
                <a:cs typeface="League Spartan Bold" pitchFamily="34" charset="-120"/>
              </a:rPr>
              <a:t> impots sur les sociétés N+1</a:t>
            </a:r>
            <a:endParaRPr lang="en-US" sz="3250" dirty="0"/>
          </a:p>
        </p:txBody>
      </p:sp>
      <p:sp>
        <p:nvSpPr>
          <p:cNvPr id="6" name="Flèche : bas 5">
            <a:extLst>
              <a:ext uri="{FF2B5EF4-FFF2-40B4-BE49-F238E27FC236}">
                <a16:creationId xmlns:a16="http://schemas.microsoft.com/office/drawing/2014/main" id="{D9723506-A3A7-F07B-108E-FB3A5A0636DA}"/>
              </a:ext>
            </a:extLst>
          </p:cNvPr>
          <p:cNvSpPr/>
          <p:nvPr/>
        </p:nvSpPr>
        <p:spPr>
          <a:xfrm rot="16200000">
            <a:off x="5473700" y="-625474"/>
            <a:ext cx="793750" cy="8108947"/>
          </a:xfrm>
          <a:prstGeom prst="down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FED6A4E8-5B89-41C1-482C-21CB56ECAA98}"/>
              </a:ext>
            </a:extLst>
          </p:cNvPr>
          <p:cNvSpPr/>
          <p:nvPr/>
        </p:nvSpPr>
        <p:spPr>
          <a:xfrm>
            <a:off x="7130534" y="3224535"/>
            <a:ext cx="635792" cy="398771"/>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fr-FR" sz="1200"/>
              <a:t>15/</a:t>
            </a:r>
            <a:endParaRPr lang="fr-FR" sz="800" dirty="0"/>
          </a:p>
        </p:txBody>
      </p:sp>
      <p:sp>
        <p:nvSpPr>
          <p:cNvPr id="9" name="Rectangle 8">
            <a:extLst>
              <a:ext uri="{FF2B5EF4-FFF2-40B4-BE49-F238E27FC236}">
                <a16:creationId xmlns:a16="http://schemas.microsoft.com/office/drawing/2014/main" id="{B1541764-6D65-37DF-3887-51DFD2101139}"/>
              </a:ext>
            </a:extLst>
          </p:cNvPr>
          <p:cNvSpPr/>
          <p:nvPr/>
        </p:nvSpPr>
        <p:spPr>
          <a:xfrm>
            <a:off x="5608395" y="3234684"/>
            <a:ext cx="635000" cy="388623"/>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fr-FR" sz="1200"/>
              <a:t>15/</a:t>
            </a:r>
            <a:endParaRPr lang="fr-FR" sz="800" dirty="0"/>
          </a:p>
        </p:txBody>
      </p:sp>
      <p:sp>
        <p:nvSpPr>
          <p:cNvPr id="10" name="Rectangle 9">
            <a:extLst>
              <a:ext uri="{FF2B5EF4-FFF2-40B4-BE49-F238E27FC236}">
                <a16:creationId xmlns:a16="http://schemas.microsoft.com/office/drawing/2014/main" id="{43536928-73DA-BCDA-005B-DE38BA513094}"/>
              </a:ext>
            </a:extLst>
          </p:cNvPr>
          <p:cNvSpPr/>
          <p:nvPr/>
        </p:nvSpPr>
        <p:spPr>
          <a:xfrm>
            <a:off x="8651874" y="3224536"/>
            <a:ext cx="635000" cy="39877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fr-FR" sz="1200"/>
              <a:t>15/</a:t>
            </a:r>
            <a:endParaRPr lang="fr-FR" sz="800" dirty="0"/>
          </a:p>
        </p:txBody>
      </p:sp>
      <p:sp>
        <p:nvSpPr>
          <p:cNvPr id="22" name="Rectangle 21">
            <a:extLst>
              <a:ext uri="{FF2B5EF4-FFF2-40B4-BE49-F238E27FC236}">
                <a16:creationId xmlns:a16="http://schemas.microsoft.com/office/drawing/2014/main" id="{D021D383-150C-63E0-4814-8BB0BCD28BC6}"/>
              </a:ext>
            </a:extLst>
          </p:cNvPr>
          <p:cNvSpPr/>
          <p:nvPr/>
        </p:nvSpPr>
        <p:spPr>
          <a:xfrm rot="16200000">
            <a:off x="7051555" y="3997332"/>
            <a:ext cx="79375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Rectangle 22">
            <a:extLst>
              <a:ext uri="{FF2B5EF4-FFF2-40B4-BE49-F238E27FC236}">
                <a16:creationId xmlns:a16="http://schemas.microsoft.com/office/drawing/2014/main" id="{32ED2DBE-D0DA-C044-6DDD-36AC1F316239}"/>
              </a:ext>
            </a:extLst>
          </p:cNvPr>
          <p:cNvSpPr/>
          <p:nvPr/>
        </p:nvSpPr>
        <p:spPr>
          <a:xfrm rot="16200000">
            <a:off x="5530612" y="2804797"/>
            <a:ext cx="79375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Rectangle : coins arrondis 24">
            <a:extLst>
              <a:ext uri="{FF2B5EF4-FFF2-40B4-BE49-F238E27FC236}">
                <a16:creationId xmlns:a16="http://schemas.microsoft.com/office/drawing/2014/main" id="{3221D4FD-5B7D-04D7-D8AD-72260CB2AE90}"/>
              </a:ext>
            </a:extLst>
          </p:cNvPr>
          <p:cNvSpPr/>
          <p:nvPr/>
        </p:nvSpPr>
        <p:spPr>
          <a:xfrm>
            <a:off x="5664153" y="2031506"/>
            <a:ext cx="515000" cy="408623"/>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gn="ctr"/>
            <a:r>
              <a:rPr lang="fr-FR">
                <a:solidFill>
                  <a:schemeClr val="tx1"/>
                </a:solidFill>
              </a:rPr>
              <a:t>0 €</a:t>
            </a:r>
            <a:endParaRPr lang="fr-FR" dirty="0">
              <a:solidFill>
                <a:schemeClr val="tx1"/>
              </a:solidFill>
            </a:endParaRPr>
          </a:p>
        </p:txBody>
      </p:sp>
      <p:sp>
        <p:nvSpPr>
          <p:cNvPr id="26" name="Rectangle : coins arrondis 25">
            <a:extLst>
              <a:ext uri="{FF2B5EF4-FFF2-40B4-BE49-F238E27FC236}">
                <a16:creationId xmlns:a16="http://schemas.microsoft.com/office/drawing/2014/main" id="{81C7D988-6BF0-AE5F-BCD7-42AABDE58D81}"/>
              </a:ext>
            </a:extLst>
          </p:cNvPr>
          <p:cNvSpPr/>
          <p:nvPr/>
        </p:nvSpPr>
        <p:spPr>
          <a:xfrm>
            <a:off x="8711874" y="2022160"/>
            <a:ext cx="515000" cy="408623"/>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gn="ctr"/>
            <a:r>
              <a:rPr lang="fr-FR">
                <a:solidFill>
                  <a:schemeClr val="tx1"/>
                </a:solidFill>
              </a:rPr>
              <a:t>0 €</a:t>
            </a:r>
            <a:endParaRPr lang="fr-FR" dirty="0">
              <a:solidFill>
                <a:schemeClr val="tx1"/>
              </a:solidFill>
            </a:endParaRPr>
          </a:p>
        </p:txBody>
      </p:sp>
      <p:sp>
        <p:nvSpPr>
          <p:cNvPr id="27" name="Rectangle : coins arrondis 26">
            <a:extLst>
              <a:ext uri="{FF2B5EF4-FFF2-40B4-BE49-F238E27FC236}">
                <a16:creationId xmlns:a16="http://schemas.microsoft.com/office/drawing/2014/main" id="{BA73D76F-8067-7368-FA04-E74317B37D08}"/>
              </a:ext>
            </a:extLst>
          </p:cNvPr>
          <p:cNvSpPr/>
          <p:nvPr/>
        </p:nvSpPr>
        <p:spPr>
          <a:xfrm>
            <a:off x="3787720" y="4356550"/>
            <a:ext cx="1110715" cy="408623"/>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gn="ctr"/>
            <a:r>
              <a:rPr lang="fr-FR">
                <a:solidFill>
                  <a:schemeClr val="tx1"/>
                </a:solidFill>
              </a:rPr>
              <a:t>-16 611 €</a:t>
            </a:r>
            <a:endParaRPr lang="fr-FR" dirty="0">
              <a:solidFill>
                <a:schemeClr val="tx1"/>
              </a:solidFill>
            </a:endParaRPr>
          </a:p>
        </p:txBody>
      </p:sp>
      <p:sp>
        <p:nvSpPr>
          <p:cNvPr id="28" name="Rectangle : coins arrondis 27">
            <a:extLst>
              <a:ext uri="{FF2B5EF4-FFF2-40B4-BE49-F238E27FC236}">
                <a16:creationId xmlns:a16="http://schemas.microsoft.com/office/drawing/2014/main" id="{70D6C296-7C8C-005E-4A16-4E422D594261}"/>
              </a:ext>
            </a:extLst>
          </p:cNvPr>
          <p:cNvSpPr/>
          <p:nvPr/>
        </p:nvSpPr>
        <p:spPr>
          <a:xfrm>
            <a:off x="7190930" y="4427215"/>
            <a:ext cx="515000" cy="408623"/>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gn="ctr"/>
            <a:r>
              <a:rPr lang="fr-FR">
                <a:solidFill>
                  <a:schemeClr val="tx1"/>
                </a:solidFill>
              </a:rPr>
              <a:t>0 €</a:t>
            </a:r>
            <a:endParaRPr lang="fr-FR" dirty="0">
              <a:solidFill>
                <a:schemeClr val="tx1"/>
              </a:solidFill>
            </a:endParaRPr>
          </a:p>
        </p:txBody>
      </p:sp>
      <p:sp>
        <p:nvSpPr>
          <p:cNvPr id="2" name="Rectangle 1">
            <a:extLst>
              <a:ext uri="{FF2B5EF4-FFF2-40B4-BE49-F238E27FC236}">
                <a16:creationId xmlns:a16="http://schemas.microsoft.com/office/drawing/2014/main" id="{6BD5AFFA-FDE5-3668-42E7-F6EE6FBCC78B}"/>
              </a:ext>
            </a:extLst>
          </p:cNvPr>
          <p:cNvSpPr/>
          <p:nvPr/>
        </p:nvSpPr>
        <p:spPr>
          <a:xfrm rot="16200000">
            <a:off x="2363386" y="2814949"/>
            <a:ext cx="79375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4C11C529-F680-2436-89F8-3DBBCD5FCD10}"/>
              </a:ext>
            </a:extLst>
          </p:cNvPr>
          <p:cNvSpPr/>
          <p:nvPr/>
        </p:nvSpPr>
        <p:spPr>
          <a:xfrm rot="16200000">
            <a:off x="8572499" y="2804800"/>
            <a:ext cx="79375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05B18C39-2D8C-88CB-7280-A4A58914B705}"/>
              </a:ext>
            </a:extLst>
          </p:cNvPr>
          <p:cNvSpPr/>
          <p:nvPr/>
        </p:nvSpPr>
        <p:spPr>
          <a:xfrm rot="16200000">
            <a:off x="3946203" y="3936815"/>
            <a:ext cx="79375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id="{91CA8DAC-290F-747D-D952-1AD9BCA3EC81}"/>
              </a:ext>
            </a:extLst>
          </p:cNvPr>
          <p:cNvSpPr/>
          <p:nvPr/>
        </p:nvSpPr>
        <p:spPr>
          <a:xfrm>
            <a:off x="2502761" y="2029585"/>
            <a:ext cx="515000" cy="408623"/>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gn="ctr"/>
            <a:r>
              <a:rPr lang="fr-FR">
                <a:solidFill>
                  <a:schemeClr val="tx1"/>
                </a:solidFill>
              </a:rPr>
              <a:t>0 €</a:t>
            </a:r>
            <a:endParaRPr lang="fr-FR" dirty="0">
              <a:solidFill>
                <a:schemeClr val="tx1"/>
              </a:solidFill>
            </a:endParaRPr>
          </a:p>
        </p:txBody>
      </p:sp>
      <p:sp>
        <p:nvSpPr>
          <p:cNvPr id="14" name="Rectangle 13">
            <a:extLst>
              <a:ext uri="{FF2B5EF4-FFF2-40B4-BE49-F238E27FC236}">
                <a16:creationId xmlns:a16="http://schemas.microsoft.com/office/drawing/2014/main" id="{9FD352EF-BB5F-D7B6-8E6E-AE5088D8BD3A}"/>
              </a:ext>
            </a:extLst>
          </p:cNvPr>
          <p:cNvSpPr/>
          <p:nvPr/>
        </p:nvSpPr>
        <p:spPr>
          <a:xfrm>
            <a:off x="4025578" y="3230249"/>
            <a:ext cx="635000" cy="388624"/>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fr-FR" sz="1200"/>
              <a:t>15/</a:t>
            </a:r>
            <a:endParaRPr lang="fr-FR" sz="800" dirty="0"/>
          </a:p>
        </p:txBody>
      </p:sp>
      <p:sp>
        <p:nvSpPr>
          <p:cNvPr id="15" name="Rectangle 14">
            <a:extLst>
              <a:ext uri="{FF2B5EF4-FFF2-40B4-BE49-F238E27FC236}">
                <a16:creationId xmlns:a16="http://schemas.microsoft.com/office/drawing/2014/main" id="{E4842DEF-0A69-AED6-4BF7-AEF4B41A0311}"/>
              </a:ext>
            </a:extLst>
          </p:cNvPr>
          <p:cNvSpPr/>
          <p:nvPr/>
        </p:nvSpPr>
        <p:spPr>
          <a:xfrm>
            <a:off x="2442761" y="3224535"/>
            <a:ext cx="635000" cy="404253"/>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fr-FR" sz="1200"/>
              <a:t>15/</a:t>
            </a:r>
            <a:endParaRPr lang="fr-FR" sz="800" dirty="0"/>
          </a:p>
        </p:txBody>
      </p:sp>
    </p:spTree>
    <p:extLst>
      <p:ext uri="{BB962C8B-B14F-4D97-AF65-F5344CB8AC3E}">
        <p14:creationId xmlns:p14="http://schemas.microsoft.com/office/powerpoint/2010/main" val="37628115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aphique_ProjAffect">
            <a:extLst>
              <a:ext uri="{FF2B5EF4-FFF2-40B4-BE49-F238E27FC236}">
                <a16:creationId xmlns:a16="http://schemas.microsoft.com/office/drawing/2014/main" id="{4135B297-DF79-BB5C-5D0A-182DBDDCED55}"/>
              </a:ext>
            </a:extLst>
          </p:cNvPr>
          <p:cNvGraphicFramePr/>
          <p:nvPr>
            <p:extLst>
              <p:ext uri="{D42A27DB-BD31-4B8C-83A1-F6EECF244321}">
                <p14:modId xmlns:p14="http://schemas.microsoft.com/office/powerpoint/2010/main" val="810690780"/>
              </p:ext>
            </p:extLst>
          </p:nvPr>
        </p:nvGraphicFramePr>
        <p:xfrm>
          <a:off x="7207249" y="2065418"/>
          <a:ext cx="4021987" cy="272716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Tableau_ProjAffect">
            <a:extLst>
              <a:ext uri="{FF2B5EF4-FFF2-40B4-BE49-F238E27FC236}">
                <a16:creationId xmlns:a16="http://schemas.microsoft.com/office/drawing/2014/main" id="{087A91CB-7E22-488B-F9DE-E6A1B987552A}"/>
              </a:ext>
            </a:extLst>
          </p:cNvPr>
          <p:cNvGraphicFramePr>
            <a:graphicFrameLocks noGrp="1"/>
          </p:cNvGraphicFramePr>
          <p:nvPr>
            <p:extLst>
              <p:ext uri="{D42A27DB-BD31-4B8C-83A1-F6EECF244321}">
                <p14:modId xmlns:p14="http://schemas.microsoft.com/office/powerpoint/2010/main" val="155473718"/>
              </p:ext>
            </p:extLst>
          </p:nvPr>
        </p:nvGraphicFramePr>
        <p:xfrm>
          <a:off x="661492" y="2718752"/>
          <a:ext cx="6236970" cy="1420495"/>
        </p:xfrm>
        <a:graphic>
          <a:graphicData uri="http://schemas.openxmlformats.org/drawingml/2006/table">
            <a:tbl>
              <a:tblPr firstRow="1">
                <a:tableStyleId>{5C22544A-7EE6-4342-B048-85BDC9FD1C3A}</a:tableStyleId>
              </a:tblPr>
              <a:tblGrid>
                <a:gridCol w="3272097">
                  <a:extLst>
                    <a:ext uri="{9D8B030D-6E8A-4147-A177-3AD203B41FA5}">
                      <a16:colId xmlns:a16="http://schemas.microsoft.com/office/drawing/2014/main" val="3086593025"/>
                    </a:ext>
                  </a:extLst>
                </a:gridCol>
                <a:gridCol w="2964873">
                  <a:extLst>
                    <a:ext uri="{9D8B030D-6E8A-4147-A177-3AD203B41FA5}">
                      <a16:colId xmlns:a16="http://schemas.microsoft.com/office/drawing/2014/main" val="560004599"/>
                    </a:ext>
                  </a:extLst>
                </a:gridCol>
              </a:tblGrid>
              <a:tr h="214630">
                <a:tc>
                  <a:txBody>
                    <a:bodyPr/>
                    <a:lstStyle/>
                    <a:p>
                      <a:pPr marL="93345" marR="85090" algn="ctr">
                        <a:lnSpc>
                          <a:spcPts val="1030"/>
                        </a:lnSpc>
                        <a:spcBef>
                          <a:spcPts val="295"/>
                        </a:spcBef>
                        <a:buNone/>
                      </a:pPr>
                      <a:r>
                        <a:rPr lang="fr-FR" sz="900" dirty="0">
                          <a:effectLst/>
                        </a:rPr>
                        <a:t> </a:t>
                      </a:r>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95250" marR="83185" algn="ctr">
                        <a:lnSpc>
                          <a:spcPts val="1175"/>
                        </a:lnSpc>
                        <a:spcBef>
                          <a:spcPts val="295"/>
                        </a:spcBef>
                        <a:buNone/>
                      </a:pPr>
                      <a:r>
                        <a:rPr lang="fr-FR" sz="900" spc="-50" dirty="0">
                          <a:effectLst/>
                        </a:rPr>
                        <a:t>N</a:t>
                      </a:r>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3418005571"/>
                  </a:ext>
                </a:extLst>
              </a:tr>
              <a:tr h="200660">
                <a:tc>
                  <a:txBody>
                    <a:bodyPr/>
                    <a:lstStyle/>
                    <a:p>
                      <a:pPr marL="93345" marR="85090">
                        <a:lnSpc>
                          <a:spcPts val="1135"/>
                        </a:lnSpc>
                        <a:spcBef>
                          <a:spcPts val="295"/>
                        </a:spcBef>
                        <a:buNone/>
                      </a:pPr>
                      <a:r>
                        <a:rPr lang="fr-FR" sz="900" dirty="0">
                          <a:effectLst/>
                        </a:rPr>
                        <a:t>Résultat</a:t>
                      </a:r>
                      <a:r>
                        <a:rPr lang="fr-FR" sz="900" spc="-25" dirty="0">
                          <a:effectLst/>
                        </a:rPr>
                        <a:t> </a:t>
                      </a:r>
                      <a:r>
                        <a:rPr lang="fr-FR" sz="900" dirty="0">
                          <a:effectLst/>
                        </a:rPr>
                        <a:t>de</a:t>
                      </a:r>
                      <a:r>
                        <a:rPr lang="fr-FR" sz="900" spc="-30" dirty="0">
                          <a:effectLst/>
                        </a:rPr>
                        <a:t> </a:t>
                      </a:r>
                      <a:r>
                        <a:rPr lang="fr-FR" sz="900" spc="-10" dirty="0">
                          <a:effectLst/>
                        </a:rPr>
                        <a:t>l'exercice</a:t>
                      </a:r>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95250" marR="83185" algn="r">
                        <a:lnSpc>
                          <a:spcPts val="1135"/>
                        </a:lnSpc>
                        <a:spcBef>
                          <a:spcPts val="295"/>
                        </a:spcBef>
                        <a:buNone/>
                      </a:pPr>
                      <a:r>
                        <a:rPr lang="fr-FR" sz="900">
                          <a:effectLst/>
                        </a:rPr>
                        <a:t>-33 307</a:t>
                      </a:r>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2280666298"/>
                  </a:ext>
                </a:extLst>
              </a:tr>
              <a:tr h="211455">
                <a:tc gridSpan="2">
                  <a:txBody>
                    <a:bodyPr/>
                    <a:lstStyle/>
                    <a:p>
                      <a:pPr marL="93345" marR="85090">
                        <a:lnSpc>
                          <a:spcPts val="1010"/>
                        </a:lnSpc>
                        <a:spcBef>
                          <a:spcPts val="295"/>
                        </a:spcBef>
                        <a:buNone/>
                      </a:pPr>
                      <a:r>
                        <a:rPr lang="fr-FR" sz="900" spc="-10" dirty="0">
                          <a:effectLst/>
                        </a:rPr>
                        <a:t>Affectations</a:t>
                      </a:r>
                      <a:r>
                        <a:rPr lang="fr-FR" sz="900" dirty="0">
                          <a:effectLst/>
                        </a:rPr>
                        <a:t> </a:t>
                      </a:r>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solidFill>
                      <a:schemeClr val="accent5"/>
                    </a:solidFill>
                  </a:tcPr>
                </a:tc>
                <a:tc hMerge="1">
                  <a:txBody>
                    <a:bodyPr/>
                    <a:lstStyle/>
                    <a:p>
                      <a:endParaRPr dirty="0"/>
                    </a:p>
                  </a:txBody>
                  <a:tcPr marL="0" marR="0" marT="0" marB="0" anchor="ctr"/>
                </a:tc>
                <a:extLst>
                  <a:ext uri="{0D108BD9-81ED-4DB2-BD59-A6C34878D82A}">
                    <a16:rowId xmlns:a16="http://schemas.microsoft.com/office/drawing/2014/main" val="1580635450"/>
                  </a:ext>
                </a:extLst>
              </a:tr>
              <a:tr h="196850">
                <a:tc>
                  <a:txBody>
                    <a:bodyPr/>
                    <a:lstStyle/>
                    <a:p>
                      <a:pPr marL="93345" marR="85090">
                        <a:lnSpc>
                          <a:spcPts val="1105"/>
                        </a:lnSpc>
                        <a:spcBef>
                          <a:spcPts val="295"/>
                        </a:spcBef>
                        <a:buNone/>
                      </a:pPr>
                      <a:r>
                        <a:rPr lang="fr-FR" sz="900">
                          <a:effectLst/>
                        </a:rPr>
                        <a:t>-</a:t>
                      </a:r>
                      <a:r>
                        <a:rPr lang="fr-FR" sz="900" spc="-40">
                          <a:effectLst/>
                        </a:rPr>
                        <a:t> </a:t>
                      </a:r>
                      <a:r>
                        <a:rPr lang="fr-FR" sz="900">
                          <a:effectLst/>
                        </a:rPr>
                        <a:t>Réserve</a:t>
                      </a:r>
                      <a:r>
                        <a:rPr lang="fr-FR" sz="900" spc="-35">
                          <a:effectLst/>
                        </a:rPr>
                        <a:t> </a:t>
                      </a:r>
                      <a:r>
                        <a:rPr lang="fr-FR" sz="900" spc="-10">
                          <a:effectLst/>
                        </a:rPr>
                        <a:t>légale</a:t>
                      </a:r>
                      <a:endParaRPr lang="fr-FR"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95250" marR="83185" algn="r">
                        <a:lnSpc>
                          <a:spcPts val="1105"/>
                        </a:lnSpc>
                        <a:spcBef>
                          <a:spcPts val="295"/>
                        </a:spcBef>
                        <a:buNone/>
                      </a:pPr>
                      <a:r>
                        <a:rPr lang="fr-FR" sz="900" spc="-10">
                          <a:effectLst/>
                        </a:rPr>
                        <a:t>0</a:t>
                      </a:r>
                      <a:endParaRPr lang="fr-FR"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2744664610"/>
                  </a:ext>
                </a:extLst>
              </a:tr>
              <a:tr h="198120">
                <a:tc>
                  <a:txBody>
                    <a:bodyPr/>
                    <a:lstStyle/>
                    <a:p>
                      <a:pPr marL="93345" marR="85090" algn="r">
                        <a:lnSpc>
                          <a:spcPts val="1095"/>
                        </a:lnSpc>
                        <a:spcBef>
                          <a:spcPts val="295"/>
                        </a:spcBef>
                        <a:buNone/>
                      </a:pPr>
                      <a:r>
                        <a:rPr lang="fr-FR" sz="900">
                          <a:effectLst/>
                        </a:rPr>
                        <a:t>-</a:t>
                      </a:r>
                      <a:r>
                        <a:rPr lang="fr-FR" sz="900" spc="-40">
                          <a:effectLst/>
                        </a:rPr>
                        <a:t> </a:t>
                      </a:r>
                      <a:r>
                        <a:rPr lang="fr-FR" sz="900">
                          <a:effectLst/>
                        </a:rPr>
                        <a:t>Réserve</a:t>
                      </a:r>
                      <a:r>
                        <a:rPr lang="fr-FR" sz="900" spc="-35">
                          <a:effectLst/>
                        </a:rPr>
                        <a:t> </a:t>
                      </a:r>
                      <a:r>
                        <a:rPr lang="fr-FR" sz="900" spc="-10">
                          <a:effectLst/>
                        </a:rPr>
                        <a:t>ordinaire</a:t>
                      </a:r>
                      <a:endParaRPr lang="fr-FR"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95250" marR="83185" algn="r">
                        <a:lnSpc>
                          <a:spcPts val="1030"/>
                        </a:lnSpc>
                        <a:spcBef>
                          <a:spcPts val="295"/>
                        </a:spcBef>
                        <a:buNone/>
                      </a:pPr>
                      <a:r>
                        <a:rPr lang="fr-FR" sz="900" spc="-10">
                          <a:effectLst/>
                        </a:rPr>
                        <a:t>0</a:t>
                      </a:r>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427059372"/>
                  </a:ext>
                </a:extLst>
              </a:tr>
              <a:tr h="198120">
                <a:tc>
                  <a:txBody>
                    <a:bodyPr/>
                    <a:lstStyle/>
                    <a:p>
                      <a:pPr marL="93345" marR="85090" algn="r">
                        <a:lnSpc>
                          <a:spcPts val="1105"/>
                        </a:lnSpc>
                        <a:spcBef>
                          <a:spcPts val="295"/>
                        </a:spcBef>
                        <a:buNone/>
                      </a:pPr>
                      <a:r>
                        <a:rPr lang="fr-FR" sz="900">
                          <a:effectLst/>
                        </a:rPr>
                        <a:t>-</a:t>
                      </a:r>
                      <a:r>
                        <a:rPr lang="fr-FR" sz="900" spc="-25">
                          <a:effectLst/>
                        </a:rPr>
                        <a:t> </a:t>
                      </a:r>
                      <a:r>
                        <a:rPr lang="fr-FR" sz="900">
                          <a:effectLst/>
                        </a:rPr>
                        <a:t>Report</a:t>
                      </a:r>
                      <a:r>
                        <a:rPr lang="fr-FR" sz="900" spc="-15">
                          <a:effectLst/>
                        </a:rPr>
                        <a:t> </a:t>
                      </a:r>
                      <a:r>
                        <a:rPr lang="fr-FR" sz="900">
                          <a:effectLst/>
                        </a:rPr>
                        <a:t>à</a:t>
                      </a:r>
                      <a:r>
                        <a:rPr lang="fr-FR" sz="900" spc="-15">
                          <a:effectLst/>
                        </a:rPr>
                        <a:t> </a:t>
                      </a:r>
                      <a:r>
                        <a:rPr lang="fr-FR" sz="900" spc="-10">
                          <a:effectLst/>
                        </a:rPr>
                        <a:t>nouveau</a:t>
                      </a:r>
                      <a:endParaRPr lang="fr-FR"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95250" marR="83185" algn="r">
                        <a:lnSpc>
                          <a:spcPts val="1030"/>
                        </a:lnSpc>
                        <a:spcBef>
                          <a:spcPts val="295"/>
                        </a:spcBef>
                        <a:buNone/>
                      </a:pPr>
                      <a:r>
                        <a:rPr lang="fr-FR" sz="900" spc="-10">
                          <a:effectLst/>
                        </a:rPr>
                        <a:t>-33 307</a:t>
                      </a:r>
                      <a:endParaRPr lang="fr-FR"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962558737"/>
                  </a:ext>
                </a:extLst>
              </a:tr>
              <a:tr h="200660">
                <a:tc>
                  <a:txBody>
                    <a:bodyPr/>
                    <a:lstStyle/>
                    <a:p>
                      <a:pPr marL="93345" marR="85090">
                        <a:lnSpc>
                          <a:spcPts val="1030"/>
                        </a:lnSpc>
                        <a:spcBef>
                          <a:spcPts val="295"/>
                        </a:spcBef>
                        <a:buNone/>
                      </a:pPr>
                      <a:r>
                        <a:rPr lang="fr-FR" sz="900">
                          <a:effectLst/>
                        </a:rPr>
                        <a:t>- Dividendes</a:t>
                      </a:r>
                      <a:endParaRPr lang="fr-FR"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95250" marR="83185" algn="r">
                        <a:lnSpc>
                          <a:spcPts val="1030"/>
                        </a:lnSpc>
                        <a:spcBef>
                          <a:spcPts val="295"/>
                        </a:spcBef>
                        <a:buNone/>
                      </a:pPr>
                      <a:r>
                        <a:rPr lang="fr-FR" sz="900" spc="-10">
                          <a:effectLst/>
                        </a:rPr>
                        <a:t>0</a:t>
                      </a:r>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4215458361"/>
                  </a:ext>
                </a:extLst>
              </a:tr>
            </a:tbl>
          </a:graphicData>
        </a:graphic>
      </p:graphicFrame>
      <p:sp>
        <p:nvSpPr>
          <p:cNvPr id="10" name="Text 0">
            <a:extLst>
              <a:ext uri="{FF2B5EF4-FFF2-40B4-BE49-F238E27FC236}">
                <a16:creationId xmlns:a16="http://schemas.microsoft.com/office/drawing/2014/main" id="{05CC975D-8E72-E57B-4CDD-B0B2DCB76A3C}"/>
              </a:ext>
            </a:extLst>
          </p:cNvPr>
          <p:cNvSpPr/>
          <p:nvPr/>
        </p:nvSpPr>
        <p:spPr>
          <a:xfrm>
            <a:off x="661492" y="604800"/>
            <a:ext cx="9727108" cy="516732"/>
          </a:xfrm>
          <a:prstGeom prst="rect">
            <a:avLst/>
          </a:prstGeom>
          <a:noFill/>
          <a:ln/>
        </p:spPr>
        <p:txBody>
          <a:bodyPr wrap="none" lIns="0" tIns="0" rIns="0" bIns="0" rtlCol="0" anchor="t"/>
          <a:lstStyle/>
          <a:p>
            <a:pPr>
              <a:lnSpc>
                <a:spcPts val="4042"/>
              </a:lnSpc>
            </a:pPr>
            <a:r>
              <a:rPr lang="fr-FR" sz="3250" b="1" noProof="0" dirty="0">
                <a:solidFill>
                  <a:srgbClr val="000000"/>
                </a:solidFill>
                <a:latin typeface="League Spartan Bold" pitchFamily="34" charset="0"/>
                <a:ea typeface="League Spartan Bold" pitchFamily="34" charset="-122"/>
                <a:cs typeface="League Spartan Bold" pitchFamily="34" charset="-120"/>
              </a:rPr>
              <a:t>Projet d’affectation du résultat</a:t>
            </a:r>
          </a:p>
        </p:txBody>
      </p:sp>
    </p:spTree>
    <p:extLst>
      <p:ext uri="{BB962C8B-B14F-4D97-AF65-F5344CB8AC3E}">
        <p14:creationId xmlns:p14="http://schemas.microsoft.com/office/powerpoint/2010/main" val="14990833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au_Autofin">
            <a:extLst>
              <a:ext uri="{FF2B5EF4-FFF2-40B4-BE49-F238E27FC236}">
                <a16:creationId xmlns:a16="http://schemas.microsoft.com/office/drawing/2014/main" id="{F781C472-F9FB-D563-C317-8EDC5BA897E9}"/>
              </a:ext>
            </a:extLst>
          </p:cNvPr>
          <p:cNvGraphicFramePr>
            <a:graphicFrameLocks noGrp="1"/>
          </p:cNvGraphicFramePr>
          <p:nvPr>
            <p:extLst>
              <p:ext uri="{D42A27DB-BD31-4B8C-83A1-F6EECF244321}">
                <p14:modId xmlns:p14="http://schemas.microsoft.com/office/powerpoint/2010/main" val="3505704709"/>
              </p:ext>
            </p:extLst>
          </p:nvPr>
        </p:nvGraphicFramePr>
        <p:xfrm>
          <a:off x="4505642" y="2927348"/>
          <a:ext cx="5762308" cy="2325603"/>
        </p:xfrm>
        <a:graphic>
          <a:graphicData uri="http://schemas.openxmlformats.org/drawingml/2006/table">
            <a:tbl>
              <a:tblPr firstRow="1">
                <a:tableStyleId>{5C22544A-7EE6-4342-B048-85BDC9FD1C3A}</a:tableStyleId>
              </a:tblPr>
              <a:tblGrid>
                <a:gridCol w="3477089">
                  <a:extLst>
                    <a:ext uri="{9D8B030D-6E8A-4147-A177-3AD203B41FA5}">
                      <a16:colId xmlns:a16="http://schemas.microsoft.com/office/drawing/2014/main" val="2447319731"/>
                    </a:ext>
                  </a:extLst>
                </a:gridCol>
                <a:gridCol w="2285219">
                  <a:extLst>
                    <a:ext uri="{9D8B030D-6E8A-4147-A177-3AD203B41FA5}">
                      <a16:colId xmlns:a16="http://schemas.microsoft.com/office/drawing/2014/main" val="99474264"/>
                    </a:ext>
                  </a:extLst>
                </a:gridCol>
              </a:tblGrid>
              <a:tr h="292176">
                <a:tc>
                  <a:txBody>
                    <a:bodyPr/>
                    <a:lstStyle/>
                    <a:p>
                      <a:pPr marL="180340" marR="257175">
                        <a:lnSpc>
                          <a:spcPts val="1030"/>
                        </a:lnSpc>
                        <a:spcBef>
                          <a:spcPts val="295"/>
                        </a:spcBef>
                        <a:buNone/>
                      </a:pPr>
                      <a:r>
                        <a:rPr lang="fr-FR" sz="900" dirty="0">
                          <a:effectLst/>
                        </a:rPr>
                        <a:t> </a:t>
                      </a:r>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180340" marR="257175" algn="ctr">
                        <a:lnSpc>
                          <a:spcPts val="1030"/>
                        </a:lnSpc>
                        <a:spcBef>
                          <a:spcPts val="295"/>
                        </a:spcBef>
                        <a:buNone/>
                      </a:pPr>
                      <a:r>
                        <a:rPr lang="fr-FR" sz="900" spc="-50">
                          <a:effectLst/>
                        </a:rPr>
                        <a:t>N</a:t>
                      </a:r>
                      <a:endParaRPr lang="fr-FR"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456025055"/>
                  </a:ext>
                </a:extLst>
              </a:tr>
              <a:tr h="227986">
                <a:tc>
                  <a:txBody>
                    <a:bodyPr/>
                    <a:lstStyle/>
                    <a:p>
                      <a:pPr marL="180340" marR="257175">
                        <a:lnSpc>
                          <a:spcPts val="1095"/>
                        </a:lnSpc>
                        <a:spcBef>
                          <a:spcPts val="295"/>
                        </a:spcBef>
                        <a:buNone/>
                      </a:pPr>
                      <a:r>
                        <a:rPr lang="fr-FR" sz="900">
                          <a:effectLst/>
                        </a:rPr>
                        <a:t>Résultat net comptable</a:t>
                      </a:r>
                      <a:endParaRPr lang="fr-FR"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180340" marR="257175" algn="r">
                        <a:lnSpc>
                          <a:spcPts val="1095"/>
                        </a:lnSpc>
                        <a:spcBef>
                          <a:spcPts val="295"/>
                        </a:spcBef>
                        <a:buNone/>
                      </a:pPr>
                      <a:r>
                        <a:rPr lang="fr-FR" sz="900">
                          <a:effectLst/>
                        </a:rPr>
                        <a:t>-33 307</a:t>
                      </a:r>
                      <a:endParaRPr lang="fr-FR"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547013302"/>
                  </a:ext>
                </a:extLst>
              </a:tr>
              <a:tr h="230199">
                <a:tc>
                  <a:txBody>
                    <a:bodyPr/>
                    <a:lstStyle/>
                    <a:p>
                      <a:pPr marL="180340" marR="257175">
                        <a:lnSpc>
                          <a:spcPts val="1175"/>
                        </a:lnSpc>
                        <a:spcBef>
                          <a:spcPts val="295"/>
                        </a:spcBef>
                        <a:buNone/>
                      </a:pPr>
                      <a:r>
                        <a:rPr lang="fr-FR" sz="900">
                          <a:effectLst/>
                        </a:rPr>
                        <a:t>Dotations aux amortissements et provisions</a:t>
                      </a:r>
                      <a:endParaRPr lang="fr-FR"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180340" marR="257175" algn="r">
                        <a:lnSpc>
                          <a:spcPts val="1175"/>
                        </a:lnSpc>
                        <a:spcBef>
                          <a:spcPts val="295"/>
                        </a:spcBef>
                        <a:buNone/>
                      </a:pPr>
                      <a:r>
                        <a:rPr lang="fr-FR" sz="900">
                          <a:effectLst/>
                        </a:rPr>
                        <a:t>76 028</a:t>
                      </a:r>
                      <a:endParaRPr lang="fr-FR"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719350193"/>
                  </a:ext>
                </a:extLst>
              </a:tr>
              <a:tr h="230199">
                <a:tc>
                  <a:txBody>
                    <a:bodyPr/>
                    <a:lstStyle/>
                    <a:p>
                      <a:pPr marL="180340" marR="257175">
                        <a:lnSpc>
                          <a:spcPts val="1170"/>
                        </a:lnSpc>
                        <a:spcBef>
                          <a:spcPts val="295"/>
                        </a:spcBef>
                        <a:buNone/>
                      </a:pPr>
                      <a:r>
                        <a:rPr lang="fr-FR" sz="900" dirty="0">
                          <a:effectLst/>
                        </a:rPr>
                        <a:t>Reprises sur amortissements et provisions</a:t>
                      </a:r>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180340" marR="257175" algn="r">
                        <a:lnSpc>
                          <a:spcPts val="1170"/>
                        </a:lnSpc>
                        <a:spcBef>
                          <a:spcPts val="295"/>
                        </a:spcBef>
                        <a:buNone/>
                      </a:pPr>
                      <a:r>
                        <a:rPr lang="fr-FR" sz="900">
                          <a:effectLst/>
                        </a:rPr>
                        <a:t>13 172</a:t>
                      </a:r>
                      <a:endParaRPr lang="fr-FR"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648156156"/>
                  </a:ext>
                </a:extLst>
              </a:tr>
              <a:tr h="230199">
                <a:tc>
                  <a:txBody>
                    <a:bodyPr/>
                    <a:lstStyle/>
                    <a:p>
                      <a:pPr marL="180340" marR="257175">
                        <a:lnSpc>
                          <a:spcPts val="1185"/>
                        </a:lnSpc>
                        <a:spcBef>
                          <a:spcPts val="295"/>
                        </a:spcBef>
                        <a:buNone/>
                      </a:pPr>
                      <a:r>
                        <a:rPr lang="fr-FR" sz="900">
                          <a:effectLst/>
                        </a:rPr>
                        <a:t>+ ou – values sur cessions d’actifs</a:t>
                      </a:r>
                      <a:r>
                        <a:rPr lang="fr-FR" sz="900" spc="-35">
                          <a:effectLst/>
                        </a:rPr>
                        <a:t> </a:t>
                      </a:r>
                      <a:endParaRPr lang="fr-FR"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180340" marR="257175" algn="r">
                        <a:lnSpc>
                          <a:spcPts val="1030"/>
                        </a:lnSpc>
                        <a:spcBef>
                          <a:spcPts val="295"/>
                        </a:spcBef>
                        <a:buNone/>
                      </a:pPr>
                      <a:r>
                        <a:rPr lang="fr-FR" sz="900">
                          <a:effectLst/>
                        </a:rPr>
                        <a:t>-17 194</a:t>
                      </a:r>
                      <a:endParaRPr lang="fr-FR"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088909343"/>
                  </a:ext>
                </a:extLst>
              </a:tr>
              <a:tr h="230199">
                <a:tc>
                  <a:txBody>
                    <a:bodyPr/>
                    <a:lstStyle/>
                    <a:p>
                      <a:pPr marL="180340" marR="257175">
                        <a:lnSpc>
                          <a:spcPts val="1170"/>
                        </a:lnSpc>
                        <a:spcBef>
                          <a:spcPts val="295"/>
                        </a:spcBef>
                        <a:buNone/>
                      </a:pPr>
                      <a:r>
                        <a:rPr lang="fr-FR" sz="900">
                          <a:effectLst/>
                        </a:rPr>
                        <a:t>   Subventions</a:t>
                      </a:r>
                      <a:r>
                        <a:rPr lang="fr-FR" sz="900" spc="-45">
                          <a:effectLst/>
                        </a:rPr>
                        <a:t> </a:t>
                      </a:r>
                      <a:r>
                        <a:rPr lang="fr-FR" sz="900">
                          <a:effectLst/>
                        </a:rPr>
                        <a:t>d'investissement</a:t>
                      </a:r>
                      <a:r>
                        <a:rPr lang="fr-FR" sz="900" spc="-35">
                          <a:effectLst/>
                        </a:rPr>
                        <a:t> </a:t>
                      </a:r>
                      <a:r>
                        <a:rPr lang="fr-FR" sz="900">
                          <a:effectLst/>
                        </a:rPr>
                        <a:t>virées</a:t>
                      </a:r>
                      <a:r>
                        <a:rPr lang="fr-FR" sz="900" spc="-55">
                          <a:effectLst/>
                        </a:rPr>
                        <a:t> </a:t>
                      </a:r>
                      <a:r>
                        <a:rPr lang="fr-FR" sz="900">
                          <a:effectLst/>
                        </a:rPr>
                        <a:t>au</a:t>
                      </a:r>
                      <a:r>
                        <a:rPr lang="fr-FR" sz="900" spc="-50">
                          <a:effectLst/>
                        </a:rPr>
                        <a:t> </a:t>
                      </a:r>
                      <a:r>
                        <a:rPr lang="fr-FR" sz="900" spc="-10">
                          <a:effectLst/>
                        </a:rPr>
                        <a:t>résultat</a:t>
                      </a:r>
                      <a:endParaRPr lang="fr-FR"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180340" marR="257175" algn="r">
                        <a:lnSpc>
                          <a:spcPts val="1170"/>
                        </a:lnSpc>
                        <a:spcBef>
                          <a:spcPts val="295"/>
                        </a:spcBef>
                        <a:buNone/>
                      </a:pPr>
                      <a:r>
                        <a:rPr lang="fr-FR" sz="900">
                          <a:effectLst/>
                        </a:rPr>
                        <a:t>0</a:t>
                      </a:r>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3072092167"/>
                  </a:ext>
                </a:extLst>
              </a:tr>
              <a:tr h="211017">
                <a:tc>
                  <a:txBody>
                    <a:bodyPr/>
                    <a:lstStyle/>
                    <a:p>
                      <a:pPr marL="180340" marR="257175">
                        <a:lnSpc>
                          <a:spcPts val="1045"/>
                        </a:lnSpc>
                        <a:spcBef>
                          <a:spcPts val="295"/>
                        </a:spcBef>
                        <a:buNone/>
                      </a:pPr>
                      <a:r>
                        <a:rPr lang="fr-FR" sz="900" spc="-10" dirty="0">
                          <a:effectLst/>
                        </a:rPr>
                        <a:t>= Capacité d’autofinancement</a:t>
                      </a:r>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solidFill>
                      <a:schemeClr val="bg2"/>
                    </a:solidFill>
                  </a:tcPr>
                </a:tc>
                <a:tc>
                  <a:txBody>
                    <a:bodyPr/>
                    <a:lstStyle/>
                    <a:p>
                      <a:pPr marL="180340" marR="257175" algn="r">
                        <a:lnSpc>
                          <a:spcPts val="1045"/>
                        </a:lnSpc>
                        <a:spcBef>
                          <a:spcPts val="295"/>
                        </a:spcBef>
                        <a:buNone/>
                      </a:pPr>
                      <a:r>
                        <a:rPr lang="fr-FR" sz="900">
                          <a:effectLst/>
                        </a:rPr>
                        <a:t>12 355</a:t>
                      </a:r>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solidFill>
                      <a:schemeClr val="bg2"/>
                    </a:solidFill>
                  </a:tcPr>
                </a:tc>
                <a:extLst>
                  <a:ext uri="{0D108BD9-81ED-4DB2-BD59-A6C34878D82A}">
                    <a16:rowId xmlns:a16="http://schemas.microsoft.com/office/drawing/2014/main" val="148413013"/>
                  </a:ext>
                </a:extLst>
              </a:tr>
              <a:tr h="230199">
                <a:tc>
                  <a:txBody>
                    <a:bodyPr/>
                    <a:lstStyle/>
                    <a:p>
                      <a:pPr marL="180340" marR="257175">
                        <a:lnSpc>
                          <a:spcPts val="1170"/>
                        </a:lnSpc>
                        <a:spcBef>
                          <a:spcPts val="295"/>
                        </a:spcBef>
                        <a:buNone/>
                      </a:pPr>
                      <a:r>
                        <a:rPr lang="fr-FR" sz="900">
                          <a:effectLst/>
                        </a:rPr>
                        <a:t>   Remboursements emprunts</a:t>
                      </a:r>
                      <a:endParaRPr lang="fr-FR"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180340" marR="257175" algn="r">
                        <a:lnSpc>
                          <a:spcPts val="1170"/>
                        </a:lnSpc>
                        <a:spcBef>
                          <a:spcPts val="295"/>
                        </a:spcBef>
                        <a:buNone/>
                      </a:pPr>
                      <a:r>
                        <a:rPr lang="fr-FR" sz="900">
                          <a:effectLst/>
                        </a:rPr>
                        <a:t>171 196</a:t>
                      </a:r>
                      <a:endParaRPr lang="fr-FR"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3208588756"/>
                  </a:ext>
                </a:extLst>
              </a:tr>
              <a:tr h="230199">
                <a:tc>
                  <a:txBody>
                    <a:bodyPr/>
                    <a:lstStyle/>
                    <a:p>
                      <a:pPr marL="180340" marR="257175">
                        <a:lnSpc>
                          <a:spcPts val="1175"/>
                        </a:lnSpc>
                        <a:spcBef>
                          <a:spcPts val="295"/>
                        </a:spcBef>
                        <a:buNone/>
                      </a:pPr>
                      <a:r>
                        <a:rPr lang="fr-FR" sz="900" dirty="0">
                          <a:effectLst/>
                        </a:rPr>
                        <a:t>   Dividendes</a:t>
                      </a:r>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180340" marR="257175" algn="r">
                        <a:lnSpc>
                          <a:spcPts val="1175"/>
                        </a:lnSpc>
                        <a:spcBef>
                          <a:spcPts val="295"/>
                        </a:spcBef>
                        <a:buNone/>
                      </a:pPr>
                      <a:r>
                        <a:rPr lang="fr-FR" sz="900">
                          <a:effectLst/>
                        </a:rPr>
                        <a:t>0</a:t>
                      </a:r>
                      <a:endParaRPr lang="fr-FR"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97054241"/>
                  </a:ext>
                </a:extLst>
              </a:tr>
              <a:tr h="213230">
                <a:tc>
                  <a:txBody>
                    <a:bodyPr/>
                    <a:lstStyle/>
                    <a:p>
                      <a:pPr marL="180340" marR="257175">
                        <a:lnSpc>
                          <a:spcPts val="1050"/>
                        </a:lnSpc>
                        <a:spcBef>
                          <a:spcPts val="295"/>
                        </a:spcBef>
                        <a:buNone/>
                      </a:pPr>
                      <a:r>
                        <a:rPr lang="fr-FR" sz="900" dirty="0">
                          <a:effectLst/>
                        </a:rPr>
                        <a:t>= Capacité d’autofinancement net</a:t>
                      </a:r>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solidFill>
                      <a:schemeClr val="bg2"/>
                    </a:solidFill>
                  </a:tcPr>
                </a:tc>
                <a:tc>
                  <a:txBody>
                    <a:bodyPr/>
                    <a:lstStyle/>
                    <a:p>
                      <a:pPr marL="180340" marR="257175" algn="r">
                        <a:lnSpc>
                          <a:spcPts val="1050"/>
                        </a:lnSpc>
                        <a:spcBef>
                          <a:spcPts val="295"/>
                        </a:spcBef>
                        <a:buNone/>
                      </a:pPr>
                      <a:r>
                        <a:rPr lang="fr-FR" sz="900">
                          <a:effectLst/>
                        </a:rPr>
                        <a:t>-158 841</a:t>
                      </a:r>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solidFill>
                      <a:schemeClr val="bg2"/>
                    </a:solidFill>
                  </a:tcPr>
                </a:tc>
                <a:extLst>
                  <a:ext uri="{0D108BD9-81ED-4DB2-BD59-A6C34878D82A}">
                    <a16:rowId xmlns:a16="http://schemas.microsoft.com/office/drawing/2014/main" val="1974559387"/>
                  </a:ext>
                </a:extLst>
              </a:tr>
            </a:tbl>
          </a:graphicData>
        </a:graphic>
      </p:graphicFrame>
      <p:sp>
        <p:nvSpPr>
          <p:cNvPr id="3" name="Text 0">
            <a:extLst>
              <a:ext uri="{FF2B5EF4-FFF2-40B4-BE49-F238E27FC236}">
                <a16:creationId xmlns:a16="http://schemas.microsoft.com/office/drawing/2014/main" id="{AC929098-FE63-6248-48DC-B23BBDCB1851}"/>
              </a:ext>
            </a:extLst>
          </p:cNvPr>
          <p:cNvSpPr/>
          <p:nvPr/>
        </p:nvSpPr>
        <p:spPr>
          <a:xfrm>
            <a:off x="661492" y="604800"/>
            <a:ext cx="9727108" cy="516732"/>
          </a:xfrm>
          <a:prstGeom prst="rect">
            <a:avLst/>
          </a:prstGeom>
          <a:noFill/>
          <a:ln/>
        </p:spPr>
        <p:txBody>
          <a:bodyPr wrap="none" lIns="0" tIns="0" rIns="0" bIns="0" rtlCol="0" anchor="t"/>
          <a:lstStyle/>
          <a:p>
            <a:pPr>
              <a:lnSpc>
                <a:spcPts val="4042"/>
              </a:lnSpc>
            </a:pPr>
            <a:r>
              <a:rPr lang="fr-FR" sz="3250" b="1" noProof="0" dirty="0">
                <a:solidFill>
                  <a:srgbClr val="000000"/>
                </a:solidFill>
                <a:latin typeface="League Spartan Bold" pitchFamily="34" charset="0"/>
                <a:ea typeface="League Spartan Bold" pitchFamily="34" charset="-122"/>
                <a:cs typeface="League Spartan Bold" pitchFamily="34" charset="-120"/>
              </a:rPr>
              <a:t>Autofinancement</a:t>
            </a:r>
          </a:p>
        </p:txBody>
      </p:sp>
    </p:spTree>
    <p:extLst>
      <p:ext uri="{BB962C8B-B14F-4D97-AF65-F5344CB8AC3E}">
        <p14:creationId xmlns:p14="http://schemas.microsoft.com/office/powerpoint/2010/main" val="13264664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548879"/>
            <a:ext cx="3966667" cy="465138"/>
          </a:xfrm>
          <a:prstGeom prst="rect">
            <a:avLst/>
          </a:prstGeom>
          <a:noFill/>
          <a:ln/>
        </p:spPr>
        <p:txBody>
          <a:bodyPr wrap="none" lIns="0" tIns="0" rIns="0" bIns="0" rtlCol="0" anchor="t"/>
          <a:lstStyle/>
          <a:p>
            <a:pPr>
              <a:lnSpc>
                <a:spcPts val="3625"/>
              </a:lnSpc>
            </a:pPr>
            <a:r>
              <a:rPr lang="en-US" sz="2917" b="1" dirty="0" err="1">
                <a:solidFill>
                  <a:srgbClr val="000000"/>
                </a:solidFill>
                <a:latin typeface="League Spartan Bold" pitchFamily="34" charset="0"/>
                <a:ea typeface="League Spartan Bold" pitchFamily="34" charset="-122"/>
                <a:cs typeface="League Spartan Bold" pitchFamily="34" charset="-120"/>
              </a:rPr>
              <a:t>Trésorerie</a:t>
            </a:r>
            <a:endParaRPr lang="en-US" sz="2917" dirty="0"/>
          </a:p>
        </p:txBody>
      </p:sp>
      <p:sp>
        <p:nvSpPr>
          <p:cNvPr id="63" name="T_Commentaire" hidden="1">
            <a:extLst>
              <a:ext uri="{FF2B5EF4-FFF2-40B4-BE49-F238E27FC236}">
                <a16:creationId xmlns:a16="http://schemas.microsoft.com/office/drawing/2014/main" id="{D4578BDE-4ECF-EC83-508D-F0F630D70358}"/>
              </a:ext>
            </a:extLst>
          </p:cNvPr>
          <p:cNvSpPr/>
          <p:nvPr/>
        </p:nvSpPr>
        <p:spPr>
          <a:xfrm>
            <a:off x="1170334" y="2154040"/>
            <a:ext cx="9851330" cy="25538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spAutoFit/>
          </a:bodyPr>
          <a:lstStyle/>
          <a:p>
            <a:pPr algn="ctr"/>
            <a:r>
              <a:rPr lang="fr-FR" sz="1400" dirty="0"/>
              <a:t>L’exercice révèle une structure d’endettement marquée par une concentration d’emprunts contractés entre fin 2021 et fin 2024, avec des montants initiaux variant de 9 660 € à 55 000 €, reflétant des besoins de financement récurrents et probablement liés à des investissements matériels ou opérationnels. On observe que les deux premiers emprunts, souscrits simultanément en décembre 2021, arrivent à échéance en novembre 2026, tandis que les suivants s’échelonnent jusqu’en 2029, ce qui étale la charge de remboursement sur une période prolongée et limite les pressions financières à court terme. Les capitaux restants dus s’élèvent encore à des niveaux significatifs, notamment pour les emprunts les plus récents (comme celui de 46 531 € contracté en mai 2024), indiquant que la majorité des remboursements reste à effectuer dans les années à venir. Cette situation souligne l’importance d’une gestion rigoureuse des flux de trésorerie pour honorer ces engagements sans compromettre la stabilité financière de l’entreprise.</a:t>
            </a:r>
          </a:p>
          <a:p>
            <a:pPr algn="ctr"/>
            <a:endParaRPr lang="fr-FR" dirty="0"/>
          </a:p>
        </p:txBody>
      </p:sp>
      <p:graphicFrame>
        <p:nvGraphicFramePr>
          <p:cNvPr id="138" name="Tableau_Emprunts">
            <a:extLst>
              <a:ext uri="{FF2B5EF4-FFF2-40B4-BE49-F238E27FC236}">
                <a16:creationId xmlns:a16="http://schemas.microsoft.com/office/drawing/2014/main" id="{C9A04819-EAD1-3189-0AB3-98E56C67A015}"/>
              </a:ext>
            </a:extLst>
          </p:cNvPr>
          <p:cNvGraphicFramePr>
            <a:graphicFrameLocks noGrp="1"/>
          </p:cNvGraphicFramePr>
          <p:nvPr>
            <p:extLst>
              <p:ext uri="{D42A27DB-BD31-4B8C-83A1-F6EECF244321}">
                <p14:modId xmlns:p14="http://schemas.microsoft.com/office/powerpoint/2010/main" val="4257270769"/>
              </p:ext>
            </p:extLst>
          </p:nvPr>
        </p:nvGraphicFramePr>
        <p:xfrm>
          <a:off x="661490" y="1318023"/>
          <a:ext cx="10869020" cy="4924024"/>
        </p:xfrm>
        <a:graphic>
          <a:graphicData uri="http://schemas.openxmlformats.org/drawingml/2006/table">
            <a:tbl>
              <a:tblPr firstRow="1" bandRow="1">
                <a:tableStyleId>{5C22544A-7EE6-4342-B048-85BDC9FD1C3A}</a:tableStyleId>
              </a:tblPr>
              <a:tblGrid>
                <a:gridCol w="2173804">
                  <a:extLst>
                    <a:ext uri="{9D8B030D-6E8A-4147-A177-3AD203B41FA5}">
                      <a16:colId xmlns:a16="http://schemas.microsoft.com/office/drawing/2014/main" val="4033353214"/>
                    </a:ext>
                  </a:extLst>
                </a:gridCol>
                <a:gridCol w="2173804">
                  <a:extLst>
                    <a:ext uri="{9D8B030D-6E8A-4147-A177-3AD203B41FA5}">
                      <a16:colId xmlns:a16="http://schemas.microsoft.com/office/drawing/2014/main" val="1025254575"/>
                    </a:ext>
                  </a:extLst>
                </a:gridCol>
                <a:gridCol w="2173804">
                  <a:extLst>
                    <a:ext uri="{9D8B030D-6E8A-4147-A177-3AD203B41FA5}">
                      <a16:colId xmlns:a16="http://schemas.microsoft.com/office/drawing/2014/main" val="3082834031"/>
                    </a:ext>
                  </a:extLst>
                </a:gridCol>
                <a:gridCol w="2173804">
                  <a:extLst>
                    <a:ext uri="{9D8B030D-6E8A-4147-A177-3AD203B41FA5}">
                      <a16:colId xmlns:a16="http://schemas.microsoft.com/office/drawing/2014/main" val="2670717278"/>
                    </a:ext>
                  </a:extLst>
                </a:gridCol>
                <a:gridCol w="2173804">
                  <a:extLst>
                    <a:ext uri="{9D8B030D-6E8A-4147-A177-3AD203B41FA5}">
                      <a16:colId xmlns:a16="http://schemas.microsoft.com/office/drawing/2014/main" val="1058135327"/>
                    </a:ext>
                  </a:extLst>
                </a:gridCol>
              </a:tblGrid>
              <a:tr h="447688">
                <a:tc>
                  <a:txBody>
                    <a:bodyPr/>
                    <a:lstStyle/>
                    <a:p>
                      <a:pPr algn="ctr"/>
                      <a:r>
                        <a:rPr lang="fr-FR" sz="1800" b="1" noProof="0" dirty="0">
                          <a:solidFill>
                            <a:schemeClr val="bg1"/>
                          </a:solidFill>
                          <a:latin typeface="Open Sans" pitchFamily="34" charset="0"/>
                          <a:ea typeface="Open Sans" pitchFamily="34" charset="-122"/>
                          <a:cs typeface="Open Sans" pitchFamily="34" charset="-120"/>
                        </a:rPr>
                        <a:t>Libellé</a:t>
                      </a:r>
                      <a:endParaRPr lang="fr-FR" dirty="0">
                        <a:solidFill>
                          <a:schemeClr val="bg1"/>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noProof="0" dirty="0">
                          <a:solidFill>
                            <a:schemeClr val="bg1"/>
                          </a:solidFill>
                        </a:rPr>
                        <a:t>Date de début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noProof="0" dirty="0">
                          <a:solidFill>
                            <a:schemeClr val="bg1"/>
                          </a:solidFill>
                          <a:latin typeface="Open Sans" pitchFamily="34" charset="0"/>
                          <a:ea typeface="Open Sans" pitchFamily="34" charset="-122"/>
                          <a:cs typeface="Open Sans" pitchFamily="34" charset="-120"/>
                        </a:rPr>
                        <a:t>Date de fin</a:t>
                      </a:r>
                      <a:endParaRPr lang="fr-FR" sz="1800" noProof="0" dirty="0">
                        <a:solidFill>
                          <a:schemeClr val="bg1"/>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noProof="0" dirty="0">
                          <a:solidFill>
                            <a:schemeClr val="bg1"/>
                          </a:solidFill>
                          <a:latin typeface="Open Sans" pitchFamily="34" charset="0"/>
                          <a:ea typeface="Open Sans" pitchFamily="34" charset="-122"/>
                          <a:cs typeface="Open Sans" pitchFamily="34" charset="-120"/>
                        </a:rPr>
                        <a:t>Montant initiale</a:t>
                      </a:r>
                      <a:endParaRPr lang="fr-FR" sz="1800" noProof="0" dirty="0">
                        <a:solidFill>
                          <a:schemeClr val="bg1"/>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noProof="0" dirty="0">
                          <a:solidFill>
                            <a:schemeClr val="bg1"/>
                          </a:solidFill>
                          <a:latin typeface="Open Sans" pitchFamily="34" charset="0"/>
                          <a:ea typeface="Open Sans" pitchFamily="34" charset="-122"/>
                          <a:cs typeface="Open Sans" pitchFamily="34" charset="-120"/>
                        </a:rPr>
                        <a:t>Restant dû</a:t>
                      </a:r>
                      <a:endParaRPr lang="fr-FR" sz="1800" noProof="0" dirty="0">
                        <a:solidFill>
                          <a:schemeClr val="bg1"/>
                        </a:solidFill>
                      </a:endParaRPr>
                    </a:p>
                  </a:txBody>
                  <a:tcPr anchor="ctr"/>
                </a:tc>
                <a:extLst>
                  <a:ext uri="{0D108BD9-81ED-4DB2-BD59-A6C34878D82A}">
                    <a16:rowId xmlns:a16="http://schemas.microsoft.com/office/drawing/2014/main" val="1381430093"/>
                  </a:ext>
                </a:extLst>
              </a:tr>
              <a:tr h="373028">
                <a:tc>
                  <a:txBody>
                    <a:bodyPr/>
                    <a:lstStyle/>
                    <a:p>
                      <a:pPr marL="89535">
                        <a:lnSpc>
                          <a:spcPts val="1185"/>
                        </a:lnSpc>
                        <a:spcBef>
                          <a:spcPts val="295"/>
                        </a:spcBef>
                        <a:buNone/>
                      </a:pPr>
                      <a:r>
                        <a:rPr lang="fr-FR" sz="1292" kern="1200" dirty="0">
                          <a:solidFill>
                            <a:srgbClr val="47413C"/>
                          </a:solidFill>
                          <a:latin typeface="Open Sans" pitchFamily="34" charset="0"/>
                          <a:ea typeface="Open Sans" pitchFamily="34" charset="-122"/>
                          <a:cs typeface="Open Sans" pitchFamily="34" charset="-120"/>
                        </a:rPr>
                        <a:t>Emprunt cm 55 000 €</a:t>
                      </a:r>
                    </a:p>
                  </a:txBody>
                  <a:tcPr marL="0" marR="0" marT="0" marB="0" anchor="ctr"/>
                </a:tc>
                <a:tc>
                  <a:txBody>
                    <a:bodyPr/>
                    <a:lstStyle/>
                    <a:p>
                      <a:pPr marR="104140" algn="r">
                        <a:lnSpc>
                          <a:spcPts val="1185"/>
                        </a:lnSpc>
                        <a:spcBef>
                          <a:spcPts val="295"/>
                        </a:spcBef>
                        <a:buNone/>
                      </a:pPr>
                      <a:r>
                        <a:rPr lang="fr-FR" sz="1292" kern="1200" dirty="0">
                          <a:solidFill>
                            <a:srgbClr val="47413C"/>
                          </a:solidFill>
                          <a:latin typeface="Open Sans" pitchFamily="34" charset="0"/>
                          <a:ea typeface="Open Sans" pitchFamily="34" charset="-122"/>
                          <a:cs typeface="Open Sans" pitchFamily="34" charset="-120"/>
                        </a:rPr>
                        <a:t>15/12/21</a:t>
                      </a:r>
                    </a:p>
                  </a:txBody>
                  <a:tcPr marL="0" marR="0" marT="0" marB="0" anchor="ctr"/>
                </a:tc>
                <a:tc>
                  <a:txBody>
                    <a:bodyPr/>
                    <a:lstStyle/>
                    <a:p>
                      <a:pPr marL="12065" marR="118110" algn="r">
                        <a:lnSpc>
                          <a:spcPts val="1185"/>
                        </a:lnSpc>
                        <a:spcBef>
                          <a:spcPts val="295"/>
                        </a:spcBef>
                        <a:buNone/>
                      </a:pPr>
                      <a:r>
                        <a:rPr lang="fr-FR" sz="1292" kern="1200" dirty="0">
                          <a:solidFill>
                            <a:srgbClr val="47413C"/>
                          </a:solidFill>
                          <a:latin typeface="Open Sans" pitchFamily="34" charset="0"/>
                          <a:ea typeface="Open Sans" pitchFamily="34" charset="-122"/>
                          <a:cs typeface="Open Sans" pitchFamily="34" charset="-120"/>
                        </a:rPr>
                        <a:t>15/11/26</a:t>
                      </a:r>
                    </a:p>
                  </a:txBody>
                  <a:tcPr marL="0" marR="0" marT="0" marB="0" anchor="ctr"/>
                </a:tc>
                <a:tc>
                  <a:txBody>
                    <a:bodyPr/>
                    <a:lstStyle/>
                    <a:p>
                      <a:pPr marL="54610" marR="131445" algn="r">
                        <a:lnSpc>
                          <a:spcPts val="1185"/>
                        </a:lnSpc>
                        <a:spcBef>
                          <a:spcPts val="295"/>
                        </a:spcBef>
                        <a:buNone/>
                      </a:pPr>
                      <a:r>
                        <a:rPr lang="fr-FR" sz="1292" kern="1200" dirty="0">
                          <a:solidFill>
                            <a:srgbClr val="47413C"/>
                          </a:solidFill>
                          <a:latin typeface="Open Sans" pitchFamily="34" charset="0"/>
                          <a:ea typeface="Open Sans" pitchFamily="34" charset="-122"/>
                          <a:cs typeface="Open Sans" pitchFamily="34" charset="-120"/>
                        </a:rPr>
                        <a:t>55000.00</a:t>
                      </a:r>
                    </a:p>
                  </a:txBody>
                  <a:tcPr marL="0" marR="0" marT="0" marB="0" anchor="ctr"/>
                </a:tc>
                <a:tc>
                  <a:txBody>
                    <a:bodyPr/>
                    <a:lstStyle/>
                    <a:p>
                      <a:pPr marL="41275" marR="55245" algn="r">
                        <a:lnSpc>
                          <a:spcPts val="1185"/>
                        </a:lnSpc>
                        <a:spcBef>
                          <a:spcPts val="295"/>
                        </a:spcBef>
                        <a:buNone/>
                      </a:pPr>
                      <a:r>
                        <a:rPr lang="fr-FR" sz="1292" kern="1200" dirty="0">
                          <a:solidFill>
                            <a:srgbClr val="47413C"/>
                          </a:solidFill>
                          <a:latin typeface="Open Sans" pitchFamily="34" charset="0"/>
                          <a:ea typeface="Open Sans" pitchFamily="34" charset="-122"/>
                          <a:cs typeface="Open Sans" pitchFamily="34" charset="-120"/>
                        </a:rPr>
                        <a:t>15779.18</a:t>
                      </a:r>
                    </a:p>
                  </a:txBody>
                  <a:tcPr marL="0" marR="0" marT="0" marB="0" anchor="ctr"/>
                </a:tc>
                <a:extLst>
                  <a:ext uri="{0D108BD9-81ED-4DB2-BD59-A6C34878D82A}">
                    <a16:rowId xmlns:a16="http://schemas.microsoft.com/office/drawing/2014/main" val="337595979"/>
                  </a:ext>
                </a:extLst>
              </a:tr>
              <a:tr h="373028">
                <a:tc>
                  <a:txBody>
                    <a:bodyPr/>
                    <a:lstStyle/>
                    <a:p>
                      <a:pPr algn="ctr"/>
                      <a:endParaRPr lang="fr-FR" sz="1292" kern="1200" dirty="0">
                        <a:solidFill>
                          <a:srgbClr val="47413C"/>
                        </a:solidFill>
                        <a:latin typeface="Open Sans" pitchFamily="34" charset="0"/>
                        <a:ea typeface="Open Sans" pitchFamily="34" charset="-122"/>
                        <a:cs typeface="Open Sans" pitchFamily="34" charset="-120"/>
                      </a:endParaRPr>
                    </a:p>
                  </a:txBody>
                  <a:tcPr anchor="ctr"/>
                </a:tc>
                <a:tc>
                  <a:txBody>
                    <a:bodyPr/>
                    <a:lstStyle/>
                    <a:p>
                      <a:pPr algn="ctr"/>
                      <a:endParaRPr lang="fr-FR" sz="1292" kern="1200" dirty="0">
                        <a:solidFill>
                          <a:srgbClr val="47413C"/>
                        </a:solidFill>
                        <a:latin typeface="Open Sans" pitchFamily="34" charset="0"/>
                        <a:ea typeface="Open Sans" pitchFamily="34" charset="-122"/>
                        <a:cs typeface="Open Sans" pitchFamily="34" charset="-120"/>
                      </a:endParaRPr>
                    </a:p>
                  </a:txBody>
                  <a:tcPr anchor="ctr"/>
                </a:tc>
                <a:tc>
                  <a:txBody>
                    <a:bodyPr/>
                    <a:lstStyle/>
                    <a:p>
                      <a:pPr algn="ctr"/>
                      <a:endParaRPr lang="fr-FR" sz="1292" kern="1200" dirty="0">
                        <a:solidFill>
                          <a:srgbClr val="47413C"/>
                        </a:solidFill>
                        <a:latin typeface="Open Sans" pitchFamily="34" charset="0"/>
                        <a:ea typeface="Open Sans" pitchFamily="34" charset="-122"/>
                        <a:cs typeface="Open Sans" pitchFamily="34" charset="-120"/>
                      </a:endParaRPr>
                    </a:p>
                  </a:txBody>
                  <a:tcPr anchor="ctr"/>
                </a:tc>
                <a:tc>
                  <a:txBody>
                    <a:bodyPr/>
                    <a:lstStyle/>
                    <a:p>
                      <a:pPr algn="ctr"/>
                      <a:endParaRPr lang="fr-FR" sz="1292" kern="1200" dirty="0">
                        <a:solidFill>
                          <a:srgbClr val="47413C"/>
                        </a:solidFill>
                        <a:latin typeface="Open Sans" pitchFamily="34" charset="0"/>
                        <a:ea typeface="Open Sans" pitchFamily="34" charset="-122"/>
                        <a:cs typeface="Open Sans" pitchFamily="34" charset="-120"/>
                      </a:endParaRPr>
                    </a:p>
                  </a:txBody>
                  <a:tcPr anchor="ctr"/>
                </a:tc>
                <a:tc>
                  <a:txBody>
                    <a:bodyPr/>
                    <a:lstStyle/>
                    <a:p>
                      <a:pPr algn="ctr"/>
                      <a:endParaRPr lang="fr-FR" sz="1292" kern="1200" dirty="0">
                        <a:solidFill>
                          <a:srgbClr val="47413C"/>
                        </a:solidFill>
                        <a:latin typeface="Open Sans" pitchFamily="34" charset="0"/>
                        <a:ea typeface="Open Sans" pitchFamily="34" charset="-122"/>
                        <a:cs typeface="Open Sans" pitchFamily="34" charset="-120"/>
                      </a:endParaRPr>
                    </a:p>
                  </a:txBody>
                  <a:tcPr anchor="ctr"/>
                </a:tc>
                <a:extLst>
                  <a:ext uri="{0D108BD9-81ED-4DB2-BD59-A6C34878D82A}">
                    <a16:rowId xmlns:a16="http://schemas.microsoft.com/office/drawing/2014/main" val="2626098313"/>
                  </a:ext>
                </a:extLst>
              </a:tr>
              <a:tr h="373028">
                <a:tc>
                  <a:txBody>
                    <a:bodyPr/>
                    <a:lstStyle/>
                    <a:p>
                      <a:pPr algn="ctr"/>
                      <a:endParaRPr lang="fr-FR" sz="1292" kern="1200" dirty="0">
                        <a:solidFill>
                          <a:srgbClr val="47413C"/>
                        </a:solidFill>
                        <a:latin typeface="Open Sans" pitchFamily="34" charset="0"/>
                        <a:ea typeface="Open Sans" pitchFamily="34" charset="-122"/>
                        <a:cs typeface="Open Sans" pitchFamily="34" charset="-120"/>
                      </a:endParaRPr>
                    </a:p>
                  </a:txBody>
                  <a:tcPr anchor="ctr"/>
                </a:tc>
                <a:tc>
                  <a:txBody>
                    <a:bodyPr/>
                    <a:lstStyle/>
                    <a:p>
                      <a:pPr algn="ctr"/>
                      <a:endParaRPr lang="fr-FR" sz="1292" kern="1200" dirty="0">
                        <a:solidFill>
                          <a:srgbClr val="47413C"/>
                        </a:solidFill>
                        <a:latin typeface="Open Sans" pitchFamily="34" charset="0"/>
                        <a:ea typeface="Open Sans" pitchFamily="34" charset="-122"/>
                        <a:cs typeface="Open Sans" pitchFamily="34" charset="-120"/>
                      </a:endParaRPr>
                    </a:p>
                  </a:txBody>
                  <a:tcPr anchor="ctr"/>
                </a:tc>
                <a:tc>
                  <a:txBody>
                    <a:bodyPr/>
                    <a:lstStyle/>
                    <a:p>
                      <a:pPr algn="ctr"/>
                      <a:endParaRPr lang="fr-FR" sz="1292" kern="1200" dirty="0">
                        <a:solidFill>
                          <a:srgbClr val="47413C"/>
                        </a:solidFill>
                        <a:latin typeface="Open Sans" pitchFamily="34" charset="0"/>
                        <a:ea typeface="Open Sans" pitchFamily="34" charset="-122"/>
                        <a:cs typeface="Open Sans" pitchFamily="34" charset="-120"/>
                      </a:endParaRPr>
                    </a:p>
                  </a:txBody>
                  <a:tcPr anchor="ctr"/>
                </a:tc>
                <a:tc>
                  <a:txBody>
                    <a:bodyPr/>
                    <a:lstStyle/>
                    <a:p>
                      <a:pPr algn="ctr"/>
                      <a:endParaRPr lang="fr-FR" sz="1292" kern="1200" dirty="0">
                        <a:solidFill>
                          <a:srgbClr val="47413C"/>
                        </a:solidFill>
                        <a:latin typeface="Open Sans" pitchFamily="34" charset="0"/>
                        <a:ea typeface="Open Sans" pitchFamily="34" charset="-122"/>
                        <a:cs typeface="Open Sans" pitchFamily="34" charset="-120"/>
                      </a:endParaRPr>
                    </a:p>
                  </a:txBody>
                  <a:tcPr anchor="ctr"/>
                </a:tc>
                <a:tc>
                  <a:txBody>
                    <a:bodyPr/>
                    <a:lstStyle/>
                    <a:p>
                      <a:pPr algn="ctr"/>
                      <a:endParaRPr lang="fr-FR" sz="1292" kern="1200" dirty="0">
                        <a:solidFill>
                          <a:srgbClr val="47413C"/>
                        </a:solidFill>
                        <a:latin typeface="Open Sans" pitchFamily="34" charset="0"/>
                        <a:ea typeface="Open Sans" pitchFamily="34" charset="-122"/>
                        <a:cs typeface="Open Sans" pitchFamily="34" charset="-120"/>
                      </a:endParaRPr>
                    </a:p>
                  </a:txBody>
                  <a:tcPr anchor="ctr"/>
                </a:tc>
                <a:extLst>
                  <a:ext uri="{0D108BD9-81ED-4DB2-BD59-A6C34878D82A}">
                    <a16:rowId xmlns:a16="http://schemas.microsoft.com/office/drawing/2014/main" val="1989439056"/>
                  </a:ext>
                </a:extLst>
              </a:tr>
              <a:tr h="373028">
                <a:tc>
                  <a:txBody>
                    <a:bodyPr/>
                    <a:lstStyle/>
                    <a:p>
                      <a:pPr algn="ctr"/>
                      <a:endParaRPr lang="fr-FR" sz="1292" kern="1200" dirty="0">
                        <a:solidFill>
                          <a:srgbClr val="47413C"/>
                        </a:solidFill>
                        <a:latin typeface="Open Sans" pitchFamily="34" charset="0"/>
                        <a:ea typeface="Open Sans" pitchFamily="34" charset="-122"/>
                        <a:cs typeface="Open Sans" pitchFamily="34" charset="-120"/>
                      </a:endParaRPr>
                    </a:p>
                  </a:txBody>
                  <a:tcPr anchor="ctr"/>
                </a:tc>
                <a:tc>
                  <a:txBody>
                    <a:bodyPr/>
                    <a:lstStyle/>
                    <a:p>
                      <a:pPr algn="ctr"/>
                      <a:endParaRPr lang="fr-FR" sz="1292" kern="1200" dirty="0">
                        <a:solidFill>
                          <a:srgbClr val="47413C"/>
                        </a:solidFill>
                        <a:latin typeface="Open Sans" pitchFamily="34" charset="0"/>
                        <a:ea typeface="Open Sans" pitchFamily="34" charset="-122"/>
                        <a:cs typeface="Open Sans" pitchFamily="34" charset="-120"/>
                      </a:endParaRPr>
                    </a:p>
                  </a:txBody>
                  <a:tcPr anchor="ctr"/>
                </a:tc>
                <a:tc>
                  <a:txBody>
                    <a:bodyPr/>
                    <a:lstStyle/>
                    <a:p>
                      <a:pPr algn="ctr"/>
                      <a:endParaRPr lang="fr-FR" sz="1292" kern="1200" dirty="0">
                        <a:solidFill>
                          <a:srgbClr val="47413C"/>
                        </a:solidFill>
                        <a:latin typeface="Open Sans" pitchFamily="34" charset="0"/>
                        <a:ea typeface="Open Sans" pitchFamily="34" charset="-122"/>
                        <a:cs typeface="Open Sans" pitchFamily="34" charset="-120"/>
                      </a:endParaRPr>
                    </a:p>
                  </a:txBody>
                  <a:tcPr anchor="ctr"/>
                </a:tc>
                <a:tc>
                  <a:txBody>
                    <a:bodyPr/>
                    <a:lstStyle/>
                    <a:p>
                      <a:pPr algn="ctr"/>
                      <a:endParaRPr lang="fr-FR" sz="1292" kern="1200">
                        <a:solidFill>
                          <a:srgbClr val="47413C"/>
                        </a:solidFill>
                        <a:latin typeface="Open Sans" pitchFamily="34" charset="0"/>
                        <a:ea typeface="Open Sans" pitchFamily="34" charset="-122"/>
                        <a:cs typeface="Open Sans" pitchFamily="34" charset="-120"/>
                      </a:endParaRPr>
                    </a:p>
                  </a:txBody>
                  <a:tcPr anchor="ctr"/>
                </a:tc>
                <a:tc>
                  <a:txBody>
                    <a:bodyPr/>
                    <a:lstStyle/>
                    <a:p>
                      <a:pPr algn="ctr"/>
                      <a:endParaRPr lang="fr-FR" sz="1292" kern="1200" dirty="0">
                        <a:solidFill>
                          <a:srgbClr val="47413C"/>
                        </a:solidFill>
                        <a:latin typeface="Open Sans" pitchFamily="34" charset="0"/>
                        <a:ea typeface="Open Sans" pitchFamily="34" charset="-122"/>
                        <a:cs typeface="Open Sans" pitchFamily="34" charset="-120"/>
                      </a:endParaRPr>
                    </a:p>
                  </a:txBody>
                  <a:tcPr anchor="ctr"/>
                </a:tc>
                <a:extLst>
                  <a:ext uri="{0D108BD9-81ED-4DB2-BD59-A6C34878D82A}">
                    <a16:rowId xmlns:a16="http://schemas.microsoft.com/office/drawing/2014/main" val="3612005163"/>
                  </a:ext>
                </a:extLst>
              </a:tr>
              <a:tr h="373028">
                <a:tc>
                  <a:txBody>
                    <a:bodyPr/>
                    <a:lstStyle/>
                    <a:p>
                      <a:pPr algn="ctr"/>
                      <a:endParaRPr lang="fr-FR" sz="1292" kern="1200" dirty="0">
                        <a:solidFill>
                          <a:srgbClr val="47413C"/>
                        </a:solidFill>
                        <a:latin typeface="Open Sans" pitchFamily="34" charset="0"/>
                        <a:ea typeface="Open Sans" pitchFamily="34" charset="-122"/>
                        <a:cs typeface="Open Sans" pitchFamily="34" charset="-120"/>
                      </a:endParaRPr>
                    </a:p>
                  </a:txBody>
                  <a:tcPr anchor="ctr"/>
                </a:tc>
                <a:tc>
                  <a:txBody>
                    <a:bodyPr/>
                    <a:lstStyle/>
                    <a:p>
                      <a:pPr algn="ctr"/>
                      <a:endParaRPr lang="fr-FR" sz="1292" kern="1200">
                        <a:solidFill>
                          <a:srgbClr val="47413C"/>
                        </a:solidFill>
                        <a:latin typeface="Open Sans" pitchFamily="34" charset="0"/>
                        <a:ea typeface="Open Sans" pitchFamily="34" charset="-122"/>
                        <a:cs typeface="Open Sans" pitchFamily="34" charset="-120"/>
                      </a:endParaRPr>
                    </a:p>
                  </a:txBody>
                  <a:tcPr anchor="ctr"/>
                </a:tc>
                <a:tc>
                  <a:txBody>
                    <a:bodyPr/>
                    <a:lstStyle/>
                    <a:p>
                      <a:pPr algn="ctr"/>
                      <a:endParaRPr lang="fr-FR" sz="1292" kern="1200" dirty="0">
                        <a:solidFill>
                          <a:srgbClr val="47413C"/>
                        </a:solidFill>
                        <a:latin typeface="Open Sans" pitchFamily="34" charset="0"/>
                        <a:ea typeface="Open Sans" pitchFamily="34" charset="-122"/>
                        <a:cs typeface="Open Sans" pitchFamily="34" charset="-120"/>
                      </a:endParaRPr>
                    </a:p>
                  </a:txBody>
                  <a:tcPr anchor="ctr"/>
                </a:tc>
                <a:tc>
                  <a:txBody>
                    <a:bodyPr/>
                    <a:lstStyle/>
                    <a:p>
                      <a:pPr algn="ctr"/>
                      <a:endParaRPr lang="fr-FR" sz="1292" kern="1200" dirty="0">
                        <a:solidFill>
                          <a:srgbClr val="47413C"/>
                        </a:solidFill>
                        <a:latin typeface="Open Sans" pitchFamily="34" charset="0"/>
                        <a:ea typeface="Open Sans" pitchFamily="34" charset="-122"/>
                        <a:cs typeface="Open Sans" pitchFamily="34" charset="-120"/>
                      </a:endParaRPr>
                    </a:p>
                  </a:txBody>
                  <a:tcPr anchor="ctr"/>
                </a:tc>
                <a:tc>
                  <a:txBody>
                    <a:bodyPr/>
                    <a:lstStyle/>
                    <a:p>
                      <a:pPr algn="ctr"/>
                      <a:endParaRPr lang="fr-FR" sz="1292" kern="1200" dirty="0">
                        <a:solidFill>
                          <a:srgbClr val="47413C"/>
                        </a:solidFill>
                        <a:latin typeface="Open Sans" pitchFamily="34" charset="0"/>
                        <a:ea typeface="Open Sans" pitchFamily="34" charset="-122"/>
                        <a:cs typeface="Open Sans" pitchFamily="34" charset="-120"/>
                      </a:endParaRPr>
                    </a:p>
                  </a:txBody>
                  <a:tcPr anchor="ctr"/>
                </a:tc>
                <a:extLst>
                  <a:ext uri="{0D108BD9-81ED-4DB2-BD59-A6C34878D82A}">
                    <a16:rowId xmlns:a16="http://schemas.microsoft.com/office/drawing/2014/main" val="1133370393"/>
                  </a:ext>
                </a:extLst>
              </a:tr>
              <a:tr h="373028">
                <a:tc>
                  <a:txBody>
                    <a:bodyPr/>
                    <a:lstStyle/>
                    <a:p>
                      <a:pPr algn="ctr"/>
                      <a:endParaRPr lang="fr-FR" sz="1292" kern="1200" dirty="0">
                        <a:solidFill>
                          <a:srgbClr val="47413C"/>
                        </a:solidFill>
                        <a:latin typeface="Open Sans" pitchFamily="34" charset="0"/>
                        <a:ea typeface="Open Sans" pitchFamily="34" charset="-122"/>
                        <a:cs typeface="Open Sans" pitchFamily="34" charset="-120"/>
                      </a:endParaRPr>
                    </a:p>
                  </a:txBody>
                  <a:tcPr anchor="ctr"/>
                </a:tc>
                <a:tc>
                  <a:txBody>
                    <a:bodyPr/>
                    <a:lstStyle/>
                    <a:p>
                      <a:pPr algn="ctr"/>
                      <a:endParaRPr lang="fr-FR" sz="1292" kern="1200">
                        <a:solidFill>
                          <a:srgbClr val="47413C"/>
                        </a:solidFill>
                        <a:latin typeface="Open Sans" pitchFamily="34" charset="0"/>
                        <a:ea typeface="Open Sans" pitchFamily="34" charset="-122"/>
                        <a:cs typeface="Open Sans" pitchFamily="34" charset="-120"/>
                      </a:endParaRPr>
                    </a:p>
                  </a:txBody>
                  <a:tcPr anchor="ctr"/>
                </a:tc>
                <a:tc>
                  <a:txBody>
                    <a:bodyPr/>
                    <a:lstStyle/>
                    <a:p>
                      <a:pPr algn="ctr"/>
                      <a:endParaRPr lang="fr-FR" sz="1292" kern="1200">
                        <a:solidFill>
                          <a:srgbClr val="47413C"/>
                        </a:solidFill>
                        <a:latin typeface="Open Sans" pitchFamily="34" charset="0"/>
                        <a:ea typeface="Open Sans" pitchFamily="34" charset="-122"/>
                        <a:cs typeface="Open Sans" pitchFamily="34" charset="-120"/>
                      </a:endParaRPr>
                    </a:p>
                  </a:txBody>
                  <a:tcPr anchor="ctr"/>
                </a:tc>
                <a:tc>
                  <a:txBody>
                    <a:bodyPr/>
                    <a:lstStyle/>
                    <a:p>
                      <a:pPr algn="ctr"/>
                      <a:endParaRPr lang="fr-FR" sz="1292" kern="1200" dirty="0">
                        <a:solidFill>
                          <a:srgbClr val="47413C"/>
                        </a:solidFill>
                        <a:latin typeface="Open Sans" pitchFamily="34" charset="0"/>
                        <a:ea typeface="Open Sans" pitchFamily="34" charset="-122"/>
                        <a:cs typeface="Open Sans" pitchFamily="34" charset="-120"/>
                      </a:endParaRPr>
                    </a:p>
                  </a:txBody>
                  <a:tcPr anchor="ctr"/>
                </a:tc>
                <a:tc>
                  <a:txBody>
                    <a:bodyPr/>
                    <a:lstStyle/>
                    <a:p>
                      <a:pPr algn="ctr"/>
                      <a:endParaRPr lang="fr-FR" sz="1292" kern="1200" dirty="0">
                        <a:solidFill>
                          <a:srgbClr val="47413C"/>
                        </a:solidFill>
                        <a:latin typeface="Open Sans" pitchFamily="34" charset="0"/>
                        <a:ea typeface="Open Sans" pitchFamily="34" charset="-122"/>
                        <a:cs typeface="Open Sans" pitchFamily="34" charset="-120"/>
                      </a:endParaRPr>
                    </a:p>
                  </a:txBody>
                  <a:tcPr anchor="ctr"/>
                </a:tc>
                <a:extLst>
                  <a:ext uri="{0D108BD9-81ED-4DB2-BD59-A6C34878D82A}">
                    <a16:rowId xmlns:a16="http://schemas.microsoft.com/office/drawing/2014/main" val="3257870821"/>
                  </a:ext>
                </a:extLst>
              </a:tr>
              <a:tr h="373028">
                <a:tc>
                  <a:txBody>
                    <a:bodyPr/>
                    <a:lstStyle/>
                    <a:p>
                      <a:pPr algn="ctr"/>
                      <a:endParaRPr lang="fr-FR" sz="1292" kern="1200" dirty="0">
                        <a:solidFill>
                          <a:srgbClr val="47413C"/>
                        </a:solidFill>
                        <a:latin typeface="Open Sans" pitchFamily="34" charset="0"/>
                        <a:ea typeface="Open Sans" pitchFamily="34" charset="-122"/>
                        <a:cs typeface="Open Sans" pitchFamily="34" charset="-120"/>
                      </a:endParaRPr>
                    </a:p>
                  </a:txBody>
                  <a:tcPr anchor="ctr"/>
                </a:tc>
                <a:tc>
                  <a:txBody>
                    <a:bodyPr/>
                    <a:lstStyle/>
                    <a:p>
                      <a:pPr algn="ctr"/>
                      <a:endParaRPr lang="fr-FR" sz="1292" kern="1200" dirty="0">
                        <a:solidFill>
                          <a:srgbClr val="47413C"/>
                        </a:solidFill>
                        <a:latin typeface="Open Sans" pitchFamily="34" charset="0"/>
                        <a:ea typeface="Open Sans" pitchFamily="34" charset="-122"/>
                        <a:cs typeface="Open Sans" pitchFamily="34" charset="-120"/>
                      </a:endParaRPr>
                    </a:p>
                  </a:txBody>
                  <a:tcPr anchor="ctr"/>
                </a:tc>
                <a:tc>
                  <a:txBody>
                    <a:bodyPr/>
                    <a:lstStyle/>
                    <a:p>
                      <a:pPr algn="ctr"/>
                      <a:endParaRPr lang="fr-FR" sz="1292" kern="1200">
                        <a:solidFill>
                          <a:srgbClr val="47413C"/>
                        </a:solidFill>
                        <a:latin typeface="Open Sans" pitchFamily="34" charset="0"/>
                        <a:ea typeface="Open Sans" pitchFamily="34" charset="-122"/>
                        <a:cs typeface="Open Sans" pitchFamily="34" charset="-120"/>
                      </a:endParaRPr>
                    </a:p>
                  </a:txBody>
                  <a:tcPr anchor="ctr"/>
                </a:tc>
                <a:tc>
                  <a:txBody>
                    <a:bodyPr/>
                    <a:lstStyle/>
                    <a:p>
                      <a:pPr algn="ctr"/>
                      <a:endParaRPr lang="fr-FR" sz="1292" kern="1200" dirty="0">
                        <a:solidFill>
                          <a:srgbClr val="47413C"/>
                        </a:solidFill>
                        <a:latin typeface="Open Sans" pitchFamily="34" charset="0"/>
                        <a:ea typeface="Open Sans" pitchFamily="34" charset="-122"/>
                        <a:cs typeface="Open Sans" pitchFamily="34" charset="-120"/>
                      </a:endParaRPr>
                    </a:p>
                  </a:txBody>
                  <a:tcPr anchor="ctr"/>
                </a:tc>
                <a:tc>
                  <a:txBody>
                    <a:bodyPr/>
                    <a:lstStyle/>
                    <a:p>
                      <a:pPr algn="ctr"/>
                      <a:endParaRPr lang="fr-FR" sz="1292" kern="1200" dirty="0">
                        <a:solidFill>
                          <a:srgbClr val="47413C"/>
                        </a:solidFill>
                        <a:latin typeface="Open Sans" pitchFamily="34" charset="0"/>
                        <a:ea typeface="Open Sans" pitchFamily="34" charset="-122"/>
                        <a:cs typeface="Open Sans" pitchFamily="34" charset="-120"/>
                      </a:endParaRPr>
                    </a:p>
                  </a:txBody>
                  <a:tcPr anchor="ctr"/>
                </a:tc>
                <a:extLst>
                  <a:ext uri="{0D108BD9-81ED-4DB2-BD59-A6C34878D82A}">
                    <a16:rowId xmlns:a16="http://schemas.microsoft.com/office/drawing/2014/main" val="1999118265"/>
                  </a:ext>
                </a:extLst>
              </a:tr>
              <a:tr h="373028">
                <a:tc>
                  <a:txBody>
                    <a:bodyPr/>
                    <a:lstStyle/>
                    <a:p>
                      <a:pPr algn="ctr"/>
                      <a:endParaRPr lang="fr-FR" sz="1292" kern="1200" dirty="0">
                        <a:solidFill>
                          <a:srgbClr val="47413C"/>
                        </a:solidFill>
                        <a:latin typeface="Open Sans" pitchFamily="34" charset="0"/>
                        <a:ea typeface="Open Sans" pitchFamily="34" charset="-122"/>
                        <a:cs typeface="Open Sans" pitchFamily="34" charset="-120"/>
                      </a:endParaRPr>
                    </a:p>
                  </a:txBody>
                  <a:tcPr anchor="ctr"/>
                </a:tc>
                <a:tc>
                  <a:txBody>
                    <a:bodyPr/>
                    <a:lstStyle/>
                    <a:p>
                      <a:pPr algn="ctr"/>
                      <a:endParaRPr lang="fr-FR" sz="1292" kern="1200">
                        <a:solidFill>
                          <a:srgbClr val="47413C"/>
                        </a:solidFill>
                        <a:latin typeface="Open Sans" pitchFamily="34" charset="0"/>
                        <a:ea typeface="Open Sans" pitchFamily="34" charset="-122"/>
                        <a:cs typeface="Open Sans" pitchFamily="34" charset="-120"/>
                      </a:endParaRPr>
                    </a:p>
                  </a:txBody>
                  <a:tcPr anchor="ctr"/>
                </a:tc>
                <a:tc>
                  <a:txBody>
                    <a:bodyPr/>
                    <a:lstStyle/>
                    <a:p>
                      <a:pPr algn="ctr"/>
                      <a:endParaRPr lang="fr-FR" sz="1292" kern="1200" dirty="0">
                        <a:solidFill>
                          <a:srgbClr val="47413C"/>
                        </a:solidFill>
                        <a:latin typeface="Open Sans" pitchFamily="34" charset="0"/>
                        <a:ea typeface="Open Sans" pitchFamily="34" charset="-122"/>
                        <a:cs typeface="Open Sans" pitchFamily="34" charset="-120"/>
                      </a:endParaRPr>
                    </a:p>
                  </a:txBody>
                  <a:tcPr anchor="ctr"/>
                </a:tc>
                <a:tc>
                  <a:txBody>
                    <a:bodyPr/>
                    <a:lstStyle/>
                    <a:p>
                      <a:pPr algn="ctr"/>
                      <a:endParaRPr lang="fr-FR" sz="1292" kern="1200">
                        <a:solidFill>
                          <a:srgbClr val="47413C"/>
                        </a:solidFill>
                        <a:latin typeface="Open Sans" pitchFamily="34" charset="0"/>
                        <a:ea typeface="Open Sans" pitchFamily="34" charset="-122"/>
                        <a:cs typeface="Open Sans" pitchFamily="34" charset="-120"/>
                      </a:endParaRPr>
                    </a:p>
                  </a:txBody>
                  <a:tcPr anchor="ctr"/>
                </a:tc>
                <a:tc>
                  <a:txBody>
                    <a:bodyPr/>
                    <a:lstStyle/>
                    <a:p>
                      <a:pPr algn="ctr"/>
                      <a:endParaRPr lang="fr-FR" sz="1292" kern="1200" dirty="0">
                        <a:solidFill>
                          <a:srgbClr val="47413C"/>
                        </a:solidFill>
                        <a:latin typeface="Open Sans" pitchFamily="34" charset="0"/>
                        <a:ea typeface="Open Sans" pitchFamily="34" charset="-122"/>
                        <a:cs typeface="Open Sans" pitchFamily="34" charset="-120"/>
                      </a:endParaRPr>
                    </a:p>
                  </a:txBody>
                  <a:tcPr anchor="ctr"/>
                </a:tc>
                <a:extLst>
                  <a:ext uri="{0D108BD9-81ED-4DB2-BD59-A6C34878D82A}">
                    <a16:rowId xmlns:a16="http://schemas.microsoft.com/office/drawing/2014/main" val="2773968795"/>
                  </a:ext>
                </a:extLst>
              </a:tr>
              <a:tr h="373028">
                <a:tc>
                  <a:txBody>
                    <a:bodyPr/>
                    <a:lstStyle/>
                    <a:p>
                      <a:pPr algn="ctr"/>
                      <a:endParaRPr lang="fr-FR" sz="1292" kern="1200" dirty="0">
                        <a:solidFill>
                          <a:srgbClr val="47413C"/>
                        </a:solidFill>
                        <a:latin typeface="Open Sans" pitchFamily="34" charset="0"/>
                        <a:ea typeface="Open Sans" pitchFamily="34" charset="-122"/>
                        <a:cs typeface="Open Sans" pitchFamily="34" charset="-120"/>
                      </a:endParaRPr>
                    </a:p>
                  </a:txBody>
                  <a:tcPr anchor="ctr"/>
                </a:tc>
                <a:tc>
                  <a:txBody>
                    <a:bodyPr/>
                    <a:lstStyle/>
                    <a:p>
                      <a:pPr algn="ctr"/>
                      <a:endParaRPr lang="fr-FR" sz="1292" kern="1200" dirty="0">
                        <a:solidFill>
                          <a:srgbClr val="47413C"/>
                        </a:solidFill>
                        <a:latin typeface="Open Sans" pitchFamily="34" charset="0"/>
                        <a:ea typeface="Open Sans" pitchFamily="34" charset="-122"/>
                        <a:cs typeface="Open Sans" pitchFamily="34" charset="-120"/>
                      </a:endParaRPr>
                    </a:p>
                  </a:txBody>
                  <a:tcPr anchor="ctr"/>
                </a:tc>
                <a:tc>
                  <a:txBody>
                    <a:bodyPr/>
                    <a:lstStyle/>
                    <a:p>
                      <a:pPr algn="ctr"/>
                      <a:endParaRPr lang="fr-FR" sz="1292" kern="1200" dirty="0">
                        <a:solidFill>
                          <a:srgbClr val="47413C"/>
                        </a:solidFill>
                        <a:latin typeface="Open Sans" pitchFamily="34" charset="0"/>
                        <a:ea typeface="Open Sans" pitchFamily="34" charset="-122"/>
                        <a:cs typeface="Open Sans" pitchFamily="34" charset="-120"/>
                      </a:endParaRPr>
                    </a:p>
                  </a:txBody>
                  <a:tcPr anchor="ctr"/>
                </a:tc>
                <a:tc>
                  <a:txBody>
                    <a:bodyPr/>
                    <a:lstStyle/>
                    <a:p>
                      <a:pPr algn="ctr"/>
                      <a:endParaRPr lang="fr-FR" sz="1292" kern="1200" dirty="0">
                        <a:solidFill>
                          <a:srgbClr val="47413C"/>
                        </a:solidFill>
                        <a:latin typeface="Open Sans" pitchFamily="34" charset="0"/>
                        <a:ea typeface="Open Sans" pitchFamily="34" charset="-122"/>
                        <a:cs typeface="Open Sans" pitchFamily="34" charset="-120"/>
                      </a:endParaRPr>
                    </a:p>
                  </a:txBody>
                  <a:tcPr anchor="ctr"/>
                </a:tc>
                <a:tc>
                  <a:txBody>
                    <a:bodyPr/>
                    <a:lstStyle/>
                    <a:p>
                      <a:pPr algn="ctr"/>
                      <a:endParaRPr lang="fr-FR" sz="1292" kern="1200" dirty="0">
                        <a:solidFill>
                          <a:srgbClr val="47413C"/>
                        </a:solidFill>
                        <a:latin typeface="Open Sans" pitchFamily="34" charset="0"/>
                        <a:ea typeface="Open Sans" pitchFamily="34" charset="-122"/>
                        <a:cs typeface="Open Sans" pitchFamily="34" charset="-120"/>
                      </a:endParaRPr>
                    </a:p>
                  </a:txBody>
                  <a:tcPr anchor="ctr"/>
                </a:tc>
                <a:extLst>
                  <a:ext uri="{0D108BD9-81ED-4DB2-BD59-A6C34878D82A}">
                    <a16:rowId xmlns:a16="http://schemas.microsoft.com/office/drawing/2014/main" val="3212845099"/>
                  </a:ext>
                </a:extLst>
              </a:tr>
              <a:tr h="373028">
                <a:tc>
                  <a:txBody>
                    <a:bodyPr/>
                    <a:lstStyle/>
                    <a:p>
                      <a:pPr algn="ctr"/>
                      <a:endParaRPr lang="fr-FR" sz="1292" kern="1200">
                        <a:solidFill>
                          <a:srgbClr val="47413C"/>
                        </a:solidFill>
                        <a:latin typeface="Open Sans" pitchFamily="34" charset="0"/>
                        <a:ea typeface="Open Sans" pitchFamily="34" charset="-122"/>
                        <a:cs typeface="Open Sans" pitchFamily="34" charset="-120"/>
                      </a:endParaRPr>
                    </a:p>
                  </a:txBody>
                  <a:tcPr anchor="ctr"/>
                </a:tc>
                <a:tc>
                  <a:txBody>
                    <a:bodyPr/>
                    <a:lstStyle/>
                    <a:p>
                      <a:pPr algn="ctr"/>
                      <a:endParaRPr lang="fr-FR" sz="1292" kern="1200" dirty="0">
                        <a:solidFill>
                          <a:srgbClr val="47413C"/>
                        </a:solidFill>
                        <a:latin typeface="Open Sans" pitchFamily="34" charset="0"/>
                        <a:ea typeface="Open Sans" pitchFamily="34" charset="-122"/>
                        <a:cs typeface="Open Sans" pitchFamily="34" charset="-120"/>
                      </a:endParaRPr>
                    </a:p>
                  </a:txBody>
                  <a:tcPr anchor="ctr"/>
                </a:tc>
                <a:tc>
                  <a:txBody>
                    <a:bodyPr/>
                    <a:lstStyle/>
                    <a:p>
                      <a:pPr algn="ctr"/>
                      <a:endParaRPr lang="fr-FR" sz="1292" kern="1200">
                        <a:solidFill>
                          <a:srgbClr val="47413C"/>
                        </a:solidFill>
                        <a:latin typeface="Open Sans" pitchFamily="34" charset="0"/>
                        <a:ea typeface="Open Sans" pitchFamily="34" charset="-122"/>
                        <a:cs typeface="Open Sans" pitchFamily="34" charset="-120"/>
                      </a:endParaRPr>
                    </a:p>
                  </a:txBody>
                  <a:tcPr anchor="ctr"/>
                </a:tc>
                <a:tc>
                  <a:txBody>
                    <a:bodyPr/>
                    <a:lstStyle/>
                    <a:p>
                      <a:pPr algn="ctr"/>
                      <a:endParaRPr lang="fr-FR" sz="1292" kern="1200" dirty="0">
                        <a:solidFill>
                          <a:srgbClr val="47413C"/>
                        </a:solidFill>
                        <a:latin typeface="Open Sans" pitchFamily="34" charset="0"/>
                        <a:ea typeface="Open Sans" pitchFamily="34" charset="-122"/>
                        <a:cs typeface="Open Sans" pitchFamily="34" charset="-120"/>
                      </a:endParaRPr>
                    </a:p>
                  </a:txBody>
                  <a:tcPr anchor="ctr"/>
                </a:tc>
                <a:tc>
                  <a:txBody>
                    <a:bodyPr/>
                    <a:lstStyle/>
                    <a:p>
                      <a:pPr algn="ctr"/>
                      <a:endParaRPr lang="fr-FR" sz="1292" kern="1200" dirty="0">
                        <a:solidFill>
                          <a:srgbClr val="47413C"/>
                        </a:solidFill>
                        <a:latin typeface="Open Sans" pitchFamily="34" charset="0"/>
                        <a:ea typeface="Open Sans" pitchFamily="34" charset="-122"/>
                        <a:cs typeface="Open Sans" pitchFamily="34" charset="-120"/>
                      </a:endParaRPr>
                    </a:p>
                  </a:txBody>
                  <a:tcPr anchor="ctr"/>
                </a:tc>
                <a:extLst>
                  <a:ext uri="{0D108BD9-81ED-4DB2-BD59-A6C34878D82A}">
                    <a16:rowId xmlns:a16="http://schemas.microsoft.com/office/drawing/2014/main" val="1568162499"/>
                  </a:ext>
                </a:extLst>
              </a:tr>
              <a:tr h="373028">
                <a:tc>
                  <a:txBody>
                    <a:bodyPr/>
                    <a:lstStyle/>
                    <a:p>
                      <a:pPr algn="ctr"/>
                      <a:endParaRPr lang="fr-FR" sz="1292" kern="1200">
                        <a:solidFill>
                          <a:srgbClr val="47413C"/>
                        </a:solidFill>
                        <a:latin typeface="Open Sans" pitchFamily="34" charset="0"/>
                        <a:ea typeface="Open Sans" pitchFamily="34" charset="-122"/>
                        <a:cs typeface="Open Sans" pitchFamily="34" charset="-120"/>
                      </a:endParaRPr>
                    </a:p>
                  </a:txBody>
                  <a:tcPr anchor="ctr"/>
                </a:tc>
                <a:tc>
                  <a:txBody>
                    <a:bodyPr/>
                    <a:lstStyle/>
                    <a:p>
                      <a:pPr algn="ctr"/>
                      <a:endParaRPr lang="fr-FR" sz="1292" kern="1200" dirty="0">
                        <a:solidFill>
                          <a:srgbClr val="47413C"/>
                        </a:solidFill>
                        <a:latin typeface="Open Sans" pitchFamily="34" charset="0"/>
                        <a:ea typeface="Open Sans" pitchFamily="34" charset="-122"/>
                        <a:cs typeface="Open Sans" pitchFamily="34" charset="-120"/>
                      </a:endParaRPr>
                    </a:p>
                  </a:txBody>
                  <a:tcPr anchor="ctr"/>
                </a:tc>
                <a:tc>
                  <a:txBody>
                    <a:bodyPr/>
                    <a:lstStyle/>
                    <a:p>
                      <a:pPr algn="ctr"/>
                      <a:endParaRPr lang="fr-FR" sz="1292" kern="1200">
                        <a:solidFill>
                          <a:srgbClr val="47413C"/>
                        </a:solidFill>
                        <a:latin typeface="Open Sans" pitchFamily="34" charset="0"/>
                        <a:ea typeface="Open Sans" pitchFamily="34" charset="-122"/>
                        <a:cs typeface="Open Sans" pitchFamily="34" charset="-120"/>
                      </a:endParaRPr>
                    </a:p>
                  </a:txBody>
                  <a:tcPr anchor="ctr"/>
                </a:tc>
                <a:tc>
                  <a:txBody>
                    <a:bodyPr/>
                    <a:lstStyle/>
                    <a:p>
                      <a:pPr algn="ctr"/>
                      <a:endParaRPr lang="fr-FR" sz="1292" kern="1200" dirty="0">
                        <a:solidFill>
                          <a:srgbClr val="47413C"/>
                        </a:solidFill>
                        <a:latin typeface="Open Sans" pitchFamily="34" charset="0"/>
                        <a:ea typeface="Open Sans" pitchFamily="34" charset="-122"/>
                        <a:cs typeface="Open Sans" pitchFamily="34" charset="-120"/>
                      </a:endParaRPr>
                    </a:p>
                  </a:txBody>
                  <a:tcPr anchor="ctr"/>
                </a:tc>
                <a:tc>
                  <a:txBody>
                    <a:bodyPr/>
                    <a:lstStyle/>
                    <a:p>
                      <a:pPr algn="ctr"/>
                      <a:endParaRPr lang="fr-FR" sz="1292" kern="1200" dirty="0">
                        <a:solidFill>
                          <a:srgbClr val="47413C"/>
                        </a:solidFill>
                        <a:latin typeface="Open Sans" pitchFamily="34" charset="0"/>
                        <a:ea typeface="Open Sans" pitchFamily="34" charset="-122"/>
                        <a:cs typeface="Open Sans" pitchFamily="34" charset="-120"/>
                      </a:endParaRPr>
                    </a:p>
                  </a:txBody>
                  <a:tcPr anchor="ctr"/>
                </a:tc>
                <a:extLst>
                  <a:ext uri="{0D108BD9-81ED-4DB2-BD59-A6C34878D82A}">
                    <a16:rowId xmlns:a16="http://schemas.microsoft.com/office/drawing/2014/main" val="462706893"/>
                  </a:ext>
                </a:extLst>
              </a:tr>
              <a:tr h="373028">
                <a:tc>
                  <a:txBody>
                    <a:bodyPr/>
                    <a:lstStyle/>
                    <a:p>
                      <a:pPr algn="ctr"/>
                      <a:endParaRPr lang="fr-FR" sz="1292" kern="1200">
                        <a:solidFill>
                          <a:srgbClr val="47413C"/>
                        </a:solidFill>
                        <a:latin typeface="Open Sans" pitchFamily="34" charset="0"/>
                        <a:ea typeface="Open Sans" pitchFamily="34" charset="-122"/>
                        <a:cs typeface="Open Sans" pitchFamily="34" charset="-120"/>
                      </a:endParaRPr>
                    </a:p>
                  </a:txBody>
                  <a:tcPr anchor="ctr"/>
                </a:tc>
                <a:tc>
                  <a:txBody>
                    <a:bodyPr/>
                    <a:lstStyle/>
                    <a:p>
                      <a:pPr algn="ctr"/>
                      <a:endParaRPr lang="fr-FR" sz="1292" kern="1200" dirty="0">
                        <a:solidFill>
                          <a:srgbClr val="47413C"/>
                        </a:solidFill>
                        <a:latin typeface="Open Sans" pitchFamily="34" charset="0"/>
                        <a:ea typeface="Open Sans" pitchFamily="34" charset="-122"/>
                        <a:cs typeface="Open Sans" pitchFamily="34" charset="-120"/>
                      </a:endParaRPr>
                    </a:p>
                  </a:txBody>
                  <a:tcPr anchor="ctr"/>
                </a:tc>
                <a:tc>
                  <a:txBody>
                    <a:bodyPr/>
                    <a:lstStyle/>
                    <a:p>
                      <a:pPr algn="ctr"/>
                      <a:endParaRPr lang="fr-FR" sz="1292" kern="1200">
                        <a:solidFill>
                          <a:srgbClr val="47413C"/>
                        </a:solidFill>
                        <a:latin typeface="Open Sans" pitchFamily="34" charset="0"/>
                        <a:ea typeface="Open Sans" pitchFamily="34" charset="-122"/>
                        <a:cs typeface="Open Sans" pitchFamily="34" charset="-120"/>
                      </a:endParaRPr>
                    </a:p>
                  </a:txBody>
                  <a:tcPr anchor="ctr"/>
                </a:tc>
                <a:tc>
                  <a:txBody>
                    <a:bodyPr/>
                    <a:lstStyle/>
                    <a:p>
                      <a:pPr algn="ctr"/>
                      <a:endParaRPr lang="fr-FR" sz="1292" kern="1200">
                        <a:solidFill>
                          <a:srgbClr val="47413C"/>
                        </a:solidFill>
                        <a:latin typeface="Open Sans" pitchFamily="34" charset="0"/>
                        <a:ea typeface="Open Sans" pitchFamily="34" charset="-122"/>
                        <a:cs typeface="Open Sans" pitchFamily="34" charset="-120"/>
                      </a:endParaRPr>
                    </a:p>
                  </a:txBody>
                  <a:tcPr anchor="ctr"/>
                </a:tc>
                <a:tc>
                  <a:txBody>
                    <a:bodyPr/>
                    <a:lstStyle/>
                    <a:p>
                      <a:pPr algn="ctr"/>
                      <a:endParaRPr lang="fr-FR" sz="1292" kern="1200" dirty="0">
                        <a:solidFill>
                          <a:srgbClr val="47413C"/>
                        </a:solidFill>
                        <a:latin typeface="Open Sans" pitchFamily="34" charset="0"/>
                        <a:ea typeface="Open Sans" pitchFamily="34" charset="-122"/>
                        <a:cs typeface="Open Sans" pitchFamily="34" charset="-120"/>
                      </a:endParaRPr>
                    </a:p>
                  </a:txBody>
                  <a:tcPr anchor="ctr"/>
                </a:tc>
                <a:extLst>
                  <a:ext uri="{0D108BD9-81ED-4DB2-BD59-A6C34878D82A}">
                    <a16:rowId xmlns:a16="http://schemas.microsoft.com/office/drawing/2014/main" val="983473255"/>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A7B753D4-5BCD-AA42-ED37-438C17594EF4}"/>
              </a:ext>
            </a:extLst>
          </p:cNvPr>
          <p:cNvSpPr/>
          <p:nvPr/>
        </p:nvSpPr>
        <p:spPr>
          <a:xfrm>
            <a:off x="661492" y="548879"/>
            <a:ext cx="3966667" cy="465138"/>
          </a:xfrm>
          <a:prstGeom prst="rect">
            <a:avLst/>
          </a:prstGeom>
          <a:noFill/>
          <a:ln/>
        </p:spPr>
        <p:txBody>
          <a:bodyPr wrap="none" lIns="0" tIns="0" rIns="0" bIns="0" rtlCol="0" anchor="t"/>
          <a:lstStyle/>
          <a:p>
            <a:pPr>
              <a:lnSpc>
                <a:spcPts val="3625"/>
              </a:lnSpc>
            </a:pPr>
            <a:r>
              <a:rPr lang="en-US" sz="2917" b="1" dirty="0">
                <a:solidFill>
                  <a:srgbClr val="000000"/>
                </a:solidFill>
                <a:latin typeface="League Spartan Bold" pitchFamily="34" charset="0"/>
                <a:ea typeface="League Spartan Bold" pitchFamily="34" charset="-122"/>
                <a:cs typeface="League Spartan Bold" pitchFamily="34" charset="-120"/>
              </a:rPr>
              <a:t>Faits </a:t>
            </a:r>
            <a:r>
              <a:rPr lang="en-US" sz="2917" b="1" dirty="0" err="1">
                <a:solidFill>
                  <a:srgbClr val="000000"/>
                </a:solidFill>
                <a:latin typeface="League Spartan Bold" pitchFamily="34" charset="0"/>
                <a:ea typeface="League Spartan Bold" pitchFamily="34" charset="-122"/>
                <a:cs typeface="League Spartan Bold" pitchFamily="34" charset="-120"/>
              </a:rPr>
              <a:t>marquants</a:t>
            </a:r>
            <a:endParaRPr lang="en-US" sz="2917" dirty="0"/>
          </a:p>
        </p:txBody>
      </p:sp>
      <p:sp>
        <p:nvSpPr>
          <p:cNvPr id="6" name="FM_commentaire">
            <a:extLst>
              <a:ext uri="{FF2B5EF4-FFF2-40B4-BE49-F238E27FC236}">
                <a16:creationId xmlns:a16="http://schemas.microsoft.com/office/drawing/2014/main" id="{AEEC8E40-BB70-458F-8BD0-BBBE55829ECE}"/>
              </a:ext>
            </a:extLst>
          </p:cNvPr>
          <p:cNvSpPr/>
          <p:nvPr/>
        </p:nvSpPr>
        <p:spPr>
          <a:xfrm>
            <a:off x="6096000" y="3258740"/>
            <a:ext cx="5638800" cy="34051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spAutoFit/>
          </a:bodyPr>
          <a:lstStyle/>
          <a:p>
            <a:pPr algn="ctr"/>
            <a:endParaRPr lang="fr-FR" sz="1400" dirty="0"/>
          </a:p>
        </p:txBody>
      </p:sp>
    </p:spTree>
    <p:extLst>
      <p:ext uri="{BB962C8B-B14F-4D97-AF65-F5344CB8AC3E}">
        <p14:creationId xmlns:p14="http://schemas.microsoft.com/office/powerpoint/2010/main" val="18157740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DEF4B4A5-53F7-5245-DFA4-14720D783082}"/>
              </a:ext>
            </a:extLst>
          </p:cNvPr>
          <p:cNvSpPr/>
          <p:nvPr/>
        </p:nvSpPr>
        <p:spPr>
          <a:xfrm>
            <a:off x="661492" y="548879"/>
            <a:ext cx="3966667" cy="465138"/>
          </a:xfrm>
          <a:prstGeom prst="rect">
            <a:avLst/>
          </a:prstGeom>
          <a:noFill/>
          <a:ln/>
        </p:spPr>
        <p:txBody>
          <a:bodyPr wrap="none" lIns="0" tIns="0" rIns="0" bIns="0" rtlCol="0" anchor="t"/>
          <a:lstStyle/>
          <a:p>
            <a:pPr>
              <a:lnSpc>
                <a:spcPts val="3625"/>
              </a:lnSpc>
            </a:pPr>
            <a:r>
              <a:rPr lang="en-US" sz="2917" b="1" dirty="0">
                <a:solidFill>
                  <a:srgbClr val="000000"/>
                </a:solidFill>
                <a:latin typeface="League Spartan Bold" pitchFamily="34" charset="0"/>
                <a:ea typeface="League Spartan Bold" pitchFamily="34" charset="-122"/>
                <a:cs typeface="League Spartan Bold" pitchFamily="34" charset="-120"/>
              </a:rPr>
              <a:t>Points </a:t>
            </a:r>
            <a:r>
              <a:rPr lang="en-US" sz="2917" b="1" dirty="0" err="1">
                <a:solidFill>
                  <a:srgbClr val="000000"/>
                </a:solidFill>
                <a:latin typeface="League Spartan Bold" pitchFamily="34" charset="0"/>
                <a:ea typeface="League Spartan Bold" pitchFamily="34" charset="-122"/>
                <a:cs typeface="League Spartan Bold" pitchFamily="34" charset="-120"/>
              </a:rPr>
              <a:t>importants</a:t>
            </a:r>
            <a:endParaRPr lang="en-US" sz="2917" dirty="0"/>
          </a:p>
        </p:txBody>
      </p:sp>
      <p:sp>
        <p:nvSpPr>
          <p:cNvPr id="5" name="PI_commentaire">
            <a:extLst>
              <a:ext uri="{FF2B5EF4-FFF2-40B4-BE49-F238E27FC236}">
                <a16:creationId xmlns:a16="http://schemas.microsoft.com/office/drawing/2014/main" id="{B6744FDB-97EB-7340-C6A3-8D6C5261E753}"/>
              </a:ext>
            </a:extLst>
          </p:cNvPr>
          <p:cNvSpPr/>
          <p:nvPr/>
        </p:nvSpPr>
        <p:spPr>
          <a:xfrm>
            <a:off x="6096000" y="2662833"/>
            <a:ext cx="5638800" cy="15323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spAutoFit/>
          </a:bodyPr>
          <a:lstStyle/>
          <a:p>
            <a:pPr algn="ctr"/>
            <a:r>
              <a:rPr lang="fr-FR" sz="1400"/>
              <a:t> - DA essai dossier de travail point important 2 coche</a:t>
            </a:r>
          </a:p>
          <a:p>
            <a:pPr algn="ctr"/>
            <a:r>
              <a:rPr lang="fr-FR" sz="1400"/>
              <a:t> - DA essai plusieurs coches 3</a:t>
            </a:r>
          </a:p>
          <a:p>
            <a:pPr algn="ctr"/>
            <a:r>
              <a:rPr lang="fr-FR" sz="1400"/>
              <a:t> - essai dossier W point impotrant</a:t>
            </a:r>
          </a:p>
          <a:p>
            <a:pPr algn="ctr"/>
            <a:r>
              <a:rPr lang="fr-FR" sz="1400"/>
              <a:t> - test point important</a:t>
            </a:r>
          </a:p>
          <a:p>
            <a:pPr algn="ctr"/>
            <a:r>
              <a:rPr lang="fr-FR" sz="1400"/>
              <a:t> - balance : 2ème commentaire avec plusieurs coches</a:t>
            </a:r>
          </a:p>
          <a:p>
            <a:pPr algn="ctr"/>
            <a:r>
              <a:rPr lang="fr-FR" sz="1400"/>
              <a:t> - balance : essai 3 coches : 1 seul commentaire</a:t>
            </a:r>
            <a:endParaRPr lang="fr-FR" sz="1400" dirty="0"/>
          </a:p>
        </p:txBody>
      </p:sp>
    </p:spTree>
    <p:extLst>
      <p:ext uri="{BB962C8B-B14F-4D97-AF65-F5344CB8AC3E}">
        <p14:creationId xmlns:p14="http://schemas.microsoft.com/office/powerpoint/2010/main" val="15968196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B17A04FB-CA4C-1FB4-3052-0601A2B6CF16}"/>
              </a:ext>
            </a:extLst>
          </p:cNvPr>
          <p:cNvSpPr/>
          <p:nvPr/>
        </p:nvSpPr>
        <p:spPr>
          <a:xfrm>
            <a:off x="661492" y="548879"/>
            <a:ext cx="3966667" cy="465138"/>
          </a:xfrm>
          <a:prstGeom prst="rect">
            <a:avLst/>
          </a:prstGeom>
          <a:noFill/>
          <a:ln/>
        </p:spPr>
        <p:txBody>
          <a:bodyPr wrap="none" lIns="0" tIns="0" rIns="0" bIns="0" rtlCol="0" anchor="t"/>
          <a:lstStyle/>
          <a:p>
            <a:pPr>
              <a:lnSpc>
                <a:spcPts val="3625"/>
              </a:lnSpc>
            </a:pPr>
            <a:r>
              <a:rPr lang="en-US" sz="2917" b="1" dirty="0">
                <a:solidFill>
                  <a:srgbClr val="000000"/>
                </a:solidFill>
                <a:latin typeface="League Spartan Bold" pitchFamily="34" charset="0"/>
                <a:ea typeface="League Spartan Bold" pitchFamily="34" charset="-122"/>
                <a:cs typeface="League Spartan Bold" pitchFamily="34" charset="-120"/>
              </a:rPr>
              <a:t>Perspectives</a:t>
            </a:r>
            <a:endParaRPr lang="en-US" sz="2917" dirty="0"/>
          </a:p>
        </p:txBody>
      </p:sp>
      <p:sp>
        <p:nvSpPr>
          <p:cNvPr id="5" name="P_commentaire">
            <a:extLst>
              <a:ext uri="{FF2B5EF4-FFF2-40B4-BE49-F238E27FC236}">
                <a16:creationId xmlns:a16="http://schemas.microsoft.com/office/drawing/2014/main" id="{156B143D-0261-7616-B66E-6CB0B14D3133}"/>
              </a:ext>
            </a:extLst>
          </p:cNvPr>
          <p:cNvSpPr/>
          <p:nvPr/>
        </p:nvSpPr>
        <p:spPr>
          <a:xfrm>
            <a:off x="6096000" y="3258740"/>
            <a:ext cx="5638800" cy="34051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spAutoFit/>
          </a:bodyPr>
          <a:lstStyle/>
          <a:p>
            <a:pPr algn="ctr"/>
            <a:endParaRPr lang="fr-FR" sz="1400" dirty="0"/>
          </a:p>
        </p:txBody>
      </p:sp>
    </p:spTree>
    <p:extLst>
      <p:ext uri="{BB962C8B-B14F-4D97-AF65-F5344CB8AC3E}">
        <p14:creationId xmlns:p14="http://schemas.microsoft.com/office/powerpoint/2010/main" val="39949273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604800"/>
            <a:ext cx="7188795" cy="490934"/>
          </a:xfrm>
          <a:prstGeom prst="rect">
            <a:avLst/>
          </a:prstGeom>
          <a:noFill/>
          <a:ln/>
        </p:spPr>
        <p:txBody>
          <a:bodyPr wrap="none" lIns="0" tIns="0" rIns="0" bIns="0" rtlCol="0" anchor="t"/>
          <a:lstStyle/>
          <a:p>
            <a:pPr>
              <a:lnSpc>
                <a:spcPts val="3833"/>
              </a:lnSpc>
            </a:pPr>
            <a:r>
              <a:rPr lang="fr-FR" sz="3083" b="1" noProof="0" dirty="0">
                <a:solidFill>
                  <a:srgbClr val="000000"/>
                </a:solidFill>
                <a:latin typeface="League Spartan Bold" pitchFamily="34" charset="0"/>
                <a:ea typeface="League Spartan Bold" pitchFamily="34" charset="-122"/>
                <a:cs typeface="League Spartan Bold" pitchFamily="34" charset="-120"/>
              </a:rPr>
              <a:t>Recommandations et Cybersécurité</a:t>
            </a:r>
            <a:endParaRPr lang="fr-FR" sz="3083" noProof="0" dirty="0"/>
          </a:p>
        </p:txBody>
      </p:sp>
      <p:sp>
        <p:nvSpPr>
          <p:cNvPr id="3" name="Shape 1"/>
          <p:cNvSpPr/>
          <p:nvPr/>
        </p:nvSpPr>
        <p:spPr>
          <a:xfrm>
            <a:off x="661492" y="1495227"/>
            <a:ext cx="353517" cy="353517"/>
          </a:xfrm>
          <a:prstGeom prst="roundRect">
            <a:avLst>
              <a:gd name="adj" fmla="val 18668"/>
            </a:avLst>
          </a:prstGeom>
          <a:solidFill>
            <a:srgbClr val="DDEBEE"/>
          </a:solidFill>
          <a:ln w="7620">
            <a:solidFill>
              <a:srgbClr val="C3D1D4"/>
            </a:solidFill>
            <a:prstDash val="solid"/>
          </a:ln>
        </p:spPr>
        <p:txBody>
          <a:bodyPr/>
          <a:lstStyle/>
          <a:p>
            <a:endParaRPr lang="fr-FR" sz="1500" noProof="0" dirty="0"/>
          </a:p>
        </p:txBody>
      </p:sp>
      <p:sp>
        <p:nvSpPr>
          <p:cNvPr id="4" name="Text 2"/>
          <p:cNvSpPr/>
          <p:nvPr/>
        </p:nvSpPr>
        <p:spPr>
          <a:xfrm>
            <a:off x="1172071" y="1549202"/>
            <a:ext cx="2643188" cy="245567"/>
          </a:xfrm>
          <a:prstGeom prst="rect">
            <a:avLst/>
          </a:prstGeom>
          <a:noFill/>
          <a:ln/>
        </p:spPr>
        <p:txBody>
          <a:bodyPr wrap="none" lIns="0" tIns="0" rIns="0" bIns="0" rtlCol="0" anchor="t"/>
          <a:lstStyle/>
          <a:p>
            <a:pPr>
              <a:lnSpc>
                <a:spcPts val="1917"/>
              </a:lnSpc>
            </a:pPr>
            <a:r>
              <a:rPr lang="fr-FR" sz="1542" b="1" noProof="0" dirty="0">
                <a:solidFill>
                  <a:srgbClr val="47413C"/>
                </a:solidFill>
                <a:latin typeface="League Spartan Bold" pitchFamily="34" charset="0"/>
                <a:ea typeface="League Spartan Bold" pitchFamily="34" charset="-122"/>
                <a:cs typeface="League Spartan Bold" pitchFamily="34" charset="-120"/>
              </a:rPr>
              <a:t>Gestion des Mots de Passe</a:t>
            </a:r>
            <a:endParaRPr lang="fr-FR" sz="1542" noProof="0" dirty="0"/>
          </a:p>
        </p:txBody>
      </p:sp>
      <p:sp>
        <p:nvSpPr>
          <p:cNvPr id="5" name="Text 3"/>
          <p:cNvSpPr/>
          <p:nvPr/>
        </p:nvSpPr>
        <p:spPr>
          <a:xfrm>
            <a:off x="1172071" y="1889026"/>
            <a:ext cx="4825703" cy="502841"/>
          </a:xfrm>
          <a:prstGeom prst="rect">
            <a:avLst/>
          </a:prstGeom>
          <a:noFill/>
          <a:ln/>
        </p:spPr>
        <p:txBody>
          <a:bodyPr wrap="square" lIns="0" tIns="0" rIns="0" bIns="0" rtlCol="0" anchor="t"/>
          <a:lstStyle/>
          <a:p>
            <a:pPr>
              <a:lnSpc>
                <a:spcPts val="1958"/>
              </a:lnSpc>
            </a:pPr>
            <a:r>
              <a:rPr lang="fr-FR" sz="1208" noProof="0" dirty="0">
                <a:solidFill>
                  <a:srgbClr val="47413C"/>
                </a:solidFill>
                <a:latin typeface="Open Sans" pitchFamily="34" charset="0"/>
                <a:ea typeface="Open Sans" pitchFamily="34" charset="-122"/>
                <a:cs typeface="Open Sans" pitchFamily="34" charset="-120"/>
              </a:rPr>
              <a:t>Utilisez des mots de passe complexes (majuscules, minuscules, chiffres, caractères spéciaux) et différents pour chaque site.</a:t>
            </a:r>
            <a:endParaRPr lang="fr-FR" sz="1208" noProof="0" dirty="0"/>
          </a:p>
        </p:txBody>
      </p:sp>
      <p:sp>
        <p:nvSpPr>
          <p:cNvPr id="6" name="Shape 4"/>
          <p:cNvSpPr/>
          <p:nvPr/>
        </p:nvSpPr>
        <p:spPr>
          <a:xfrm>
            <a:off x="6194127" y="1495227"/>
            <a:ext cx="353517" cy="353517"/>
          </a:xfrm>
          <a:prstGeom prst="roundRect">
            <a:avLst>
              <a:gd name="adj" fmla="val 18668"/>
            </a:avLst>
          </a:prstGeom>
          <a:solidFill>
            <a:srgbClr val="DDEBEE"/>
          </a:solidFill>
          <a:ln w="7620">
            <a:solidFill>
              <a:srgbClr val="C3D1D4"/>
            </a:solidFill>
            <a:prstDash val="solid"/>
          </a:ln>
        </p:spPr>
        <p:txBody>
          <a:bodyPr/>
          <a:lstStyle/>
          <a:p>
            <a:endParaRPr lang="fr-FR" sz="1500" noProof="0" dirty="0"/>
          </a:p>
        </p:txBody>
      </p:sp>
      <p:sp>
        <p:nvSpPr>
          <p:cNvPr id="7" name="Text 5"/>
          <p:cNvSpPr/>
          <p:nvPr/>
        </p:nvSpPr>
        <p:spPr>
          <a:xfrm>
            <a:off x="6704707" y="1549202"/>
            <a:ext cx="2897683" cy="245567"/>
          </a:xfrm>
          <a:prstGeom prst="rect">
            <a:avLst/>
          </a:prstGeom>
          <a:noFill/>
          <a:ln/>
        </p:spPr>
        <p:txBody>
          <a:bodyPr wrap="none" lIns="0" tIns="0" rIns="0" bIns="0" rtlCol="0" anchor="t"/>
          <a:lstStyle/>
          <a:p>
            <a:pPr>
              <a:lnSpc>
                <a:spcPts val="1917"/>
              </a:lnSpc>
            </a:pPr>
            <a:r>
              <a:rPr lang="fr-FR" sz="1542" b="1" noProof="0" dirty="0">
                <a:solidFill>
                  <a:srgbClr val="47413C"/>
                </a:solidFill>
                <a:latin typeface="League Spartan Bold" pitchFamily="34" charset="0"/>
                <a:ea typeface="League Spartan Bold" pitchFamily="34" charset="-122"/>
                <a:cs typeface="League Spartan Bold" pitchFamily="34" charset="-120"/>
              </a:rPr>
              <a:t>Sauvegardes et Mises à Jour</a:t>
            </a:r>
            <a:endParaRPr lang="fr-FR" sz="1542" noProof="0" dirty="0"/>
          </a:p>
        </p:txBody>
      </p:sp>
      <p:sp>
        <p:nvSpPr>
          <p:cNvPr id="8" name="Text 6"/>
          <p:cNvSpPr/>
          <p:nvPr/>
        </p:nvSpPr>
        <p:spPr>
          <a:xfrm>
            <a:off x="6704707" y="1889026"/>
            <a:ext cx="4825802" cy="502841"/>
          </a:xfrm>
          <a:prstGeom prst="rect">
            <a:avLst/>
          </a:prstGeom>
          <a:noFill/>
          <a:ln/>
        </p:spPr>
        <p:txBody>
          <a:bodyPr wrap="square" lIns="0" tIns="0" rIns="0" bIns="0" rtlCol="0" anchor="t"/>
          <a:lstStyle/>
          <a:p>
            <a:pPr>
              <a:lnSpc>
                <a:spcPts val="1958"/>
              </a:lnSpc>
            </a:pPr>
            <a:r>
              <a:rPr lang="fr-FR" sz="1208" noProof="0" dirty="0">
                <a:solidFill>
                  <a:srgbClr val="47413C"/>
                </a:solidFill>
                <a:latin typeface="Open Sans" pitchFamily="34" charset="0"/>
                <a:ea typeface="Open Sans" pitchFamily="34" charset="-122"/>
                <a:cs typeface="Open Sans" pitchFamily="34" charset="-120"/>
              </a:rPr>
              <a:t>Effectuez des sauvegardes régulières, vérifiez-les, et maintenez vos logiciels à jour. Protégez votre matériel contre les virus.</a:t>
            </a:r>
            <a:endParaRPr lang="fr-FR" sz="1208" noProof="0" dirty="0"/>
          </a:p>
        </p:txBody>
      </p:sp>
      <p:sp>
        <p:nvSpPr>
          <p:cNvPr id="9" name="Shape 7"/>
          <p:cNvSpPr/>
          <p:nvPr/>
        </p:nvSpPr>
        <p:spPr>
          <a:xfrm>
            <a:off x="661492" y="2706092"/>
            <a:ext cx="353517" cy="353517"/>
          </a:xfrm>
          <a:prstGeom prst="roundRect">
            <a:avLst>
              <a:gd name="adj" fmla="val 18668"/>
            </a:avLst>
          </a:prstGeom>
          <a:solidFill>
            <a:srgbClr val="DDEBEE"/>
          </a:solidFill>
          <a:ln w="7620">
            <a:solidFill>
              <a:srgbClr val="C3D1D4"/>
            </a:solidFill>
            <a:prstDash val="solid"/>
          </a:ln>
        </p:spPr>
        <p:txBody>
          <a:bodyPr/>
          <a:lstStyle/>
          <a:p>
            <a:endParaRPr lang="fr-FR" sz="1500" noProof="0" dirty="0"/>
          </a:p>
        </p:txBody>
      </p:sp>
      <p:sp>
        <p:nvSpPr>
          <p:cNvPr id="10" name="Text 8"/>
          <p:cNvSpPr/>
          <p:nvPr/>
        </p:nvSpPr>
        <p:spPr>
          <a:xfrm>
            <a:off x="1172071" y="2760067"/>
            <a:ext cx="2138164" cy="245567"/>
          </a:xfrm>
          <a:prstGeom prst="rect">
            <a:avLst/>
          </a:prstGeom>
          <a:noFill/>
          <a:ln/>
        </p:spPr>
        <p:txBody>
          <a:bodyPr wrap="none" lIns="0" tIns="0" rIns="0" bIns="0" rtlCol="0" anchor="t"/>
          <a:lstStyle/>
          <a:p>
            <a:pPr>
              <a:lnSpc>
                <a:spcPts val="1917"/>
              </a:lnSpc>
            </a:pPr>
            <a:r>
              <a:rPr lang="fr-FR" sz="1542" b="1" noProof="0" dirty="0">
                <a:solidFill>
                  <a:srgbClr val="47413C"/>
                </a:solidFill>
                <a:latin typeface="League Spartan Bold" pitchFamily="34" charset="0"/>
                <a:ea typeface="League Spartan Bold" pitchFamily="34" charset="-122"/>
                <a:cs typeface="League Spartan Bold" pitchFamily="34" charset="-120"/>
              </a:rPr>
              <a:t>Vigilance Numérique</a:t>
            </a:r>
            <a:endParaRPr lang="fr-FR" sz="1542" noProof="0" dirty="0"/>
          </a:p>
        </p:txBody>
      </p:sp>
      <p:sp>
        <p:nvSpPr>
          <p:cNvPr id="11" name="Text 9"/>
          <p:cNvSpPr/>
          <p:nvPr/>
        </p:nvSpPr>
        <p:spPr>
          <a:xfrm>
            <a:off x="1172071" y="3099892"/>
            <a:ext cx="4825703" cy="754261"/>
          </a:xfrm>
          <a:prstGeom prst="rect">
            <a:avLst/>
          </a:prstGeom>
          <a:noFill/>
          <a:ln/>
        </p:spPr>
        <p:txBody>
          <a:bodyPr wrap="square" lIns="0" tIns="0" rIns="0" bIns="0" rtlCol="0" anchor="t"/>
          <a:lstStyle/>
          <a:p>
            <a:pPr>
              <a:lnSpc>
                <a:spcPts val="1958"/>
              </a:lnSpc>
            </a:pPr>
            <a:r>
              <a:rPr lang="fr-FR" sz="1208" noProof="0" dirty="0">
                <a:solidFill>
                  <a:srgbClr val="47413C"/>
                </a:solidFill>
                <a:latin typeface="Open Sans" pitchFamily="34" charset="0"/>
                <a:ea typeface="Open Sans" pitchFamily="34" charset="-122"/>
                <a:cs typeface="Open Sans" pitchFamily="34" charset="-120"/>
              </a:rPr>
              <a:t>Évitez les réseaux </a:t>
            </a:r>
            <a:r>
              <a:rPr lang="fr-FR" sz="1208" noProof="0" dirty="0" err="1">
                <a:solidFill>
                  <a:srgbClr val="47413C"/>
                </a:solidFill>
                <a:latin typeface="Open Sans" pitchFamily="34" charset="0"/>
                <a:ea typeface="Open Sans" pitchFamily="34" charset="-122"/>
                <a:cs typeface="Open Sans" pitchFamily="34" charset="-120"/>
              </a:rPr>
              <a:t>WiFi</a:t>
            </a:r>
            <a:r>
              <a:rPr lang="fr-FR" sz="1208" noProof="0" dirty="0">
                <a:solidFill>
                  <a:srgbClr val="47413C"/>
                </a:solidFill>
                <a:latin typeface="Open Sans" pitchFamily="34" charset="0"/>
                <a:ea typeface="Open Sans" pitchFamily="34" charset="-122"/>
                <a:cs typeface="Open Sans" pitchFamily="34" charset="-120"/>
              </a:rPr>
              <a:t> publics, séparez usages professionnels et personnels, méfiez-vous des liens suspects et contrôlez les permissions utilisateurs.</a:t>
            </a:r>
            <a:endParaRPr lang="fr-FR" sz="1208" noProof="0" dirty="0"/>
          </a:p>
        </p:txBody>
      </p:sp>
      <p:grpSp>
        <p:nvGrpSpPr>
          <p:cNvPr id="18" name="MD">
            <a:extLst>
              <a:ext uri="{FF2B5EF4-FFF2-40B4-BE49-F238E27FC236}">
                <a16:creationId xmlns:a16="http://schemas.microsoft.com/office/drawing/2014/main" id="{1F84AA74-DC8C-B714-1019-773FAEDA7710}"/>
              </a:ext>
            </a:extLst>
          </p:cNvPr>
          <p:cNvGrpSpPr/>
          <p:nvPr/>
        </p:nvGrpSpPr>
        <p:grpSpPr>
          <a:xfrm>
            <a:off x="6194127" y="2706092"/>
            <a:ext cx="5336382" cy="1148061"/>
            <a:chOff x="6194127" y="2706092"/>
            <a:chExt cx="5336382" cy="1148061"/>
          </a:xfrm>
        </p:grpSpPr>
        <p:sp>
          <p:nvSpPr>
            <p:cNvPr id="12" name="Shape 10"/>
            <p:cNvSpPr/>
            <p:nvPr/>
          </p:nvSpPr>
          <p:spPr>
            <a:xfrm>
              <a:off x="6194127" y="2706092"/>
              <a:ext cx="353517" cy="353517"/>
            </a:xfrm>
            <a:prstGeom prst="roundRect">
              <a:avLst>
                <a:gd name="adj" fmla="val 18668"/>
              </a:avLst>
            </a:prstGeom>
            <a:solidFill>
              <a:srgbClr val="DDEBEE"/>
            </a:solidFill>
            <a:ln w="7620">
              <a:solidFill>
                <a:srgbClr val="C3D1D4"/>
              </a:solidFill>
              <a:prstDash val="solid"/>
            </a:ln>
          </p:spPr>
          <p:txBody>
            <a:bodyPr/>
            <a:lstStyle/>
            <a:p>
              <a:endParaRPr lang="fr-FR" sz="1500" noProof="0" dirty="0"/>
            </a:p>
          </p:txBody>
        </p:sp>
        <p:sp>
          <p:nvSpPr>
            <p:cNvPr id="13" name="Text 11"/>
            <p:cNvSpPr/>
            <p:nvPr/>
          </p:nvSpPr>
          <p:spPr>
            <a:xfrm>
              <a:off x="6704707" y="2760069"/>
              <a:ext cx="4752187" cy="245566"/>
            </a:xfrm>
            <a:prstGeom prst="rect">
              <a:avLst/>
            </a:prstGeom>
            <a:noFill/>
            <a:ln/>
          </p:spPr>
          <p:txBody>
            <a:bodyPr wrap="square" lIns="0" tIns="0" rIns="0" bIns="0" rtlCol="0" anchor="t"/>
            <a:lstStyle/>
            <a:p>
              <a:pPr>
                <a:lnSpc>
                  <a:spcPts val="1917"/>
                </a:lnSpc>
              </a:pPr>
              <a:r>
                <a:rPr lang="fr-FR" sz="1540" b="1" noProof="0" dirty="0">
                  <a:solidFill>
                    <a:srgbClr val="47413C"/>
                  </a:solidFill>
                  <a:latin typeface="League Spartan Bold" pitchFamily="34" charset="0"/>
                  <a:ea typeface="League Spartan Bold" pitchFamily="34" charset="-122"/>
                  <a:cs typeface="League Spartan Bold" pitchFamily="34" charset="-120"/>
                </a:rPr>
                <a:t>Document Unique d’Évaluation des Risques (DUERP)</a:t>
              </a:r>
              <a:endParaRPr lang="fr-FR" sz="1540" noProof="0" dirty="0"/>
            </a:p>
          </p:txBody>
        </p:sp>
        <p:sp>
          <p:nvSpPr>
            <p:cNvPr id="14" name="Text 12"/>
            <p:cNvSpPr/>
            <p:nvPr/>
          </p:nvSpPr>
          <p:spPr>
            <a:xfrm>
              <a:off x="6704707" y="3099892"/>
              <a:ext cx="4825802" cy="754261"/>
            </a:xfrm>
            <a:prstGeom prst="rect">
              <a:avLst/>
            </a:prstGeom>
            <a:noFill/>
            <a:ln/>
          </p:spPr>
          <p:txBody>
            <a:bodyPr wrap="square" lIns="0" tIns="0" rIns="0" bIns="0" rtlCol="0" anchor="t"/>
            <a:lstStyle/>
            <a:p>
              <a:pPr>
                <a:lnSpc>
                  <a:spcPts val="1958"/>
                </a:lnSpc>
              </a:pPr>
              <a:r>
                <a:rPr lang="fr-FR" sz="1208" noProof="0" dirty="0">
                  <a:solidFill>
                    <a:srgbClr val="47413C"/>
                  </a:solidFill>
                  <a:latin typeface="Open Sans" pitchFamily="34" charset="0"/>
                  <a:ea typeface="Open Sans" pitchFamily="34" charset="-122"/>
                  <a:cs typeface="Open Sans" pitchFamily="34" charset="-120"/>
                </a:rPr>
                <a:t>Mise à jour obligatoire au moins annuellement. Intégrez les risques liés au COVID-19 et toute modification des conditions de travail.</a:t>
              </a:r>
              <a:endParaRPr lang="fr-FR" sz="1208" noProof="0" dirty="0"/>
            </a:p>
          </p:txBody>
        </p:sp>
      </p:grpSp>
      <p:sp>
        <p:nvSpPr>
          <p:cNvPr id="15" name="Text 13"/>
          <p:cNvSpPr/>
          <p:nvPr/>
        </p:nvSpPr>
        <p:spPr>
          <a:xfrm>
            <a:off x="661492" y="4276428"/>
            <a:ext cx="10869018" cy="251420"/>
          </a:xfrm>
          <a:prstGeom prst="rect">
            <a:avLst/>
          </a:prstGeom>
          <a:noFill/>
          <a:ln/>
        </p:spPr>
        <p:txBody>
          <a:bodyPr wrap="none" lIns="0" tIns="0" rIns="0" bIns="0" rtlCol="0" anchor="t"/>
          <a:lstStyle/>
          <a:p>
            <a:pPr>
              <a:lnSpc>
                <a:spcPts val="1958"/>
              </a:lnSpc>
            </a:pPr>
            <a:r>
              <a:rPr lang="fr-FR" sz="1208" noProof="0" dirty="0">
                <a:solidFill>
                  <a:srgbClr val="47413C"/>
                </a:solidFill>
                <a:latin typeface="Open Sans" pitchFamily="34" charset="0"/>
                <a:ea typeface="Open Sans" pitchFamily="34" charset="-122"/>
                <a:cs typeface="Open Sans" pitchFamily="34" charset="-120"/>
              </a:rPr>
              <a:t>Pour plus d'informations : </a:t>
            </a:r>
            <a:r>
              <a:rPr lang="fr-FR" sz="1208" u="sng" noProof="0" dirty="0">
                <a:solidFill>
                  <a:srgbClr val="447A87"/>
                </a:solidFill>
                <a:latin typeface="Open Sans" pitchFamily="34" charset="0"/>
                <a:ea typeface="Open Sans" pitchFamily="34" charset="-122"/>
                <a:cs typeface="Open Sans" pitchFamily="34" charset="-120"/>
                <a:hlinkClick r:id="rId3">
                  <a:extLst>
                    <a:ext uri="{A12FA001-AC4F-418D-AE19-62706E023703}">
                      <ahyp:hlinkClr xmlns:ahyp="http://schemas.microsoft.com/office/drawing/2018/hyperlinkcolor" val="tx"/>
                    </a:ext>
                  </a:extLst>
                </a:hlinkClick>
              </a:rPr>
              <a:t>www.ssi.gouv.fr</a:t>
            </a:r>
            <a:r>
              <a:rPr lang="fr-FR" sz="1208" noProof="0" dirty="0">
                <a:solidFill>
                  <a:srgbClr val="47413C"/>
                </a:solidFill>
                <a:latin typeface="Open Sans" pitchFamily="34" charset="0"/>
                <a:ea typeface="Open Sans" pitchFamily="34" charset="-122"/>
                <a:cs typeface="Open Sans" pitchFamily="34" charset="-120"/>
              </a:rPr>
              <a:t> (ANSSI - Agence nationale de la sécurité des systèmes d'informations)</a:t>
            </a:r>
            <a:endParaRPr lang="fr-FR" sz="1208" noProof="0" dirty="0"/>
          </a:p>
        </p:txBody>
      </p:sp>
      <p:sp>
        <p:nvSpPr>
          <p:cNvPr id="16" name="Shape 14"/>
          <p:cNvSpPr/>
          <p:nvPr/>
        </p:nvSpPr>
        <p:spPr>
          <a:xfrm>
            <a:off x="661492" y="4783030"/>
            <a:ext cx="10869018" cy="25896"/>
          </a:xfrm>
          <a:prstGeom prst="rect">
            <a:avLst/>
          </a:prstGeom>
          <a:solidFill>
            <a:srgbClr val="47413C">
              <a:alpha val="50000"/>
            </a:srgbClr>
          </a:solidFill>
          <a:ln/>
        </p:spPr>
        <p:txBody>
          <a:bodyPr/>
          <a:lstStyle/>
          <a:p>
            <a:endParaRPr lang="fr-FR" sz="1500" noProof="0" dirty="0"/>
          </a:p>
        </p:txBody>
      </p:sp>
      <p:sp>
        <p:nvSpPr>
          <p:cNvPr id="17" name="Text 15"/>
          <p:cNvSpPr/>
          <p:nvPr/>
        </p:nvSpPr>
        <p:spPr>
          <a:xfrm>
            <a:off x="661492" y="4985544"/>
            <a:ext cx="10869018" cy="502841"/>
          </a:xfrm>
          <a:prstGeom prst="rect">
            <a:avLst/>
          </a:prstGeom>
          <a:noFill/>
          <a:ln/>
        </p:spPr>
        <p:txBody>
          <a:bodyPr wrap="square" lIns="0" tIns="0" rIns="0" bIns="0" rtlCol="0" anchor="t"/>
          <a:lstStyle/>
          <a:p>
            <a:pPr>
              <a:lnSpc>
                <a:spcPts val="1958"/>
              </a:lnSpc>
            </a:pPr>
            <a:r>
              <a:rPr lang="fr-FR" sz="1208" i="1" noProof="0" dirty="0">
                <a:solidFill>
                  <a:srgbClr val="47413C"/>
                </a:solidFill>
                <a:latin typeface="Open Sans" pitchFamily="34" charset="0"/>
                <a:ea typeface="Open Sans" pitchFamily="34" charset="-122"/>
                <a:cs typeface="Open Sans" pitchFamily="34" charset="-120"/>
              </a:rPr>
              <a:t>Demeurant à votre disposition pour tout complément d'information, nous vous prions d'agréer, Madame, Monsieur, l'expression de nos sentiments dévoués.</a:t>
            </a:r>
            <a:endParaRPr lang="fr-FR" sz="1208" noProof="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name="EC_tab_4_commentSlide">
    <p:bg>
      <p:bgPr>
        <a:solidFill>
          <a:srgbClr val="F5F5F5"/>
        </a:solidFill>
        <a:effectLst/>
      </p:bgPr>
    </p:bg>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53827D96-3B00-2F47-A175-0B874E8AB1C1}"/>
              </a:ext>
            </a:extLst>
          </p:cNvPr>
          <p:cNvSpPr>
            <a:spLocks noGrp="1"/>
          </p:cNvSpPr>
          <p:nvPr>
            <p:ph type="sldNum" sz="quarter" idx="4"/>
          </p:nvPr>
        </p:nvSpPr>
        <p:spPr/>
        <p:txBody>
          <a:bodyPr/>
          <a:lstStyle/>
          <a:p>
            <a:pPr rtl="0"/>
            <a:fld id="{19B51A1E-902D-48AF-9020-955120F399B6}" type="slidenum">
              <a:rPr lang="fr-FR" noProof="0" smtClean="0"/>
              <a:pPr rtl="0"/>
              <a:t>18</a:t>
            </a:fld>
            <a:endParaRPr lang="fr-FR" noProof="0"/>
          </a:p>
        </p:txBody>
      </p:sp>
      <p:sp>
        <p:nvSpPr>
          <p:cNvPr id="3" name="Rectangle 2">
            <a:extLst>
              <a:ext uri="{FF2B5EF4-FFF2-40B4-BE49-F238E27FC236}">
                <a16:creationId xmlns:a16="http://schemas.microsoft.com/office/drawing/2014/main" id="{10ED2A86-1388-DBE6-2D48-5459D83FCF92}"/>
              </a:ext>
            </a:extLst>
          </p:cNvPr>
          <p:cNvSpPr/>
          <p:nvPr/>
        </p:nvSpPr>
        <p:spPr>
          <a:xfrm>
            <a:off x="762000" y="508000"/>
            <a:ext cx="7620000" cy="635000"/>
          </a:xfrm>
          <a:prstGeom prst="rect">
            <a:avLst/>
          </a:prstGeom>
          <a:solidFill>
            <a:srgbClr val="00809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200" b="1">
                <a:solidFill>
                  <a:srgbClr val="FFFFFF"/>
                </a:solidFill>
              </a:rPr>
              <a:t>Commentaire – Locations, Charges locatives</a:t>
            </a:r>
          </a:p>
        </p:txBody>
      </p:sp>
      <p:sp>
        <p:nvSpPr>
          <p:cNvPr id="4" name="ZoneTexte 3">
            <a:extLst>
              <a:ext uri="{FF2B5EF4-FFF2-40B4-BE49-F238E27FC236}">
                <a16:creationId xmlns:a16="http://schemas.microsoft.com/office/drawing/2014/main" id="{280098EC-CDE9-49C2-D8D6-96E29ADF65E1}"/>
              </a:ext>
            </a:extLst>
          </p:cNvPr>
          <p:cNvSpPr txBox="1"/>
          <p:nvPr/>
        </p:nvSpPr>
        <p:spPr>
          <a:xfrm>
            <a:off x="762000" y="1524000"/>
            <a:ext cx="7620000" cy="3323987"/>
          </a:xfrm>
          <a:prstGeom prst="rect">
            <a:avLst/>
          </a:prstGeom>
          <a:solidFill>
            <a:srgbClr val="FFFFFF"/>
          </a:solidFill>
        </p:spPr>
        <p:txBody>
          <a:bodyPr vert="horz" rtlCol="0">
            <a:spAutoFit/>
          </a:bodyPr>
          <a:lstStyle/>
          <a:p>
            <a:pPr algn="just"/>
            <a:r>
              <a:rPr lang="fr-FR" sz="1400">
                <a:solidFill>
                  <a:srgbClr val="323232"/>
                </a:solidFill>
              </a:rPr>
              <a:t>• 61300013 - Loyer (M)  - Le contrat de location a été conclu pour une période initiale de trois ans, débutant le 14 avril 2017 et se terminant le 13 avril 2020.</a:t>
            </a:r>
          </a:p>
          <a:p>
            <a:pPr algn="just"/>
            <a:r>
              <a:rPr lang="fr-FR" sz="1400">
                <a:solidFill>
                  <a:srgbClr val="323232"/>
                </a:solidFill>
              </a:rPr>
              <a:t>Il est prévu un renouvellement automatique par tacite reconduction pour une durée d’un an.</a:t>
            </a:r>
          </a:p>
          <a:p>
            <a:pPr algn="just"/>
            <a:r>
              <a:rPr lang="fr-FR" sz="1400">
                <a:solidFill>
                  <a:srgbClr val="323232"/>
                </a:solidFill>
              </a:rPr>
              <a:t>Le loyer annuel s’élève à 42 000 € hors taxes, avec un paiement trimestriel, et un dépôt de garantie fixé à 10 500 €.</a:t>
            </a:r>
          </a:p>
          <a:p>
            <a:pPr algn="just"/>
            <a:r>
              <a:rPr lang="fr-FR" sz="1400">
                <a:solidFill>
                  <a:srgbClr val="323232"/>
                </a:solidFill>
              </a:rPr>
              <a:t>La révision du loyer est annuelle, indexée sur l’ILAT du quatrième trimestre 2016 (indice de référence : 108,94), appliquée à chaque date anniversaire du bail.</a:t>
            </a:r>
          </a:p>
          <a:p>
            <a:pPr algn="just"/>
            <a:endParaRPr lang="fr-FR" sz="1400">
              <a:solidFill>
                <a:srgbClr val="323232"/>
              </a:solidFill>
            </a:endParaRPr>
          </a:p>
          <a:p>
            <a:pPr algn="just"/>
            <a:r>
              <a:rPr lang="fr-FR" sz="1400">
                <a:solidFill>
                  <a:srgbClr val="323232"/>
                </a:solidFill>
              </a:rPr>
              <a:t>• 61350012 - Location Mobilières (NL)  - Activité de mise à disposition de véhicules.</a:t>
            </a:r>
          </a:p>
          <a:p>
            <a:pPr algn="just"/>
            <a:endParaRPr lang="fr-FR" sz="1400">
              <a:solidFill>
                <a:srgbClr val="323232"/>
              </a:solidFill>
            </a:endParaRPr>
          </a:p>
          <a:p>
            <a:pPr algn="just"/>
            <a:r>
              <a:rPr lang="fr-FR" sz="1400">
                <a:solidFill>
                  <a:srgbClr val="323232"/>
                </a:solidFill>
              </a:rPr>
              <a:t>Il s’agit d’un service permettant l’utilisation temporaire de moyens de transport. Les clients bénéficient d’un parc automobile sans en assumer la propriété. Cette prestation couvre divers types de véhicules selon les besoins exprimés.</a:t>
            </a:r>
          </a:p>
          <a:p>
            <a:pPr algn="just"/>
            <a:endParaRPr lang="fr-FR" sz="1400">
              <a:solidFill>
                <a:srgbClr val="323232"/>
              </a:solidFill>
            </a:endParaRPr>
          </a:p>
          <a:p>
            <a:pPr algn="just"/>
            <a:endParaRPr lang="fr-FR" sz="1400">
              <a:solidFill>
                <a:srgbClr val="323232"/>
              </a:solidFill>
            </a:endParaRPr>
          </a:p>
        </p:txBody>
      </p:sp>
      <p:sp>
        <p:nvSpPr>
          <p:cNvPr id="5" name="Rectangle : coins arrondis 4">
            <a:hlinkClick r:id="" action="ppaction://hlinkshowjump?jump=lastslideviewed"/>
            <a:extLst>
              <a:ext uri="{FF2B5EF4-FFF2-40B4-BE49-F238E27FC236}">
                <a16:creationId xmlns:a16="http://schemas.microsoft.com/office/drawing/2014/main" id="{B59437BD-7623-4F89-53F3-A15F58353EAE}"/>
              </a:ext>
            </a:extLst>
          </p:cNvPr>
          <p:cNvSpPr/>
          <p:nvPr/>
        </p:nvSpPr>
        <p:spPr>
          <a:xfrm>
            <a:off x="6604000" y="6350000"/>
            <a:ext cx="1778000" cy="444500"/>
          </a:xfrm>
          <a:prstGeom prst="roundRect">
            <a:avLst/>
          </a:prstGeom>
          <a:solidFill>
            <a:srgbClr val="00809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lang="fr-FR" sz="1200" b="1">
                <a:solidFill>
                  <a:srgbClr val="FFFFFF"/>
                </a:solidFill>
              </a:rPr>
              <a:t>? Retour au tableau</a:t>
            </a:r>
          </a:p>
        </p:txBody>
      </p:sp>
    </p:spTree>
    <p:extLst>
      <p:ext uri="{BB962C8B-B14F-4D97-AF65-F5344CB8AC3E}">
        <p14:creationId xmlns:p14="http://schemas.microsoft.com/office/powerpoint/2010/main" val="3715702192"/>
      </p:ext>
    </p:extLst>
  </p:cSld>
  <p:clrMapOvr>
    <a:masterClrMapping/>
  </p:clrMapOvr>
</p:sld>
</file>

<file path=ppt/theme/theme1.xml><?xml version="1.0" encoding="utf-8"?>
<a:theme xmlns:a="http://schemas.openxmlformats.org/drawingml/2006/main" name="Thème Office">
  <a:themeElements>
    <a:clrScheme name="Personnalisé 1">
      <a:dk1>
        <a:srgbClr val="4C4239"/>
      </a:dk1>
      <a:lt1>
        <a:srgbClr val="FEFFFE"/>
      </a:lt1>
      <a:dk2>
        <a:srgbClr val="36798A"/>
      </a:dk2>
      <a:lt2>
        <a:srgbClr val="EBE3D6"/>
      </a:lt2>
      <a:accent1>
        <a:srgbClr val="36798A"/>
      </a:accent1>
      <a:accent2>
        <a:srgbClr val="77BFCF"/>
      </a:accent2>
      <a:accent3>
        <a:srgbClr val="4C4239"/>
      </a:accent3>
      <a:accent4>
        <a:srgbClr val="81744E"/>
      </a:accent4>
      <a:accent5>
        <a:srgbClr val="EBE3D6"/>
      </a:accent5>
      <a:accent6>
        <a:srgbClr val="77BFCF"/>
      </a:accent6>
      <a:hlink>
        <a:srgbClr val="77BFCF"/>
      </a:hlink>
      <a:folHlink>
        <a:srgbClr val="77BFCF"/>
      </a:folHlink>
    </a:clrScheme>
    <a:fontScheme name="Personnalisé 1">
      <a:majorFont>
        <a:latin typeface="Plutot"/>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1381</TotalTime>
  <Words>1542</Words>
  <Application>Microsoft Office PowerPoint</Application>
  <PresentationFormat>Grand écran</PresentationFormat>
  <Paragraphs>285</Paragraphs>
  <Slides>18</Slides>
  <Notes>18</Notes>
  <HiddenSlides>1</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18</vt:i4>
      </vt:variant>
    </vt:vector>
  </HeadingPairs>
  <TitlesOfParts>
    <vt:vector size="26" baseType="lpstr">
      <vt:lpstr>Aptos</vt:lpstr>
      <vt:lpstr>Arial</vt:lpstr>
      <vt:lpstr>Calibri</vt:lpstr>
      <vt:lpstr>Inter</vt:lpstr>
      <vt:lpstr>League Spartan Bold</vt:lpstr>
      <vt:lpstr>Open Sans</vt:lpstr>
      <vt:lpstr>Plutot</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DEBOUCHE Lucas</dc:creator>
  <cp:lastModifiedBy>DEBOUCHE Lucas</cp:lastModifiedBy>
  <cp:revision>188</cp:revision>
  <dcterms:created xsi:type="dcterms:W3CDTF">2025-10-22T11:12:50Z</dcterms:created>
  <dcterms:modified xsi:type="dcterms:W3CDTF">2025-10-27T16:27:18Z</dcterms:modified>
</cp:coreProperties>
</file>